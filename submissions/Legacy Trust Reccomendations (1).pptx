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Roboto"/>
      <p:bold r:id="rId16"/>
      <p:boldItalic r:id="rId17"/>
    </p:embeddedFont>
    <p:embeddedFont>
      <p:font typeface="Roboto Medium"/>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EEB3CE-D345-4858-9128-625A2702FB0C}">
  <a:tblStyle styleId="{D5EEB3CE-D345-4858-9128-625A2702FB0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edium-italic.fntdata"/><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font" Target="fonts/RobotoMedium-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oboto-boldItalic.fntdata"/><Relationship Id="rId16" Type="http://schemas.openxmlformats.org/officeDocument/2006/relationships/font" Target="fonts/Roboto-bold.fntdata"/><Relationship Id="rId5" Type="http://schemas.openxmlformats.org/officeDocument/2006/relationships/slideMaster" Target="slideMasters/slideMaster1.xml"/><Relationship Id="rId19" Type="http://schemas.openxmlformats.org/officeDocument/2006/relationships/font" Target="fonts/RobotoMedium-bold.fntdata"/><Relationship Id="rId6" Type="http://schemas.openxmlformats.org/officeDocument/2006/relationships/notesMaster" Target="notesMasters/notesMaster1.xml"/><Relationship Id="rId18" Type="http://schemas.openxmlformats.org/officeDocument/2006/relationships/font" Target="fonts/RobotoMedium-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4097d0ff977_0_9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4097d0ff977_0_9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4097d0ff9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4097d0ff9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We are here to discuss a critical turning point for Legacy Trust’s collections operations. Today, I am recommending the </a:t>
            </a:r>
            <a:r>
              <a:rPr b="1" lang="en-GB">
                <a:solidFill>
                  <a:schemeClr val="dk1"/>
                </a:solidFill>
              </a:rPr>
              <a:t>immediate development and funding of our Phase 1 Portal Bundle</a:t>
            </a:r>
            <a:r>
              <a:rPr lang="en-GB">
                <a:solidFill>
                  <a:schemeClr val="dk1"/>
                </a:solidFill>
              </a:rPr>
              <a:t>, which combines </a:t>
            </a:r>
            <a:r>
              <a:rPr b="1" lang="en-GB">
                <a:solidFill>
                  <a:schemeClr val="dk1"/>
                </a:solidFill>
              </a:rPr>
              <a:t>OPP-01, OPP-03, and OPP-05</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Let's look at what this investment achieves across our four core pillars: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First, Operational Efficiency:</a:t>
            </a:r>
            <a:r>
              <a:rPr lang="en-GB">
                <a:solidFill>
                  <a:schemeClr val="dk1"/>
                </a:solidFill>
              </a:rPr>
              <a:t> This bundle directly targets and eliminates the manual administrative bottlenecks currently choking Gareth’s team. By automating routine, low-complexity customer status inquiries and follow-up tracking, we hand thousands of hours of capacity back to our skilled agents.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Second, Financial Gain:</a:t>
            </a:r>
            <a:r>
              <a:rPr lang="en-GB">
                <a:solidFill>
                  <a:schemeClr val="dk1"/>
                </a:solidFill>
              </a:rPr>
              <a:t> This is a highly profitable deployment. Phase 1 requires a total implementation cost of </a:t>
            </a:r>
            <a:r>
              <a:rPr b="1" lang="en-GB">
                <a:solidFill>
                  <a:schemeClr val="dk1"/>
                </a:solidFill>
              </a:rPr>
              <a:t>£42,320.00</a:t>
            </a:r>
            <a:r>
              <a:rPr lang="en-GB">
                <a:solidFill>
                  <a:schemeClr val="dk1"/>
                </a:solidFill>
              </a:rPr>
              <a:t>, but it will generate a gross annual benefit of </a:t>
            </a:r>
            <a:r>
              <a:rPr b="1" lang="en-GB">
                <a:solidFill>
                  <a:schemeClr val="dk1"/>
                </a:solidFill>
              </a:rPr>
              <a:t>£66,756.09</a:t>
            </a:r>
            <a:r>
              <a:rPr lang="en-GB">
                <a:solidFill>
                  <a:schemeClr val="dk1"/>
                </a:solidFill>
              </a:rPr>
              <a:t>. This leaves the bank with a net annual pocketed profit of </a:t>
            </a:r>
            <a:r>
              <a:rPr b="1" lang="en-GB">
                <a:solidFill>
                  <a:schemeClr val="dk1"/>
                </a:solidFill>
              </a:rPr>
              <a:t>+£24,436.09</a:t>
            </a:r>
            <a:r>
              <a:rPr lang="en-GB">
                <a:solidFill>
                  <a:schemeClr val="dk1"/>
                </a:solidFill>
              </a:rPr>
              <a:t> in its very first year.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Third, Risk Mitigation:</a:t>
            </a:r>
            <a:r>
              <a:rPr lang="en-GB">
                <a:solidFill>
                  <a:schemeClr val="dk1"/>
                </a:solidFill>
              </a:rPr>
              <a:t> I know there are valid concerns regarding OPP-03's standalone financial return of </a:t>
            </a:r>
            <a:r>
              <a:rPr b="1" lang="en-GB">
                <a:solidFill>
                  <a:schemeClr val="dk1"/>
                </a:solidFill>
              </a:rPr>
              <a:t>-£5,920.88</a:t>
            </a:r>
            <a:r>
              <a:rPr lang="en-GB">
                <a:solidFill>
                  <a:schemeClr val="dk1"/>
                </a:solidFill>
              </a:rPr>
              <a:t>. However, we have intentionally bundled it here as a strategic necessity. It builds the immutable data logging and audit trails mandated by UK FCA guidelines. Leaving it out to save a few thousand pounds exposes the bank to catastrophic compliance fines that could easily reach hundreds of thousands of pounds. Because OPP-05 is an absolute powerhouse—yielding a </a:t>
            </a:r>
            <a:r>
              <a:rPr b="1" lang="en-GB">
                <a:solidFill>
                  <a:schemeClr val="dk1"/>
                </a:solidFill>
              </a:rPr>
              <a:t>150.78% ROI</a:t>
            </a:r>
            <a:r>
              <a:rPr lang="en-GB">
                <a:solidFill>
                  <a:schemeClr val="dk1"/>
                </a:solidFill>
              </a:rPr>
              <a:t>—it completely absorbs the cost of our analytics framework, buying us full compliance safety for free.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4097d0ff977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4097d0ff977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a:solidFill>
                  <a:schemeClr val="dk1"/>
                </a:solidFill>
              </a:rPr>
              <a:t>Gareth, Priya, Daniel—let’s look at why the current manual state is entirely unsustainable.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Right now, our collections team is hemorrhaging 2,391.80 hours of manual work every single year just processing basic administrative tasks. At our baseline agent costs, that equates to an annual financial burden of £52,619.60 down the drain on routine administration rather than high-value customer negotiations.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Worse still, because our agents are completely buried under this administrative debt, we are experiencing an extra £10,617.37 in direct revenue leakage annually. This happens because active payment arrangements quietly collapse in the background, and we lack the capacity to follow up. When you look at the breakdown, OPP-01 status checks consume nearly 1,270 hours, and OPP-05 manual tracking takes up over 1,120 hours. We are paying our team to be data entry messengers, not collections experts.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4097d0ff977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4097d0ff977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a:solidFill>
                  <a:schemeClr val="dk1"/>
                </a:solidFill>
              </a:rPr>
              <a:t>Our discovery phase exposed three critical friction points.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First, we have severe information asymmetry. Customers have zero self-service visibility, forcing them to call our queues just to check their balance. Second, we suffer from a 'Follow-Up Black Hole'. When a customer breaks a promise to pay, it falls through the cracks because there is no automated trigger to prompt an agent.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Finally, the technical reality is that our team is surviving on fragmented, manual spreadsheets. This leaves us with zero audit trails, putting us in a highly precarious regulatory position. Our user research confirms that both our customers and our staff are crying out for a secure, identity-verified portal to systematically handle these routine interactions.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4097d0ff977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4097d0ff977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a:solidFill>
                  <a:schemeClr val="dk1"/>
                </a:solidFill>
              </a:rPr>
              <a:t>Let’s address the numbers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We are requesting a total Phase 1 implementation investment of £42,320.00. This bundle will deliver an annual benefit of £66,756.09, resulting in a net 12-month value of +£24,436.09 and a portfolio ROI of 57.74%.</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Now, I want to address the elephant in the room: OPP-03, our End-of-Month Analytics module, shows a standalone net loss of -£5,920.88. In a vacuum, you would cut this. However, we have intentionally bundled it into Phase 1 because it builds the core data foundation Daniel needs for risk auditing. </a:t>
            </a:r>
            <a:r>
              <a:rPr b="1" lang="en-GB">
                <a:solidFill>
                  <a:schemeClr val="dk1"/>
                </a:solidFill>
              </a:rPr>
              <a:t>To put this in perspective, non-compliance with UK FCA data rules can easily result in regulatory fines starting at hundreds of thousands of pounds, completely dwarfing our minor software deficit.</a:t>
            </a:r>
            <a:r>
              <a:rPr lang="en-GB">
                <a:solidFill>
                  <a:schemeClr val="dk1"/>
                </a:solidFill>
              </a:rPr>
              <a:t> Because OPP-05 is an operational powerhouse—yielding a massive 150.78% ROI—it completely absorbs the cost of our analytics framework, keeping the phase highly profitable while building an ironclad shield against regulatory penalties.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4097d0ff977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4097d0ff977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a:solidFill>
                  <a:schemeClr val="dk1"/>
                </a:solidFill>
              </a:rPr>
              <a:t>To ensure we protect the bank's legacy architecture, we have drawn a very strict line around our product scope.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In-scope capabilities include the core MFA Login Gate, featuring an FCA compliance guardrail that locks an account after 3 failed attempts and alerts Gareth’s team. We are also funding the read-only Account Dashboard and the Promise to Pay setup, which contains an affordability guardrail to instantly flag and escalate cases if a proposed plan exceeds a customer's logged income.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Crucially, what we are </a:t>
            </a:r>
            <a:r>
              <a:rPr i="1" lang="en-GB">
                <a:solidFill>
                  <a:schemeClr val="dk1"/>
                </a:solidFill>
              </a:rPr>
              <a:t>excluding</a:t>
            </a:r>
            <a:r>
              <a:rPr lang="en-GB">
                <a:solidFill>
                  <a:schemeClr val="dk1"/>
                </a:solidFill>
              </a:rPr>
              <a:t> is just as important. We are completely deferring live API write-paths to the 20-year-old database under OPP-04. Instead, the portal will batch data into a daily midnight CSV dropped via a secure, read-only SFTP file sync. This delivers full automation to operations without risking a catastrophic legacy system crash.</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4097d0ff977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4097d0ff977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t>We aren't asking you to fund an abstract slide deck today. As you can see by the UI interface displayed on this slide, we have already developed a fully functional, low-fidelity HTML/CSS prototype to de-risk the build.</a:t>
            </a:r>
            <a:endParaRPr/>
          </a:p>
          <a:p>
            <a:pPr indent="0" lvl="0" marL="0" rtl="0" algn="l">
              <a:lnSpc>
                <a:spcPct val="115000"/>
              </a:lnSpc>
              <a:spcBef>
                <a:spcPts val="1200"/>
              </a:spcBef>
              <a:spcAft>
                <a:spcPts val="0"/>
              </a:spcAft>
              <a:buClr>
                <a:schemeClr val="dk1"/>
              </a:buClr>
              <a:buSzPts val="1100"/>
              <a:buFont typeface="Arial"/>
              <a:buNone/>
            </a:pPr>
            <a:r>
              <a:rPr lang="en-GB"/>
              <a:t>This prototype visually proves that our core user journeys and exception guardrails work seamlessly in practice. The income validation checkbox and automated agent-routing rules are already mapped out. Furthermore, our product backlog is mature; all primary pathways are documented as engineering-ready user stories. The engineering team can commence development the exact day we receive budget sign-off.</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4097d0ff977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4097d0ff977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a:solidFill>
                  <a:schemeClr val="dk1"/>
                </a:solidFill>
              </a:rPr>
              <a:t>Before we ask for formal approval, let’s talk openly about risk mitigation.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Our highest technical risk is legacy database instability. We have completely mitigated this by enforcing the midnight read-only SFTP file batch sync rather than direct live writes. Our financial risk is the standalone loss on OPP-03 reporting, which we have mitigated by using the massive surplus of OPP-05 to absorb the cost, giving us critical compliance tracking for free.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Finally, to mitigate any vulnerability or customer hardship risks, the frontend includes automated safety valves. If a customer flags distress, the portal instantly bypasses automated calculations and drops them into a priority manual queue with explicit context strings, ensuring we maintain absolute empathy and regulatory alignment.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4097d0ff977_0_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4097d0ff977_0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a:solidFill>
                  <a:schemeClr val="dk1"/>
                </a:solidFill>
              </a:rPr>
              <a:t>To wrap up: the data shows that the cost of doing nothing is a continuous drain on our staff and our revenue.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By allocating the £42,320 Phase 1 budget today, we will unblock 2,300 hours of manual agent capacity, secure our legacy systems, and pocket a £24,400 net profit within 12 months. The prototype is validated, the risk is mitigated, and we are ready to build.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Thank you, and I will now open the floor to your questions.</a:t>
            </a:r>
            <a:endParaRPr b="1">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I like this, but the project is for an online portal for a bank that automates a lot of the work staff do manually at the moment. I want the theme to fit that a bit better." id="54" name="Google Shape;54;p13"/>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sp>
        <p:nvSpPr>
          <p:cNvPr id="59" name="Google Shape;59;p14"/>
          <p:cNvSpPr/>
          <p:nvPr/>
        </p:nvSpPr>
        <p:spPr>
          <a:xfrm>
            <a:off x="0" y="0"/>
            <a:ext cx="9144000" cy="762000"/>
          </a:xfrm>
          <a:prstGeom prst="rect">
            <a:avLst/>
          </a:prstGeom>
          <a:solidFill>
            <a:srgbClr val="1C1E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14"/>
          <p:cNvSpPr txBox="1"/>
          <p:nvPr/>
        </p:nvSpPr>
        <p:spPr>
          <a:xfrm>
            <a:off x="381000" y="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400">
                <a:solidFill>
                  <a:srgbClr val="FFFFFF"/>
                </a:solidFill>
                <a:latin typeface="Roboto"/>
                <a:ea typeface="Roboto"/>
                <a:cs typeface="Roboto"/>
                <a:sym typeface="Roboto"/>
              </a:rPr>
              <a:t>Strategic Recommendations</a:t>
            </a:r>
            <a:endParaRPr b="1" sz="2400">
              <a:solidFill>
                <a:srgbClr val="FFFFFF"/>
              </a:solidFill>
              <a:latin typeface="Roboto"/>
              <a:ea typeface="Roboto"/>
              <a:cs typeface="Roboto"/>
              <a:sym typeface="Roboto"/>
            </a:endParaRPr>
          </a:p>
        </p:txBody>
      </p:sp>
      <p:grpSp>
        <p:nvGrpSpPr>
          <p:cNvPr id="61" name="Google Shape;61;p14"/>
          <p:cNvGrpSpPr/>
          <p:nvPr/>
        </p:nvGrpSpPr>
        <p:grpSpPr>
          <a:xfrm>
            <a:off x="381000" y="1047750"/>
            <a:ext cx="8382000" cy="952500"/>
            <a:chOff x="381000" y="1047750"/>
            <a:chExt cx="8382000" cy="952500"/>
          </a:xfrm>
        </p:grpSpPr>
        <p:sp>
          <p:nvSpPr>
            <p:cNvPr id="62" name="Google Shape;62;p14"/>
            <p:cNvSpPr/>
            <p:nvPr/>
          </p:nvSpPr>
          <p:spPr>
            <a:xfrm>
              <a:off x="381000" y="1047750"/>
              <a:ext cx="8382000" cy="952500"/>
            </a:xfrm>
            <a:prstGeom prst="roundRect">
              <a:avLst>
                <a:gd fmla="val 8000" name="adj"/>
              </a:avLst>
            </a:prstGeom>
            <a:solidFill>
              <a:srgbClr val="F8F9FA"/>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14"/>
            <p:cNvSpPr txBox="1"/>
            <p:nvPr/>
          </p:nvSpPr>
          <p:spPr>
            <a:xfrm>
              <a:off x="571500" y="1047750"/>
              <a:ext cx="800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800">
                  <a:solidFill>
                    <a:srgbClr val="1C1E21"/>
                  </a:solidFill>
                  <a:latin typeface="Roboto Medium"/>
                  <a:ea typeface="Roboto Medium"/>
                  <a:cs typeface="Roboto Medium"/>
                  <a:sym typeface="Roboto Medium"/>
                </a:rPr>
                <a:t>Approve immediate development of the </a:t>
              </a:r>
              <a:r>
                <a:rPr b="1" lang="en-GB" sz="1800">
                  <a:solidFill>
                    <a:srgbClr val="0056B3"/>
                  </a:solidFill>
                  <a:latin typeface="Roboto"/>
                  <a:ea typeface="Roboto"/>
                  <a:cs typeface="Roboto"/>
                  <a:sym typeface="Roboto"/>
                </a:rPr>
                <a:t>Phase 1 Portal Bundle</a:t>
              </a:r>
              <a:r>
                <a:rPr b="0" lang="en-GB" sz="1800">
                  <a:solidFill>
                    <a:srgbClr val="1C1E21"/>
                  </a:solidFill>
                  <a:latin typeface="Roboto Medium"/>
                  <a:ea typeface="Roboto Medium"/>
                  <a:cs typeface="Roboto Medium"/>
                  <a:sym typeface="Roboto Medium"/>
                </a:rPr>
                <a:t> (OPP-01, 03, &amp; 05)</a:t>
              </a:r>
              <a:endParaRPr b="0" sz="1800">
                <a:solidFill>
                  <a:srgbClr val="1C1E21"/>
                </a:solidFill>
                <a:latin typeface="Roboto Medium"/>
                <a:ea typeface="Roboto Medium"/>
                <a:cs typeface="Roboto Medium"/>
                <a:sym typeface="Roboto Medium"/>
              </a:endParaRPr>
            </a:p>
          </p:txBody>
        </p:sp>
      </p:grpSp>
      <p:grpSp>
        <p:nvGrpSpPr>
          <p:cNvPr id="64" name="Google Shape;64;p14"/>
          <p:cNvGrpSpPr/>
          <p:nvPr/>
        </p:nvGrpSpPr>
        <p:grpSpPr>
          <a:xfrm>
            <a:off x="381000" y="2190750"/>
            <a:ext cx="8372550" cy="2095500"/>
            <a:chOff x="381000" y="2190750"/>
            <a:chExt cx="8372550" cy="2095500"/>
          </a:xfrm>
        </p:grpSpPr>
        <p:sp>
          <p:nvSpPr>
            <p:cNvPr id="65" name="Google Shape;65;p14"/>
            <p:cNvSpPr/>
            <p:nvPr/>
          </p:nvSpPr>
          <p:spPr>
            <a:xfrm>
              <a:off x="381000" y="2190750"/>
              <a:ext cx="2600400" cy="2095500"/>
            </a:xfrm>
            <a:prstGeom prst="roundRect">
              <a:avLst>
                <a:gd fmla="val 5454" name="adj"/>
              </a:avLst>
            </a:prstGeom>
            <a:solidFill>
              <a:srgbClr val="FFFFFF"/>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 name="Google Shape;66;p14"/>
            <p:cNvSpPr txBox="1"/>
            <p:nvPr/>
          </p:nvSpPr>
          <p:spPr>
            <a:xfrm>
              <a:off x="523875" y="2368677"/>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400">
                  <a:solidFill>
                    <a:srgbClr val="0056B3"/>
                  </a:solidFill>
                  <a:latin typeface="Material Icons"/>
                  <a:ea typeface="Material Icons"/>
                  <a:cs typeface="Material Icons"/>
                  <a:sym typeface="Material Icons"/>
                </a:rPr>
                <a:t>engineering</a:t>
              </a:r>
              <a:endParaRPr sz="2400">
                <a:solidFill>
                  <a:srgbClr val="0056B3"/>
                </a:solidFill>
                <a:latin typeface="Material Icons"/>
                <a:ea typeface="Material Icons"/>
                <a:cs typeface="Material Icons"/>
                <a:sym typeface="Material Icons"/>
              </a:endParaRPr>
            </a:p>
          </p:txBody>
        </p:sp>
        <p:sp>
          <p:nvSpPr>
            <p:cNvPr id="67" name="Google Shape;67;p14"/>
            <p:cNvSpPr txBox="1"/>
            <p:nvPr/>
          </p:nvSpPr>
          <p:spPr>
            <a:xfrm>
              <a:off x="523875" y="2809875"/>
              <a:ext cx="23145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400">
                  <a:solidFill>
                    <a:srgbClr val="1C1E21"/>
                  </a:solidFill>
                  <a:latin typeface="Roboto"/>
                  <a:ea typeface="Roboto"/>
                  <a:cs typeface="Roboto"/>
                  <a:sym typeface="Roboto"/>
                </a:rPr>
                <a:t>Operational Efficiency</a:t>
              </a:r>
              <a:endParaRPr b="1" sz="1400">
                <a:solidFill>
                  <a:srgbClr val="1C1E21"/>
                </a:solidFill>
                <a:latin typeface="Roboto"/>
                <a:ea typeface="Roboto"/>
                <a:cs typeface="Roboto"/>
                <a:sym typeface="Roboto"/>
              </a:endParaRPr>
            </a:p>
            <a:p>
              <a:pPr indent="0" lvl="0" marL="0" rtl="0" algn="l">
                <a:spcBef>
                  <a:spcPts val="600"/>
                </a:spcBef>
                <a:spcAft>
                  <a:spcPts val="0"/>
                </a:spcAft>
                <a:buNone/>
              </a:pPr>
              <a:r>
                <a:rPr lang="en-GB" sz="1100">
                  <a:solidFill>
                    <a:srgbClr val="495057"/>
                  </a:solidFill>
                  <a:latin typeface="Roboto"/>
                  <a:ea typeface="Roboto"/>
                  <a:cs typeface="Roboto"/>
                  <a:sym typeface="Roboto"/>
                </a:rPr>
                <a:t>Eliminate critical agent labour bottlenecks across fragmented systems.</a:t>
              </a:r>
              <a:endParaRPr sz="1100">
                <a:solidFill>
                  <a:srgbClr val="495057"/>
                </a:solidFill>
                <a:latin typeface="Roboto"/>
                <a:ea typeface="Roboto"/>
                <a:cs typeface="Roboto"/>
                <a:sym typeface="Roboto"/>
              </a:endParaRPr>
            </a:p>
          </p:txBody>
        </p:sp>
        <p:sp>
          <p:nvSpPr>
            <p:cNvPr id="68" name="Google Shape;68;p14"/>
            <p:cNvSpPr/>
            <p:nvPr/>
          </p:nvSpPr>
          <p:spPr>
            <a:xfrm>
              <a:off x="3267075" y="2190750"/>
              <a:ext cx="2600400" cy="2095500"/>
            </a:xfrm>
            <a:prstGeom prst="roundRect">
              <a:avLst>
                <a:gd fmla="val 5454" name="adj"/>
              </a:avLst>
            </a:prstGeom>
            <a:solidFill>
              <a:srgbClr val="FFFFFF"/>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 name="Google Shape;69;p14"/>
            <p:cNvSpPr txBox="1"/>
            <p:nvPr/>
          </p:nvSpPr>
          <p:spPr>
            <a:xfrm>
              <a:off x="3409950" y="2368677"/>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400">
                  <a:solidFill>
                    <a:srgbClr val="28A745"/>
                  </a:solidFill>
                  <a:latin typeface="Material Icons"/>
                  <a:ea typeface="Material Icons"/>
                  <a:cs typeface="Material Icons"/>
                  <a:sym typeface="Material Icons"/>
                </a:rPr>
                <a:t>payments</a:t>
              </a:r>
              <a:endParaRPr sz="2400">
                <a:solidFill>
                  <a:srgbClr val="28A745"/>
                </a:solidFill>
                <a:latin typeface="Material Icons"/>
                <a:ea typeface="Material Icons"/>
                <a:cs typeface="Material Icons"/>
                <a:sym typeface="Material Icons"/>
              </a:endParaRPr>
            </a:p>
          </p:txBody>
        </p:sp>
        <p:sp>
          <p:nvSpPr>
            <p:cNvPr id="70" name="Google Shape;70;p14"/>
            <p:cNvSpPr txBox="1"/>
            <p:nvPr/>
          </p:nvSpPr>
          <p:spPr>
            <a:xfrm>
              <a:off x="3409950" y="2809875"/>
              <a:ext cx="23145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400">
                  <a:solidFill>
                    <a:srgbClr val="1C1E21"/>
                  </a:solidFill>
                  <a:latin typeface="Roboto"/>
                  <a:ea typeface="Roboto"/>
                  <a:cs typeface="Roboto"/>
                  <a:sym typeface="Roboto"/>
                </a:rPr>
                <a:t>Financial Gain</a:t>
              </a:r>
              <a:endParaRPr b="1" sz="1400">
                <a:solidFill>
                  <a:srgbClr val="1C1E21"/>
                </a:solidFill>
                <a:latin typeface="Roboto"/>
                <a:ea typeface="Roboto"/>
                <a:cs typeface="Roboto"/>
                <a:sym typeface="Roboto"/>
              </a:endParaRPr>
            </a:p>
            <a:p>
              <a:pPr indent="0" lvl="0" marL="0" rtl="0" algn="l">
                <a:spcBef>
                  <a:spcPts val="600"/>
                </a:spcBef>
                <a:spcAft>
                  <a:spcPts val="0"/>
                </a:spcAft>
                <a:buNone/>
              </a:pPr>
              <a:r>
                <a:rPr lang="en-GB" sz="1100">
                  <a:solidFill>
                    <a:srgbClr val="495057"/>
                  </a:solidFill>
                  <a:latin typeface="Roboto"/>
                  <a:ea typeface="Roboto"/>
                  <a:cs typeface="Roboto"/>
                  <a:sym typeface="Roboto"/>
                </a:rPr>
                <a:t>Capture over </a:t>
              </a:r>
              <a:r>
                <a:rPr b="1" lang="en-GB" sz="1100">
                  <a:solidFill>
                    <a:srgbClr val="1C1E21"/>
                  </a:solidFill>
                  <a:latin typeface="Roboto"/>
                  <a:ea typeface="Roboto"/>
                  <a:cs typeface="Roboto"/>
                  <a:sym typeface="Roboto"/>
                </a:rPr>
                <a:t>£24,000</a:t>
              </a:r>
              <a:r>
                <a:rPr lang="en-GB" sz="1100">
                  <a:solidFill>
                    <a:srgbClr val="495057"/>
                  </a:solidFill>
                  <a:latin typeface="Roboto"/>
                  <a:ea typeface="Roboto"/>
                  <a:cs typeface="Roboto"/>
                  <a:sym typeface="Roboto"/>
                </a:rPr>
                <a:t> in net annual benefit.</a:t>
              </a:r>
              <a:endParaRPr sz="1100">
                <a:solidFill>
                  <a:srgbClr val="495057"/>
                </a:solidFill>
                <a:latin typeface="Roboto"/>
                <a:ea typeface="Roboto"/>
                <a:cs typeface="Roboto"/>
                <a:sym typeface="Roboto"/>
              </a:endParaRPr>
            </a:p>
          </p:txBody>
        </p:sp>
        <p:sp>
          <p:nvSpPr>
            <p:cNvPr id="71" name="Google Shape;71;p14"/>
            <p:cNvSpPr/>
            <p:nvPr/>
          </p:nvSpPr>
          <p:spPr>
            <a:xfrm>
              <a:off x="6153150" y="2190750"/>
              <a:ext cx="2600400" cy="2095500"/>
            </a:xfrm>
            <a:prstGeom prst="roundRect">
              <a:avLst>
                <a:gd fmla="val 5454" name="adj"/>
              </a:avLst>
            </a:prstGeom>
            <a:solidFill>
              <a:srgbClr val="FFFFFF"/>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14"/>
            <p:cNvSpPr txBox="1"/>
            <p:nvPr/>
          </p:nvSpPr>
          <p:spPr>
            <a:xfrm>
              <a:off x="6296025" y="2368677"/>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400">
                  <a:solidFill>
                    <a:srgbClr val="DC3545"/>
                  </a:solidFill>
                  <a:latin typeface="Material Icons"/>
                  <a:ea typeface="Material Icons"/>
                  <a:cs typeface="Material Icons"/>
                  <a:sym typeface="Material Icons"/>
                </a:rPr>
                <a:t>gavel</a:t>
              </a:r>
              <a:endParaRPr sz="2400">
                <a:solidFill>
                  <a:srgbClr val="DC3545"/>
                </a:solidFill>
                <a:latin typeface="Material Icons"/>
                <a:ea typeface="Material Icons"/>
                <a:cs typeface="Material Icons"/>
                <a:sym typeface="Material Icons"/>
              </a:endParaRPr>
            </a:p>
          </p:txBody>
        </p:sp>
        <p:sp>
          <p:nvSpPr>
            <p:cNvPr id="73" name="Google Shape;73;p14"/>
            <p:cNvSpPr txBox="1"/>
            <p:nvPr/>
          </p:nvSpPr>
          <p:spPr>
            <a:xfrm>
              <a:off x="6296025" y="2809875"/>
              <a:ext cx="23145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400">
                  <a:solidFill>
                    <a:srgbClr val="1C1E21"/>
                  </a:solidFill>
                  <a:latin typeface="Roboto"/>
                  <a:ea typeface="Roboto"/>
                  <a:cs typeface="Roboto"/>
                  <a:sym typeface="Roboto"/>
                </a:rPr>
                <a:t>Risk Mitigation</a:t>
              </a:r>
              <a:endParaRPr b="1" sz="1400">
                <a:solidFill>
                  <a:srgbClr val="1C1E21"/>
                </a:solidFill>
                <a:latin typeface="Roboto"/>
                <a:ea typeface="Roboto"/>
                <a:cs typeface="Roboto"/>
                <a:sym typeface="Roboto"/>
              </a:endParaRPr>
            </a:p>
            <a:p>
              <a:pPr indent="0" lvl="0" marL="0" rtl="0" algn="l">
                <a:spcBef>
                  <a:spcPts val="600"/>
                </a:spcBef>
                <a:spcAft>
                  <a:spcPts val="0"/>
                </a:spcAft>
                <a:buNone/>
              </a:pPr>
              <a:r>
                <a:rPr lang="en-GB" sz="1100">
                  <a:solidFill>
                    <a:srgbClr val="495057"/>
                  </a:solidFill>
                  <a:latin typeface="Roboto"/>
                  <a:ea typeface="Roboto"/>
                  <a:cs typeface="Roboto"/>
                  <a:sym typeface="Roboto"/>
                </a:rPr>
                <a:t>Safely absorb long-term compliance reporting costs and reduce audit risks.</a:t>
              </a:r>
              <a:endParaRPr sz="1100">
                <a:solidFill>
                  <a:srgbClr val="495057"/>
                </a:solidFill>
                <a:latin typeface="Roboto"/>
                <a:ea typeface="Roboto"/>
                <a:cs typeface="Roboto"/>
                <a:sym typeface="Roboto"/>
              </a:endParaRPr>
            </a:p>
          </p:txBody>
        </p:sp>
      </p:grpSp>
      <p:sp>
        <p:nvSpPr>
          <p:cNvPr id="74" name="Google Shape;74;p14"/>
          <p:cNvSpPr/>
          <p:nvPr/>
        </p:nvSpPr>
        <p:spPr>
          <a:xfrm>
            <a:off x="381000" y="4572000"/>
            <a:ext cx="8382000" cy="19200"/>
          </a:xfrm>
          <a:prstGeom prst="rect">
            <a:avLst/>
          </a:prstGeom>
          <a:solidFill>
            <a:srgbClr val="E9EC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4"/>
          <p:cNvSpPr txBox="1"/>
          <p:nvPr/>
        </p:nvSpPr>
        <p:spPr>
          <a:xfrm>
            <a:off x="381000" y="4667250"/>
            <a:ext cx="8382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000">
                <a:solidFill>
                  <a:srgbClr val="6C757D"/>
                </a:solidFill>
                <a:latin typeface="Roboto"/>
                <a:ea typeface="Roboto"/>
                <a:cs typeface="Roboto"/>
                <a:sym typeface="Roboto"/>
              </a:rPr>
              <a:t>Smart Recovery Initiative - Discovery Package Output</a:t>
            </a:r>
            <a:endParaRPr sz="1000">
              <a:solidFill>
                <a:srgbClr val="6C757D"/>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9" name="Shape 79"/>
        <p:cNvGrpSpPr/>
        <p:nvPr/>
      </p:nvGrpSpPr>
      <p:grpSpPr>
        <a:xfrm>
          <a:off x="0" y="0"/>
          <a:ext cx="0" cy="0"/>
          <a:chOff x="0" y="0"/>
          <a:chExt cx="0" cy="0"/>
        </a:xfrm>
      </p:grpSpPr>
      <p:sp>
        <p:nvSpPr>
          <p:cNvPr id="80" name="Google Shape;80;p15"/>
          <p:cNvSpPr/>
          <p:nvPr/>
        </p:nvSpPr>
        <p:spPr>
          <a:xfrm>
            <a:off x="0" y="0"/>
            <a:ext cx="9144000" cy="762000"/>
          </a:xfrm>
          <a:prstGeom prst="rect">
            <a:avLst/>
          </a:prstGeom>
          <a:solidFill>
            <a:srgbClr val="1C1E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 name="Google Shape;81;p15"/>
          <p:cNvSpPr txBox="1"/>
          <p:nvPr/>
        </p:nvSpPr>
        <p:spPr>
          <a:xfrm>
            <a:off x="381000" y="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400">
                <a:solidFill>
                  <a:srgbClr val="FFFFFF"/>
                </a:solidFill>
                <a:latin typeface="Roboto"/>
                <a:ea typeface="Roboto"/>
                <a:cs typeface="Roboto"/>
                <a:sym typeface="Roboto"/>
              </a:rPr>
              <a:t>The Core Problems</a:t>
            </a:r>
            <a:endParaRPr b="1" sz="2400">
              <a:solidFill>
                <a:srgbClr val="FFFFFF"/>
              </a:solidFill>
              <a:latin typeface="Roboto"/>
              <a:ea typeface="Roboto"/>
              <a:cs typeface="Roboto"/>
              <a:sym typeface="Roboto"/>
            </a:endParaRPr>
          </a:p>
        </p:txBody>
      </p:sp>
      <p:sp>
        <p:nvSpPr>
          <p:cNvPr id="82" name="Google Shape;82;p15"/>
          <p:cNvSpPr/>
          <p:nvPr/>
        </p:nvSpPr>
        <p:spPr>
          <a:xfrm>
            <a:off x="381000" y="4572000"/>
            <a:ext cx="8382000" cy="19200"/>
          </a:xfrm>
          <a:prstGeom prst="rect">
            <a:avLst/>
          </a:prstGeom>
          <a:solidFill>
            <a:srgbClr val="E9EC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15"/>
          <p:cNvSpPr txBox="1"/>
          <p:nvPr/>
        </p:nvSpPr>
        <p:spPr>
          <a:xfrm>
            <a:off x="381000" y="4667250"/>
            <a:ext cx="8382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000">
                <a:solidFill>
                  <a:srgbClr val="6C757D"/>
                </a:solidFill>
                <a:latin typeface="Roboto"/>
                <a:ea typeface="Roboto"/>
                <a:cs typeface="Roboto"/>
                <a:sym typeface="Roboto"/>
              </a:rPr>
              <a:t>Smart Recovery Initiative - Discovery Package Output</a:t>
            </a:r>
            <a:endParaRPr sz="1000">
              <a:solidFill>
                <a:srgbClr val="6C757D"/>
              </a:solidFill>
              <a:latin typeface="Roboto"/>
              <a:ea typeface="Roboto"/>
              <a:cs typeface="Roboto"/>
              <a:sym typeface="Roboto"/>
            </a:endParaRPr>
          </a:p>
        </p:txBody>
      </p:sp>
      <p:grpSp>
        <p:nvGrpSpPr>
          <p:cNvPr id="84" name="Google Shape;84;p15"/>
          <p:cNvGrpSpPr/>
          <p:nvPr/>
        </p:nvGrpSpPr>
        <p:grpSpPr>
          <a:xfrm>
            <a:off x="381000" y="1047750"/>
            <a:ext cx="4095900" cy="1428900"/>
            <a:chOff x="381000" y="1047750"/>
            <a:chExt cx="4095900" cy="1428900"/>
          </a:xfrm>
        </p:grpSpPr>
        <p:sp>
          <p:nvSpPr>
            <p:cNvPr id="85" name="Google Shape;85;p15"/>
            <p:cNvSpPr/>
            <p:nvPr/>
          </p:nvSpPr>
          <p:spPr>
            <a:xfrm>
              <a:off x="381000" y="1047750"/>
              <a:ext cx="4095900" cy="1428900"/>
            </a:xfrm>
            <a:prstGeom prst="roundRect">
              <a:avLst>
                <a:gd fmla="val 8000" name="adj"/>
              </a:avLst>
            </a:prstGeom>
            <a:solidFill>
              <a:srgbClr val="FFFFFF"/>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5"/>
            <p:cNvSpPr txBox="1"/>
            <p:nvPr/>
          </p:nvSpPr>
          <p:spPr>
            <a:xfrm>
              <a:off x="523875" y="1190625"/>
              <a:ext cx="38100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1400">
                  <a:solidFill>
                    <a:srgbClr val="1C1E21"/>
                  </a:solidFill>
                  <a:latin typeface="Roboto"/>
                  <a:ea typeface="Roboto"/>
                  <a:cs typeface="Roboto"/>
                  <a:sym typeface="Roboto"/>
                </a:rPr>
                <a:t>The Annual Labor Leak</a:t>
              </a:r>
              <a:endParaRPr b="1" sz="1400">
                <a:solidFill>
                  <a:srgbClr val="1C1E21"/>
                </a:solidFill>
                <a:latin typeface="Roboto"/>
                <a:ea typeface="Roboto"/>
                <a:cs typeface="Roboto"/>
                <a:sym typeface="Roboto"/>
              </a:endParaRPr>
            </a:p>
            <a:p>
              <a:pPr indent="0" lvl="0" marL="0" rtl="0" algn="l">
                <a:spcBef>
                  <a:spcPts val="600"/>
                </a:spcBef>
                <a:spcAft>
                  <a:spcPts val="0"/>
                </a:spcAft>
                <a:buNone/>
              </a:pPr>
              <a:r>
                <a:rPr b="0" lang="en-GB" sz="1100">
                  <a:solidFill>
                    <a:srgbClr val="495057"/>
                  </a:solidFill>
                  <a:latin typeface="Roboto"/>
                  <a:ea typeface="Roboto"/>
                  <a:cs typeface="Roboto"/>
                  <a:sym typeface="Roboto"/>
                </a:rPr>
                <a:t>The manual current state requires exactly </a:t>
              </a:r>
              <a:r>
                <a:rPr b="1" lang="en-GB" sz="1100">
                  <a:solidFill>
                    <a:srgbClr val="1C1E21"/>
                  </a:solidFill>
                  <a:latin typeface="Roboto"/>
                  <a:ea typeface="Roboto"/>
                  <a:cs typeface="Roboto"/>
                  <a:sym typeface="Roboto"/>
                </a:rPr>
                <a:t>2,391.80 hours</a:t>
              </a:r>
              <a:r>
                <a:rPr b="0" lang="en-GB" sz="1100">
                  <a:solidFill>
                    <a:srgbClr val="495057"/>
                  </a:solidFill>
                  <a:latin typeface="Roboto"/>
                  <a:ea typeface="Roboto"/>
                  <a:cs typeface="Roboto"/>
                  <a:sym typeface="Roboto"/>
                </a:rPr>
                <a:t> of manual work annually across routine status checking and administrative follow-up tracking alone.</a:t>
              </a:r>
              <a:endParaRPr b="0" sz="1100">
                <a:solidFill>
                  <a:srgbClr val="495057"/>
                </a:solidFill>
                <a:latin typeface="Roboto"/>
                <a:ea typeface="Roboto"/>
                <a:cs typeface="Roboto"/>
                <a:sym typeface="Roboto"/>
              </a:endParaRPr>
            </a:p>
          </p:txBody>
        </p:sp>
      </p:grpSp>
      <p:grpSp>
        <p:nvGrpSpPr>
          <p:cNvPr id="87" name="Google Shape;87;p15"/>
          <p:cNvGrpSpPr/>
          <p:nvPr/>
        </p:nvGrpSpPr>
        <p:grpSpPr>
          <a:xfrm>
            <a:off x="4667250" y="1047750"/>
            <a:ext cx="4095900" cy="1428900"/>
            <a:chOff x="4667250" y="1047750"/>
            <a:chExt cx="4095900" cy="1428900"/>
          </a:xfrm>
        </p:grpSpPr>
        <p:sp>
          <p:nvSpPr>
            <p:cNvPr id="88" name="Google Shape;88;p15"/>
            <p:cNvSpPr/>
            <p:nvPr/>
          </p:nvSpPr>
          <p:spPr>
            <a:xfrm>
              <a:off x="4667250" y="1047750"/>
              <a:ext cx="4095900" cy="1428900"/>
            </a:xfrm>
            <a:prstGeom prst="roundRect">
              <a:avLst>
                <a:gd fmla="val 8000" name="adj"/>
              </a:avLst>
            </a:prstGeom>
            <a:solidFill>
              <a:srgbClr val="FFFFFF"/>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5"/>
            <p:cNvSpPr txBox="1"/>
            <p:nvPr/>
          </p:nvSpPr>
          <p:spPr>
            <a:xfrm>
              <a:off x="4810125" y="1190625"/>
              <a:ext cx="38100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1400">
                  <a:solidFill>
                    <a:srgbClr val="1C1E21"/>
                  </a:solidFill>
                  <a:latin typeface="Roboto"/>
                  <a:ea typeface="Roboto"/>
                  <a:cs typeface="Roboto"/>
                  <a:sym typeface="Roboto"/>
                </a:rPr>
                <a:t>The Financial Burden</a:t>
              </a:r>
              <a:endParaRPr b="1" sz="1400">
                <a:solidFill>
                  <a:srgbClr val="1C1E21"/>
                </a:solidFill>
                <a:latin typeface="Roboto"/>
                <a:ea typeface="Roboto"/>
                <a:cs typeface="Roboto"/>
                <a:sym typeface="Roboto"/>
              </a:endParaRPr>
            </a:p>
            <a:p>
              <a:pPr indent="0" lvl="0" marL="0" rtl="0" algn="l">
                <a:spcBef>
                  <a:spcPts val="600"/>
                </a:spcBef>
                <a:spcAft>
                  <a:spcPts val="0"/>
                </a:spcAft>
                <a:buNone/>
              </a:pPr>
              <a:r>
                <a:rPr b="0" lang="en-GB" sz="1100">
                  <a:solidFill>
                    <a:srgbClr val="495057"/>
                  </a:solidFill>
                  <a:latin typeface="Roboto"/>
                  <a:ea typeface="Roboto"/>
                  <a:cs typeface="Roboto"/>
                  <a:sym typeface="Roboto"/>
                </a:rPr>
                <a:t>At our standard baseline cost, this operational drain drains </a:t>
              </a:r>
              <a:r>
                <a:rPr b="1" lang="en-GB" sz="1100">
                  <a:solidFill>
                    <a:srgbClr val="1C1E21"/>
                  </a:solidFill>
                  <a:latin typeface="Roboto"/>
                  <a:ea typeface="Roboto"/>
                  <a:cs typeface="Roboto"/>
                  <a:sym typeface="Roboto"/>
                </a:rPr>
                <a:t>£52,619.60</a:t>
              </a:r>
              <a:r>
                <a:rPr b="0" lang="en-GB" sz="1100">
                  <a:solidFill>
                    <a:srgbClr val="495057"/>
                  </a:solidFill>
                  <a:latin typeface="Roboto"/>
                  <a:ea typeface="Roboto"/>
                  <a:cs typeface="Roboto"/>
                  <a:sym typeface="Roboto"/>
                </a:rPr>
                <a:t> in human resource capacity every single year.</a:t>
              </a:r>
              <a:endParaRPr b="0" sz="1100">
                <a:solidFill>
                  <a:srgbClr val="495057"/>
                </a:solidFill>
                <a:latin typeface="Roboto"/>
                <a:ea typeface="Roboto"/>
                <a:cs typeface="Roboto"/>
                <a:sym typeface="Roboto"/>
              </a:endParaRPr>
            </a:p>
          </p:txBody>
        </p:sp>
      </p:grpSp>
      <p:grpSp>
        <p:nvGrpSpPr>
          <p:cNvPr id="90" name="Google Shape;90;p15"/>
          <p:cNvGrpSpPr/>
          <p:nvPr/>
        </p:nvGrpSpPr>
        <p:grpSpPr>
          <a:xfrm>
            <a:off x="381000" y="2667000"/>
            <a:ext cx="4095900" cy="1714500"/>
            <a:chOff x="381000" y="2667000"/>
            <a:chExt cx="4095900" cy="1714500"/>
          </a:xfrm>
        </p:grpSpPr>
        <p:sp>
          <p:nvSpPr>
            <p:cNvPr id="91" name="Google Shape;91;p15"/>
            <p:cNvSpPr/>
            <p:nvPr/>
          </p:nvSpPr>
          <p:spPr>
            <a:xfrm>
              <a:off x="381000" y="2667000"/>
              <a:ext cx="4095900" cy="1714500"/>
            </a:xfrm>
            <a:prstGeom prst="roundRect">
              <a:avLst>
                <a:gd fmla="val 6666" name="adj"/>
              </a:avLst>
            </a:prstGeom>
            <a:solidFill>
              <a:srgbClr val="FFFFFF"/>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5"/>
            <p:cNvSpPr txBox="1"/>
            <p:nvPr/>
          </p:nvSpPr>
          <p:spPr>
            <a:xfrm>
              <a:off x="523875" y="2809875"/>
              <a:ext cx="3810000" cy="142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1400">
                  <a:solidFill>
                    <a:srgbClr val="1C1E21"/>
                  </a:solidFill>
                  <a:latin typeface="Roboto"/>
                  <a:ea typeface="Roboto"/>
                  <a:cs typeface="Roboto"/>
                  <a:sym typeface="Roboto"/>
                </a:rPr>
                <a:t>The Revenue Leakage Layer</a:t>
              </a:r>
              <a:endParaRPr b="1" sz="1400">
                <a:solidFill>
                  <a:srgbClr val="1C1E21"/>
                </a:solidFill>
                <a:latin typeface="Roboto"/>
                <a:ea typeface="Roboto"/>
                <a:cs typeface="Roboto"/>
                <a:sym typeface="Roboto"/>
              </a:endParaRPr>
            </a:p>
            <a:p>
              <a:pPr indent="0" lvl="0" marL="0" rtl="0" algn="l">
                <a:spcBef>
                  <a:spcPts val="600"/>
                </a:spcBef>
                <a:spcAft>
                  <a:spcPts val="0"/>
                </a:spcAft>
                <a:buNone/>
              </a:pPr>
              <a:r>
                <a:rPr b="0" lang="en-GB" sz="1100">
                  <a:solidFill>
                    <a:srgbClr val="495057"/>
                  </a:solidFill>
                  <a:latin typeface="Roboto"/>
                  <a:ea typeface="Roboto"/>
                  <a:cs typeface="Roboto"/>
                  <a:sym typeface="Roboto"/>
                </a:rPr>
                <a:t>The bank suffers an extra </a:t>
              </a:r>
              <a:r>
                <a:rPr b="1" lang="en-GB" sz="1100">
                  <a:solidFill>
                    <a:srgbClr val="DC3545"/>
                  </a:solidFill>
                  <a:latin typeface="Roboto"/>
                  <a:ea typeface="Roboto"/>
                  <a:cs typeface="Roboto"/>
                  <a:sym typeface="Roboto"/>
                </a:rPr>
                <a:t>£10,617.37</a:t>
              </a:r>
              <a:r>
                <a:rPr b="0" lang="en-GB" sz="1100">
                  <a:solidFill>
                    <a:srgbClr val="495057"/>
                  </a:solidFill>
                  <a:latin typeface="Roboto"/>
                  <a:ea typeface="Roboto"/>
                  <a:cs typeface="Roboto"/>
                  <a:sym typeface="Roboto"/>
                </a:rPr>
                <a:t> in direct revenue leakage annually from active arrangement collapses because overwhelmed agents lack capacity to follow up.</a:t>
              </a:r>
              <a:endParaRPr b="0" sz="1100">
                <a:solidFill>
                  <a:srgbClr val="495057"/>
                </a:solidFill>
                <a:latin typeface="Roboto"/>
                <a:ea typeface="Roboto"/>
                <a:cs typeface="Roboto"/>
                <a:sym typeface="Roboto"/>
              </a:endParaRPr>
            </a:p>
          </p:txBody>
        </p:sp>
      </p:grpSp>
      <p:grpSp>
        <p:nvGrpSpPr>
          <p:cNvPr id="93" name="Google Shape;93;p15"/>
          <p:cNvGrpSpPr/>
          <p:nvPr/>
        </p:nvGrpSpPr>
        <p:grpSpPr>
          <a:xfrm>
            <a:off x="4667250" y="2667000"/>
            <a:ext cx="4095900" cy="1714500"/>
            <a:chOff x="4667250" y="2667000"/>
            <a:chExt cx="4095900" cy="1714500"/>
          </a:xfrm>
        </p:grpSpPr>
        <p:sp>
          <p:nvSpPr>
            <p:cNvPr id="94" name="Google Shape;94;p15"/>
            <p:cNvSpPr/>
            <p:nvPr/>
          </p:nvSpPr>
          <p:spPr>
            <a:xfrm>
              <a:off x="4667250" y="2667000"/>
              <a:ext cx="4095900" cy="1714500"/>
            </a:xfrm>
            <a:prstGeom prst="roundRect">
              <a:avLst>
                <a:gd fmla="val 6666" name="adj"/>
              </a:avLst>
            </a:prstGeom>
            <a:solidFill>
              <a:srgbClr val="FFFFFF"/>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txBox="1"/>
            <p:nvPr/>
          </p:nvSpPr>
          <p:spPr>
            <a:xfrm>
              <a:off x="4810125" y="2809875"/>
              <a:ext cx="3810000" cy="142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1400">
                  <a:solidFill>
                    <a:srgbClr val="1C1E21"/>
                  </a:solidFill>
                  <a:latin typeface="Roboto"/>
                  <a:ea typeface="Roboto"/>
                  <a:cs typeface="Roboto"/>
                  <a:sym typeface="Roboto"/>
                </a:rPr>
                <a:t>The Process Breakdowns</a:t>
              </a:r>
              <a:endParaRPr b="1" sz="1400">
                <a:solidFill>
                  <a:srgbClr val="1C1E21"/>
                </a:solidFill>
                <a:latin typeface="Roboto"/>
                <a:ea typeface="Roboto"/>
                <a:cs typeface="Roboto"/>
                <a:sym typeface="Roboto"/>
              </a:endParaRPr>
            </a:p>
            <a:p>
              <a:pPr indent="-292100" lvl="0" marL="457200" rtl="0" algn="l">
                <a:spcBef>
                  <a:spcPts val="600"/>
                </a:spcBef>
                <a:spcAft>
                  <a:spcPts val="0"/>
                </a:spcAft>
                <a:buClr>
                  <a:srgbClr val="495057"/>
                </a:buClr>
                <a:buSzPts val="1000"/>
                <a:buFont typeface="Roboto"/>
                <a:buChar char="●"/>
              </a:pPr>
              <a:r>
                <a:rPr b="1" lang="en-GB" sz="1000">
                  <a:solidFill>
                    <a:srgbClr val="1C1E21"/>
                  </a:solidFill>
                  <a:latin typeface="Roboto"/>
                  <a:ea typeface="Roboto"/>
                  <a:cs typeface="Roboto"/>
                  <a:sym typeface="Roboto"/>
                </a:rPr>
                <a:t>OPP-01:</a:t>
              </a:r>
              <a:r>
                <a:rPr b="0" lang="en-GB" sz="1000">
                  <a:solidFill>
                    <a:srgbClr val="495057"/>
                  </a:solidFill>
                  <a:latin typeface="Roboto"/>
                  <a:ea typeface="Roboto"/>
                  <a:cs typeface="Roboto"/>
                  <a:sym typeface="Roboto"/>
                </a:rPr>
                <a:t> 1,269.40 hours on status checks.</a:t>
              </a:r>
              <a:endParaRPr b="0" sz="1000">
                <a:solidFill>
                  <a:srgbClr val="495057"/>
                </a:solidFill>
                <a:latin typeface="Roboto"/>
                <a:ea typeface="Roboto"/>
                <a:cs typeface="Roboto"/>
                <a:sym typeface="Roboto"/>
              </a:endParaRPr>
            </a:p>
            <a:p>
              <a:pPr indent="-292100" lvl="0" marL="457200" rtl="0" algn="l">
                <a:spcBef>
                  <a:spcPts val="400"/>
                </a:spcBef>
                <a:spcAft>
                  <a:spcPts val="0"/>
                </a:spcAft>
                <a:buClr>
                  <a:srgbClr val="495057"/>
                </a:buClr>
                <a:buSzPts val="1000"/>
                <a:buFont typeface="Roboto"/>
                <a:buChar char="●"/>
              </a:pPr>
              <a:r>
                <a:rPr b="1" lang="en-GB" sz="1000">
                  <a:solidFill>
                    <a:srgbClr val="1C1E21"/>
                  </a:solidFill>
                  <a:latin typeface="Roboto"/>
                  <a:ea typeface="Roboto"/>
                  <a:cs typeface="Roboto"/>
                  <a:sym typeface="Roboto"/>
                </a:rPr>
                <a:t>OPP-05:</a:t>
              </a:r>
              <a:r>
                <a:rPr b="0" lang="en-GB" sz="1000">
                  <a:solidFill>
                    <a:srgbClr val="495057"/>
                  </a:solidFill>
                  <a:latin typeface="Roboto"/>
                  <a:ea typeface="Roboto"/>
                  <a:cs typeface="Roboto"/>
                  <a:sym typeface="Roboto"/>
                </a:rPr>
                <a:t> 1,122.40 hours on follow-up scheduling.</a:t>
              </a:r>
              <a:endParaRPr b="0" sz="1000">
                <a:solidFill>
                  <a:srgbClr val="495057"/>
                </a:solidFill>
                <a:latin typeface="Roboto"/>
                <a:ea typeface="Roboto"/>
                <a:cs typeface="Roboto"/>
                <a:sym typeface="Robo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9" name="Shape 99"/>
        <p:cNvGrpSpPr/>
        <p:nvPr/>
      </p:nvGrpSpPr>
      <p:grpSpPr>
        <a:xfrm>
          <a:off x="0" y="0"/>
          <a:ext cx="0" cy="0"/>
          <a:chOff x="0" y="0"/>
          <a:chExt cx="0" cy="0"/>
        </a:xfrm>
      </p:grpSpPr>
      <p:sp>
        <p:nvSpPr>
          <p:cNvPr id="100" name="Google Shape;100;p16"/>
          <p:cNvSpPr/>
          <p:nvPr/>
        </p:nvSpPr>
        <p:spPr>
          <a:xfrm>
            <a:off x="0" y="0"/>
            <a:ext cx="9144000" cy="762000"/>
          </a:xfrm>
          <a:prstGeom prst="rect">
            <a:avLst/>
          </a:prstGeom>
          <a:solidFill>
            <a:srgbClr val="1C1E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6"/>
          <p:cNvSpPr txBox="1"/>
          <p:nvPr/>
        </p:nvSpPr>
        <p:spPr>
          <a:xfrm>
            <a:off x="381000" y="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400">
                <a:solidFill>
                  <a:srgbClr val="FFFFFF"/>
                </a:solidFill>
                <a:latin typeface="Roboto"/>
                <a:ea typeface="Roboto"/>
                <a:cs typeface="Roboto"/>
                <a:sym typeface="Roboto"/>
              </a:rPr>
              <a:t>Discovery</a:t>
            </a:r>
            <a:r>
              <a:rPr b="1" lang="en-GB" sz="2400">
                <a:solidFill>
                  <a:srgbClr val="FFFFFF"/>
                </a:solidFill>
                <a:latin typeface="Roboto"/>
                <a:ea typeface="Roboto"/>
                <a:cs typeface="Roboto"/>
                <a:sym typeface="Roboto"/>
              </a:rPr>
              <a:t> Evidence and Pain Points</a:t>
            </a:r>
            <a:endParaRPr b="1" sz="2400">
              <a:solidFill>
                <a:srgbClr val="FFFFFF"/>
              </a:solidFill>
              <a:latin typeface="Roboto"/>
              <a:ea typeface="Roboto"/>
              <a:cs typeface="Roboto"/>
              <a:sym typeface="Roboto"/>
            </a:endParaRPr>
          </a:p>
        </p:txBody>
      </p:sp>
      <p:sp>
        <p:nvSpPr>
          <p:cNvPr id="102" name="Google Shape;102;p16"/>
          <p:cNvSpPr/>
          <p:nvPr/>
        </p:nvSpPr>
        <p:spPr>
          <a:xfrm>
            <a:off x="381000" y="4572000"/>
            <a:ext cx="8382000" cy="19200"/>
          </a:xfrm>
          <a:prstGeom prst="rect">
            <a:avLst/>
          </a:prstGeom>
          <a:solidFill>
            <a:srgbClr val="E9EC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6"/>
          <p:cNvSpPr txBox="1"/>
          <p:nvPr/>
        </p:nvSpPr>
        <p:spPr>
          <a:xfrm>
            <a:off x="381000" y="4667250"/>
            <a:ext cx="8382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000">
                <a:solidFill>
                  <a:srgbClr val="6C757D"/>
                </a:solidFill>
                <a:latin typeface="Roboto"/>
                <a:ea typeface="Roboto"/>
                <a:cs typeface="Roboto"/>
                <a:sym typeface="Roboto"/>
              </a:rPr>
              <a:t>Smart Recovery Initiative - Discovery Package Output</a:t>
            </a:r>
            <a:endParaRPr sz="1000">
              <a:solidFill>
                <a:srgbClr val="6C757D"/>
              </a:solidFill>
              <a:latin typeface="Roboto"/>
              <a:ea typeface="Roboto"/>
              <a:cs typeface="Roboto"/>
              <a:sym typeface="Roboto"/>
            </a:endParaRPr>
          </a:p>
        </p:txBody>
      </p:sp>
      <p:grpSp>
        <p:nvGrpSpPr>
          <p:cNvPr id="104" name="Google Shape;104;p16"/>
          <p:cNvGrpSpPr/>
          <p:nvPr/>
        </p:nvGrpSpPr>
        <p:grpSpPr>
          <a:xfrm>
            <a:off x="381000" y="952500"/>
            <a:ext cx="4095900" cy="1428900"/>
            <a:chOff x="381000" y="952500"/>
            <a:chExt cx="4095900" cy="1428900"/>
          </a:xfrm>
        </p:grpSpPr>
        <p:sp>
          <p:nvSpPr>
            <p:cNvPr id="105" name="Google Shape;105;p16"/>
            <p:cNvSpPr/>
            <p:nvPr/>
          </p:nvSpPr>
          <p:spPr>
            <a:xfrm>
              <a:off x="381000" y="952500"/>
              <a:ext cx="4095900" cy="1428900"/>
            </a:xfrm>
            <a:prstGeom prst="roundRect">
              <a:avLst>
                <a:gd fmla="val 8000" name="adj"/>
              </a:avLst>
            </a:prstGeom>
            <a:solidFill>
              <a:srgbClr val="FFFFFF"/>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6"/>
            <p:cNvSpPr txBox="1"/>
            <p:nvPr/>
          </p:nvSpPr>
          <p:spPr>
            <a:xfrm>
              <a:off x="523875" y="1095375"/>
              <a:ext cx="3810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400">
                  <a:solidFill>
                    <a:srgbClr val="1C1E21"/>
                  </a:solidFill>
                  <a:latin typeface="Roboto"/>
                  <a:ea typeface="Roboto"/>
                  <a:cs typeface="Roboto"/>
                  <a:sym typeface="Roboto"/>
                </a:rPr>
                <a:t>Information Asymmetry</a:t>
              </a:r>
              <a:endParaRPr b="1" sz="1400">
                <a:solidFill>
                  <a:srgbClr val="1C1E21"/>
                </a:solidFill>
                <a:latin typeface="Roboto"/>
                <a:ea typeface="Roboto"/>
                <a:cs typeface="Roboto"/>
                <a:sym typeface="Roboto"/>
              </a:endParaRPr>
            </a:p>
            <a:p>
              <a:pPr indent="0" lvl="0" marL="0" rtl="0" algn="l">
                <a:spcBef>
                  <a:spcPts val="600"/>
                </a:spcBef>
                <a:spcAft>
                  <a:spcPts val="0"/>
                </a:spcAft>
                <a:buNone/>
              </a:pPr>
              <a:r>
                <a:rPr b="0" lang="en-GB" sz="1100">
                  <a:solidFill>
                    <a:srgbClr val="495057"/>
                  </a:solidFill>
                  <a:latin typeface="Roboto"/>
                  <a:ea typeface="Roboto"/>
                  <a:cs typeface="Roboto"/>
                  <a:sym typeface="Roboto"/>
                </a:rPr>
                <a:t>Customers have no self-service visibility, forcing high volumes of simple inbound balance inquiries.</a:t>
              </a:r>
              <a:endParaRPr b="0" sz="1100">
                <a:solidFill>
                  <a:srgbClr val="495057"/>
                </a:solidFill>
                <a:latin typeface="Roboto"/>
                <a:ea typeface="Roboto"/>
                <a:cs typeface="Roboto"/>
                <a:sym typeface="Roboto"/>
              </a:endParaRPr>
            </a:p>
          </p:txBody>
        </p:sp>
      </p:grpSp>
      <p:grpSp>
        <p:nvGrpSpPr>
          <p:cNvPr id="107" name="Google Shape;107;p16"/>
          <p:cNvGrpSpPr/>
          <p:nvPr/>
        </p:nvGrpSpPr>
        <p:grpSpPr>
          <a:xfrm>
            <a:off x="4667250" y="952500"/>
            <a:ext cx="4095900" cy="1428900"/>
            <a:chOff x="4667250" y="952500"/>
            <a:chExt cx="4095900" cy="1428900"/>
          </a:xfrm>
        </p:grpSpPr>
        <p:sp>
          <p:nvSpPr>
            <p:cNvPr id="108" name="Google Shape;108;p16"/>
            <p:cNvSpPr/>
            <p:nvPr/>
          </p:nvSpPr>
          <p:spPr>
            <a:xfrm>
              <a:off x="4667250" y="952500"/>
              <a:ext cx="4095900" cy="1428900"/>
            </a:xfrm>
            <a:prstGeom prst="roundRect">
              <a:avLst>
                <a:gd fmla="val 8000" name="adj"/>
              </a:avLst>
            </a:prstGeom>
            <a:solidFill>
              <a:srgbClr val="FFFFFF"/>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6"/>
            <p:cNvSpPr txBox="1"/>
            <p:nvPr/>
          </p:nvSpPr>
          <p:spPr>
            <a:xfrm>
              <a:off x="4810125" y="1095375"/>
              <a:ext cx="3810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400">
                  <a:solidFill>
                    <a:srgbClr val="1C1E21"/>
                  </a:solidFill>
                  <a:latin typeface="Roboto"/>
                  <a:ea typeface="Roboto"/>
                  <a:cs typeface="Roboto"/>
                  <a:sym typeface="Roboto"/>
                </a:rPr>
                <a:t>The Follow-Up Black Hole</a:t>
              </a:r>
              <a:endParaRPr b="1" sz="1400">
                <a:solidFill>
                  <a:srgbClr val="1C1E21"/>
                </a:solidFill>
                <a:latin typeface="Roboto"/>
                <a:ea typeface="Roboto"/>
                <a:cs typeface="Roboto"/>
                <a:sym typeface="Roboto"/>
              </a:endParaRPr>
            </a:p>
            <a:p>
              <a:pPr indent="0" lvl="0" marL="0" rtl="0" algn="l">
                <a:spcBef>
                  <a:spcPts val="600"/>
                </a:spcBef>
                <a:spcAft>
                  <a:spcPts val="0"/>
                </a:spcAft>
                <a:buNone/>
              </a:pPr>
              <a:r>
                <a:rPr b="0" lang="en-GB" sz="1100">
                  <a:solidFill>
                    <a:srgbClr val="495057"/>
                  </a:solidFill>
                  <a:latin typeface="Roboto"/>
                  <a:ea typeface="Roboto"/>
                  <a:cs typeface="Roboto"/>
                  <a:sym typeface="Roboto"/>
                </a:rPr>
                <a:t>Broken promises to pay fall through the cracks because agents lack an automated scheduling mechanism to track and match payments.</a:t>
              </a:r>
              <a:endParaRPr b="0" sz="1100">
                <a:solidFill>
                  <a:srgbClr val="495057"/>
                </a:solidFill>
                <a:latin typeface="Roboto"/>
                <a:ea typeface="Roboto"/>
                <a:cs typeface="Roboto"/>
                <a:sym typeface="Roboto"/>
              </a:endParaRPr>
            </a:p>
          </p:txBody>
        </p:sp>
      </p:grpSp>
      <p:grpSp>
        <p:nvGrpSpPr>
          <p:cNvPr id="110" name="Google Shape;110;p16"/>
          <p:cNvGrpSpPr/>
          <p:nvPr/>
        </p:nvGrpSpPr>
        <p:grpSpPr>
          <a:xfrm>
            <a:off x="381000" y="2571750"/>
            <a:ext cx="4095900" cy="1714500"/>
            <a:chOff x="381000" y="2571750"/>
            <a:chExt cx="4095900" cy="1714500"/>
          </a:xfrm>
        </p:grpSpPr>
        <p:sp>
          <p:nvSpPr>
            <p:cNvPr id="111" name="Google Shape;111;p16"/>
            <p:cNvSpPr/>
            <p:nvPr/>
          </p:nvSpPr>
          <p:spPr>
            <a:xfrm>
              <a:off x="381000" y="2571750"/>
              <a:ext cx="4095900" cy="1714500"/>
            </a:xfrm>
            <a:prstGeom prst="roundRect">
              <a:avLst>
                <a:gd fmla="val 6666" name="adj"/>
              </a:avLst>
            </a:prstGeom>
            <a:solidFill>
              <a:srgbClr val="FFFFFF"/>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6"/>
            <p:cNvSpPr txBox="1"/>
            <p:nvPr/>
          </p:nvSpPr>
          <p:spPr>
            <a:xfrm>
              <a:off x="523875" y="2714625"/>
              <a:ext cx="38100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400">
                  <a:solidFill>
                    <a:srgbClr val="1C1E21"/>
                  </a:solidFill>
                  <a:latin typeface="Roboto"/>
                  <a:ea typeface="Roboto"/>
                  <a:cs typeface="Roboto"/>
                  <a:sym typeface="Roboto"/>
                </a:rPr>
                <a:t>The Technical Reality</a:t>
              </a:r>
              <a:endParaRPr b="1" sz="1400">
                <a:solidFill>
                  <a:srgbClr val="1C1E21"/>
                </a:solidFill>
                <a:latin typeface="Roboto"/>
                <a:ea typeface="Roboto"/>
                <a:cs typeface="Roboto"/>
                <a:sym typeface="Roboto"/>
              </a:endParaRPr>
            </a:p>
            <a:p>
              <a:pPr indent="0" lvl="0" marL="0" rtl="0" algn="l">
                <a:spcBef>
                  <a:spcPts val="600"/>
                </a:spcBef>
                <a:spcAft>
                  <a:spcPts val="0"/>
                </a:spcAft>
                <a:buNone/>
              </a:pPr>
              <a:r>
                <a:rPr b="0" lang="en-GB" sz="1100">
                  <a:solidFill>
                    <a:srgbClr val="495057"/>
                  </a:solidFill>
                  <a:latin typeface="Roboto"/>
                  <a:ea typeface="Roboto"/>
                  <a:cs typeface="Roboto"/>
                  <a:sym typeface="Roboto"/>
                </a:rPr>
                <a:t>The current system relies on manual tracking sheets and fragmented logs, leaving zero audit trails for compliance.</a:t>
              </a:r>
              <a:endParaRPr b="0" sz="1100">
                <a:solidFill>
                  <a:srgbClr val="495057"/>
                </a:solidFill>
                <a:latin typeface="Roboto"/>
                <a:ea typeface="Roboto"/>
                <a:cs typeface="Roboto"/>
                <a:sym typeface="Roboto"/>
              </a:endParaRPr>
            </a:p>
          </p:txBody>
        </p:sp>
      </p:grpSp>
      <p:grpSp>
        <p:nvGrpSpPr>
          <p:cNvPr id="113" name="Google Shape;113;p16"/>
          <p:cNvGrpSpPr/>
          <p:nvPr/>
        </p:nvGrpSpPr>
        <p:grpSpPr>
          <a:xfrm>
            <a:off x="4667250" y="2571750"/>
            <a:ext cx="4095900" cy="1714500"/>
            <a:chOff x="4667250" y="2571750"/>
            <a:chExt cx="4095900" cy="1714500"/>
          </a:xfrm>
        </p:grpSpPr>
        <p:sp>
          <p:nvSpPr>
            <p:cNvPr id="114" name="Google Shape;114;p16"/>
            <p:cNvSpPr/>
            <p:nvPr/>
          </p:nvSpPr>
          <p:spPr>
            <a:xfrm>
              <a:off x="4667250" y="2571750"/>
              <a:ext cx="4095900" cy="1714500"/>
            </a:xfrm>
            <a:prstGeom prst="roundRect">
              <a:avLst>
                <a:gd fmla="val 6666" name="adj"/>
              </a:avLst>
            </a:prstGeom>
            <a:solidFill>
              <a:srgbClr val="F8F9FA"/>
            </a:solidFill>
            <a:ln cap="flat" cmpd="sng" w="9525">
              <a:solidFill>
                <a:srgbClr val="0056B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6"/>
            <p:cNvSpPr txBox="1"/>
            <p:nvPr/>
          </p:nvSpPr>
          <p:spPr>
            <a:xfrm>
              <a:off x="4810125" y="2714625"/>
              <a:ext cx="38100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400">
                  <a:solidFill>
                    <a:srgbClr val="0056B3"/>
                  </a:solidFill>
                  <a:latin typeface="Roboto"/>
                  <a:ea typeface="Roboto"/>
                  <a:cs typeface="Roboto"/>
                  <a:sym typeface="Roboto"/>
                </a:rPr>
                <a:t>User Story Alignment</a:t>
              </a:r>
              <a:endParaRPr b="1" sz="1400">
                <a:solidFill>
                  <a:srgbClr val="0056B3"/>
                </a:solidFill>
                <a:latin typeface="Roboto"/>
                <a:ea typeface="Roboto"/>
                <a:cs typeface="Roboto"/>
                <a:sym typeface="Roboto"/>
              </a:endParaRPr>
            </a:p>
            <a:p>
              <a:pPr indent="0" lvl="0" marL="0" rtl="0" algn="l">
                <a:spcBef>
                  <a:spcPts val="600"/>
                </a:spcBef>
                <a:spcAft>
                  <a:spcPts val="0"/>
                </a:spcAft>
                <a:buNone/>
              </a:pPr>
              <a:r>
                <a:rPr b="0" lang="en-GB" sz="1100">
                  <a:solidFill>
                    <a:srgbClr val="495057"/>
                  </a:solidFill>
                  <a:latin typeface="Roboto"/>
                  <a:ea typeface="Roboto"/>
                  <a:cs typeface="Roboto"/>
                  <a:sym typeface="Roboto"/>
                </a:rPr>
                <a:t>User research shows an immediate need for an identity-verified portal to systematically handle routine interactions.</a:t>
              </a:r>
              <a:endParaRPr b="0" sz="1100">
                <a:solidFill>
                  <a:srgbClr val="495057"/>
                </a:solidFill>
                <a:latin typeface="Roboto"/>
                <a:ea typeface="Roboto"/>
                <a:cs typeface="Roboto"/>
                <a:sym typeface="Robo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 name="Shape 119"/>
        <p:cNvGrpSpPr/>
        <p:nvPr/>
      </p:nvGrpSpPr>
      <p:grpSpPr>
        <a:xfrm>
          <a:off x="0" y="0"/>
          <a:ext cx="0" cy="0"/>
          <a:chOff x="0" y="0"/>
          <a:chExt cx="0" cy="0"/>
        </a:xfrm>
      </p:grpSpPr>
      <p:sp>
        <p:nvSpPr>
          <p:cNvPr id="120" name="Google Shape;120;p17"/>
          <p:cNvSpPr/>
          <p:nvPr/>
        </p:nvSpPr>
        <p:spPr>
          <a:xfrm>
            <a:off x="0" y="0"/>
            <a:ext cx="9144000" cy="762000"/>
          </a:xfrm>
          <a:prstGeom prst="rect">
            <a:avLst/>
          </a:prstGeom>
          <a:solidFill>
            <a:srgbClr val="1C1E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7"/>
          <p:cNvSpPr txBox="1"/>
          <p:nvPr/>
        </p:nvSpPr>
        <p:spPr>
          <a:xfrm>
            <a:off x="381000" y="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400">
                <a:solidFill>
                  <a:srgbClr val="FFFFFF"/>
                </a:solidFill>
                <a:latin typeface="Roboto"/>
                <a:ea typeface="Roboto"/>
                <a:cs typeface="Roboto"/>
                <a:sym typeface="Roboto"/>
              </a:rPr>
              <a:t>ROI</a:t>
            </a:r>
            <a:endParaRPr b="1" sz="2400">
              <a:solidFill>
                <a:srgbClr val="FFFFFF"/>
              </a:solidFill>
              <a:latin typeface="Roboto"/>
              <a:ea typeface="Roboto"/>
              <a:cs typeface="Roboto"/>
              <a:sym typeface="Roboto"/>
            </a:endParaRPr>
          </a:p>
        </p:txBody>
      </p:sp>
      <p:sp>
        <p:nvSpPr>
          <p:cNvPr id="122" name="Google Shape;122;p17"/>
          <p:cNvSpPr/>
          <p:nvPr/>
        </p:nvSpPr>
        <p:spPr>
          <a:xfrm>
            <a:off x="381000" y="4572000"/>
            <a:ext cx="8382000" cy="19200"/>
          </a:xfrm>
          <a:prstGeom prst="rect">
            <a:avLst/>
          </a:prstGeom>
          <a:solidFill>
            <a:srgbClr val="E9EC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7"/>
          <p:cNvSpPr txBox="1"/>
          <p:nvPr/>
        </p:nvSpPr>
        <p:spPr>
          <a:xfrm>
            <a:off x="381000" y="4667250"/>
            <a:ext cx="8382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000">
                <a:solidFill>
                  <a:srgbClr val="6C757D"/>
                </a:solidFill>
                <a:latin typeface="Roboto"/>
                <a:ea typeface="Roboto"/>
                <a:cs typeface="Roboto"/>
                <a:sym typeface="Roboto"/>
              </a:rPr>
              <a:t>Smart Recovery Initiative - Discovery Package Output</a:t>
            </a:r>
            <a:endParaRPr sz="1000">
              <a:solidFill>
                <a:srgbClr val="6C757D"/>
              </a:solidFill>
              <a:latin typeface="Roboto"/>
              <a:ea typeface="Roboto"/>
              <a:cs typeface="Roboto"/>
              <a:sym typeface="Roboto"/>
            </a:endParaRPr>
          </a:p>
        </p:txBody>
      </p:sp>
      <p:graphicFrame>
        <p:nvGraphicFramePr>
          <p:cNvPr id="124" name="Google Shape;124;p17"/>
          <p:cNvGraphicFramePr/>
          <p:nvPr/>
        </p:nvGraphicFramePr>
        <p:xfrm>
          <a:off x="219075" y="1435175"/>
          <a:ext cx="3000000" cy="3000000"/>
        </p:xfrm>
        <a:graphic>
          <a:graphicData uri="http://schemas.openxmlformats.org/drawingml/2006/table">
            <a:tbl>
              <a:tblPr>
                <a:noFill/>
                <a:tableStyleId>{D5EEB3CE-D345-4858-9128-625A2702FB0C}</a:tableStyleId>
              </a:tblPr>
              <a:tblGrid>
                <a:gridCol w="1266825"/>
                <a:gridCol w="1885950"/>
                <a:gridCol w="1666875"/>
                <a:gridCol w="1247775"/>
                <a:gridCol w="1495425"/>
                <a:gridCol w="1143000"/>
              </a:tblGrid>
              <a:tr h="530000">
                <a:tc>
                  <a:txBody>
                    <a:bodyPr/>
                    <a:lstStyle/>
                    <a:p>
                      <a:pPr indent="0" lvl="0" marL="0" rtl="0" algn="l">
                        <a:lnSpc>
                          <a:spcPct val="115000"/>
                        </a:lnSpc>
                        <a:spcBef>
                          <a:spcPts val="0"/>
                        </a:spcBef>
                        <a:spcAft>
                          <a:spcPts val="0"/>
                        </a:spcAft>
                        <a:buNone/>
                      </a:pPr>
                      <a:r>
                        <a:rPr b="1" lang="en-GB" sz="1100">
                          <a:solidFill>
                            <a:srgbClr val="1F1F1F"/>
                          </a:solidFill>
                        </a:rPr>
                        <a:t>Opportunity ID</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GB" sz="1100">
                          <a:solidFill>
                            <a:srgbClr val="1F1F1F"/>
                          </a:solidFill>
                        </a:rPr>
                        <a:t>Focus Area</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GB" sz="1100">
                          <a:solidFill>
                            <a:srgbClr val="1F1F1F"/>
                          </a:solidFill>
                        </a:rPr>
                        <a:t>Implementation Cost</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GB" sz="1100">
                          <a:solidFill>
                            <a:srgbClr val="1F1F1F"/>
                          </a:solidFill>
                        </a:rPr>
                        <a:t>Annual Benefit</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GB" sz="1100">
                          <a:solidFill>
                            <a:srgbClr val="1F1F1F"/>
                          </a:solidFill>
                        </a:rPr>
                        <a:t>Net 12-Month Value</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GB" sz="1100">
                          <a:solidFill>
                            <a:srgbClr val="1F1F1F"/>
                          </a:solidFill>
                        </a:rPr>
                        <a:t>12-Month ROI</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r>
              <a:tr h="520550">
                <a:tc>
                  <a:txBody>
                    <a:bodyPr/>
                    <a:lstStyle/>
                    <a:p>
                      <a:pPr indent="0" lvl="0" marL="0" rtl="0" algn="l">
                        <a:lnSpc>
                          <a:spcPct val="115000"/>
                        </a:lnSpc>
                        <a:spcBef>
                          <a:spcPts val="0"/>
                        </a:spcBef>
                        <a:spcAft>
                          <a:spcPts val="0"/>
                        </a:spcAft>
                        <a:buNone/>
                      </a:pPr>
                      <a:r>
                        <a:rPr b="1" lang="en-GB" sz="1100">
                          <a:solidFill>
                            <a:srgbClr val="1F1F1F"/>
                          </a:solidFill>
                        </a:rPr>
                        <a:t>OPP-01</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Automated Status Checks</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£18,800.00</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£27,926.80</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sz="1100">
                          <a:solidFill>
                            <a:srgbClr val="1F1F1F"/>
                          </a:solidFill>
                        </a:rPr>
                        <a:t>+£9,126.80</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48.55%</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340725">
                <a:tc>
                  <a:txBody>
                    <a:bodyPr/>
                    <a:lstStyle/>
                    <a:p>
                      <a:pPr indent="0" lvl="0" marL="0" rtl="0" algn="l">
                        <a:lnSpc>
                          <a:spcPct val="115000"/>
                        </a:lnSpc>
                        <a:spcBef>
                          <a:spcPts val="0"/>
                        </a:spcBef>
                        <a:spcAft>
                          <a:spcPts val="0"/>
                        </a:spcAft>
                        <a:buNone/>
                      </a:pPr>
                      <a:r>
                        <a:rPr b="1" lang="en-GB" sz="1100">
                          <a:solidFill>
                            <a:srgbClr val="1F1F1F"/>
                          </a:solidFill>
                        </a:rPr>
                        <a:t>OPP-03</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End-of-Month Analytics</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£9,440.00</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£3,519.12</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sz="1100">
                          <a:solidFill>
                            <a:srgbClr val="1F1F1F"/>
                          </a:solidFill>
                        </a:rPr>
                        <a:t>-£5,920.88</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-62.72%</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340725">
                <a:tc>
                  <a:txBody>
                    <a:bodyPr/>
                    <a:lstStyle/>
                    <a:p>
                      <a:pPr indent="0" lvl="0" marL="0" rtl="0" algn="l">
                        <a:lnSpc>
                          <a:spcPct val="115000"/>
                        </a:lnSpc>
                        <a:spcBef>
                          <a:spcPts val="0"/>
                        </a:spcBef>
                        <a:spcAft>
                          <a:spcPts val="0"/>
                        </a:spcAft>
                        <a:buNone/>
                      </a:pPr>
                      <a:r>
                        <a:rPr b="1" lang="en-GB" sz="1100">
                          <a:solidFill>
                            <a:srgbClr val="1F1F1F"/>
                          </a:solidFill>
                        </a:rPr>
                        <a:t>OPP-05</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Follow-Up Scheduling</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£14,080.00</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£35,310.17</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sz="1100">
                          <a:solidFill>
                            <a:srgbClr val="1F1F1F"/>
                          </a:solidFill>
                        </a:rPr>
                        <a:t>+£21,230.17</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150.78%</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530000">
                <a:tc>
                  <a:txBody>
                    <a:bodyPr/>
                    <a:lstStyle/>
                    <a:p>
                      <a:pPr indent="0" lvl="0" marL="0" rtl="0" algn="l">
                        <a:lnSpc>
                          <a:spcPct val="115000"/>
                        </a:lnSpc>
                        <a:spcBef>
                          <a:spcPts val="0"/>
                        </a:spcBef>
                        <a:spcAft>
                          <a:spcPts val="0"/>
                        </a:spcAft>
                        <a:buNone/>
                      </a:pPr>
                      <a:r>
                        <a:rPr b="1" lang="en-GB" sz="1100">
                          <a:solidFill>
                            <a:srgbClr val="1F1F1F"/>
                          </a:solidFill>
                        </a:rPr>
                        <a:t>TOTALS</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sz="1100">
                          <a:solidFill>
                            <a:srgbClr val="1F1F1F"/>
                          </a:solidFill>
                        </a:rPr>
                        <a:t>Phase 1 Combined Bundle</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sz="1100">
                          <a:solidFill>
                            <a:srgbClr val="1F1F1F"/>
                          </a:solidFill>
                        </a:rPr>
                        <a:t>£42,320.00</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sz="1100">
                          <a:solidFill>
                            <a:srgbClr val="1F1F1F"/>
                          </a:solidFill>
                        </a:rPr>
                        <a:t>£66,756.09</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sz="1100">
                          <a:solidFill>
                            <a:srgbClr val="1F1F1F"/>
                          </a:solidFill>
                        </a:rPr>
                        <a:t>+£24,436.09</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sz="1100">
                          <a:solidFill>
                            <a:srgbClr val="1F1F1F"/>
                          </a:solidFill>
                        </a:rPr>
                        <a:t>57.74%</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8" name="Shape 128"/>
        <p:cNvGrpSpPr/>
        <p:nvPr/>
      </p:nvGrpSpPr>
      <p:grpSpPr>
        <a:xfrm>
          <a:off x="0" y="0"/>
          <a:ext cx="0" cy="0"/>
          <a:chOff x="0" y="0"/>
          <a:chExt cx="0" cy="0"/>
        </a:xfrm>
      </p:grpSpPr>
      <p:sp>
        <p:nvSpPr>
          <p:cNvPr id="129" name="Google Shape;129;p18"/>
          <p:cNvSpPr/>
          <p:nvPr/>
        </p:nvSpPr>
        <p:spPr>
          <a:xfrm>
            <a:off x="0" y="0"/>
            <a:ext cx="9144000" cy="762000"/>
          </a:xfrm>
          <a:prstGeom prst="rect">
            <a:avLst/>
          </a:prstGeom>
          <a:solidFill>
            <a:srgbClr val="1C1E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8"/>
          <p:cNvSpPr txBox="1"/>
          <p:nvPr/>
        </p:nvSpPr>
        <p:spPr>
          <a:xfrm>
            <a:off x="381000" y="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400">
                <a:solidFill>
                  <a:srgbClr val="FFFFFF"/>
                </a:solidFill>
                <a:latin typeface="Roboto"/>
                <a:ea typeface="Roboto"/>
                <a:cs typeface="Roboto"/>
                <a:sym typeface="Roboto"/>
              </a:rPr>
              <a:t>Scope and exclusions</a:t>
            </a:r>
            <a:endParaRPr b="1" sz="2400">
              <a:solidFill>
                <a:srgbClr val="FFFFFF"/>
              </a:solidFill>
              <a:latin typeface="Roboto"/>
              <a:ea typeface="Roboto"/>
              <a:cs typeface="Roboto"/>
              <a:sym typeface="Roboto"/>
            </a:endParaRPr>
          </a:p>
        </p:txBody>
      </p:sp>
      <p:sp>
        <p:nvSpPr>
          <p:cNvPr id="131" name="Google Shape;131;p18"/>
          <p:cNvSpPr/>
          <p:nvPr/>
        </p:nvSpPr>
        <p:spPr>
          <a:xfrm>
            <a:off x="381000" y="4572000"/>
            <a:ext cx="8382000" cy="19200"/>
          </a:xfrm>
          <a:prstGeom prst="rect">
            <a:avLst/>
          </a:prstGeom>
          <a:solidFill>
            <a:srgbClr val="E9EC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8"/>
          <p:cNvSpPr txBox="1"/>
          <p:nvPr/>
        </p:nvSpPr>
        <p:spPr>
          <a:xfrm>
            <a:off x="381000" y="4667250"/>
            <a:ext cx="8382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000">
                <a:solidFill>
                  <a:srgbClr val="6C757D"/>
                </a:solidFill>
                <a:latin typeface="Roboto"/>
                <a:ea typeface="Roboto"/>
                <a:cs typeface="Roboto"/>
                <a:sym typeface="Roboto"/>
              </a:rPr>
              <a:t>Smart Recovery Initiative - Discovery Package Output</a:t>
            </a:r>
            <a:endParaRPr sz="1000">
              <a:solidFill>
                <a:srgbClr val="6C757D"/>
              </a:solidFill>
              <a:latin typeface="Roboto"/>
              <a:ea typeface="Roboto"/>
              <a:cs typeface="Roboto"/>
              <a:sym typeface="Roboto"/>
            </a:endParaRPr>
          </a:p>
        </p:txBody>
      </p:sp>
      <p:grpSp>
        <p:nvGrpSpPr>
          <p:cNvPr id="133" name="Google Shape;133;p18"/>
          <p:cNvGrpSpPr/>
          <p:nvPr/>
        </p:nvGrpSpPr>
        <p:grpSpPr>
          <a:xfrm>
            <a:off x="381000" y="857250"/>
            <a:ext cx="8382150" cy="2857500"/>
            <a:chOff x="381000" y="857250"/>
            <a:chExt cx="8382150" cy="2857500"/>
          </a:xfrm>
        </p:grpSpPr>
        <p:sp>
          <p:nvSpPr>
            <p:cNvPr id="134" name="Google Shape;134;p18"/>
            <p:cNvSpPr/>
            <p:nvPr/>
          </p:nvSpPr>
          <p:spPr>
            <a:xfrm>
              <a:off x="381000" y="857250"/>
              <a:ext cx="8382000" cy="285900"/>
            </a:xfrm>
            <a:prstGeom prst="roundRect">
              <a:avLst>
                <a:gd fmla="val 13333" name="adj"/>
              </a:avLst>
            </a:prstGeom>
            <a:solidFill>
              <a:srgbClr val="E9EC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8"/>
            <p:cNvSpPr txBox="1"/>
            <p:nvPr/>
          </p:nvSpPr>
          <p:spPr>
            <a:xfrm>
              <a:off x="476250" y="857250"/>
              <a:ext cx="8191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200">
                  <a:solidFill>
                    <a:srgbClr val="1C1E21"/>
                  </a:solidFill>
                  <a:latin typeface="Roboto"/>
                  <a:ea typeface="Roboto"/>
                  <a:cs typeface="Roboto"/>
                  <a:sym typeface="Roboto"/>
                </a:rPr>
                <a:t>IN-SCOPE CAPABILITIES (PHASE 1 FUNDING)</a:t>
              </a:r>
              <a:endParaRPr b="1" sz="1200">
                <a:solidFill>
                  <a:srgbClr val="1C1E21"/>
                </a:solidFill>
                <a:latin typeface="Roboto"/>
                <a:ea typeface="Roboto"/>
                <a:cs typeface="Roboto"/>
                <a:sym typeface="Roboto"/>
              </a:endParaRPr>
            </a:p>
          </p:txBody>
        </p:sp>
        <p:grpSp>
          <p:nvGrpSpPr>
            <p:cNvPr id="136" name="Google Shape;136;p18"/>
            <p:cNvGrpSpPr/>
            <p:nvPr/>
          </p:nvGrpSpPr>
          <p:grpSpPr>
            <a:xfrm>
              <a:off x="381000" y="1238250"/>
              <a:ext cx="4095900" cy="952500"/>
              <a:chOff x="381000" y="1238250"/>
              <a:chExt cx="4095900" cy="952500"/>
            </a:xfrm>
          </p:grpSpPr>
          <p:sp>
            <p:nvSpPr>
              <p:cNvPr id="137" name="Google Shape;137;p18"/>
              <p:cNvSpPr/>
              <p:nvPr/>
            </p:nvSpPr>
            <p:spPr>
              <a:xfrm>
                <a:off x="381000" y="1238250"/>
                <a:ext cx="4095900" cy="952500"/>
              </a:xfrm>
              <a:prstGeom prst="roundRect">
                <a:avLst>
                  <a:gd fmla="val 8000" name="adj"/>
                </a:avLst>
              </a:prstGeom>
              <a:solidFill>
                <a:srgbClr val="F8F9FA"/>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8"/>
              <p:cNvSpPr txBox="1"/>
              <p:nvPr/>
            </p:nvSpPr>
            <p:spPr>
              <a:xfrm>
                <a:off x="523875" y="1238250"/>
                <a:ext cx="3810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0056B3"/>
                    </a:solidFill>
                    <a:latin typeface="Roboto"/>
                    <a:ea typeface="Roboto"/>
                    <a:cs typeface="Roboto"/>
                    <a:sym typeface="Roboto"/>
                  </a:rPr>
                  <a:t>Identity Verification (MFA Login Gate)</a:t>
                </a:r>
                <a:endParaRPr b="1" sz="1100">
                  <a:solidFill>
                    <a:srgbClr val="0056B3"/>
                  </a:solidFill>
                  <a:latin typeface="Roboto"/>
                  <a:ea typeface="Roboto"/>
                  <a:cs typeface="Roboto"/>
                  <a:sym typeface="Roboto"/>
                </a:endParaRPr>
              </a:p>
              <a:p>
                <a:pPr indent="0" lvl="0" marL="0" rtl="0" algn="l">
                  <a:spcBef>
                    <a:spcPts val="300"/>
                  </a:spcBef>
                  <a:spcAft>
                    <a:spcPts val="0"/>
                  </a:spcAft>
                  <a:buNone/>
                </a:pPr>
                <a:r>
                  <a:rPr b="0" lang="en-GB" sz="1000">
                    <a:solidFill>
                      <a:srgbClr val="495057"/>
                    </a:solidFill>
                    <a:latin typeface="Roboto"/>
                    <a:ea typeface="Roboto"/>
                    <a:cs typeface="Roboto"/>
                    <a:sym typeface="Roboto"/>
                  </a:rPr>
                  <a:t>Full MFA matching customer records. </a:t>
                </a:r>
                <a:r>
                  <a:rPr b="0" i="1" lang="en-GB" sz="1000">
                    <a:solidFill>
                      <a:srgbClr val="DC3545"/>
                    </a:solidFill>
                    <a:latin typeface="Roboto"/>
                    <a:ea typeface="Roboto"/>
                    <a:cs typeface="Roboto"/>
                    <a:sym typeface="Roboto"/>
                  </a:rPr>
                  <a:t>FCA Guardrail:</a:t>
                </a:r>
                <a:r>
                  <a:rPr b="0" lang="en-GB" sz="1000">
                    <a:solidFill>
                      <a:srgbClr val="495057"/>
                    </a:solidFill>
                    <a:latin typeface="Roboto"/>
                    <a:ea typeface="Roboto"/>
                    <a:cs typeface="Roboto"/>
                    <a:sym typeface="Roboto"/>
                  </a:rPr>
                  <a:t> 3 failed attempts triggers lock and proactive outreach.</a:t>
                </a:r>
                <a:endParaRPr b="0" sz="1000">
                  <a:solidFill>
                    <a:srgbClr val="495057"/>
                  </a:solidFill>
                  <a:latin typeface="Roboto"/>
                  <a:ea typeface="Roboto"/>
                  <a:cs typeface="Roboto"/>
                  <a:sym typeface="Roboto"/>
                </a:endParaRPr>
              </a:p>
            </p:txBody>
          </p:sp>
        </p:grpSp>
        <p:grpSp>
          <p:nvGrpSpPr>
            <p:cNvPr id="139" name="Google Shape;139;p18"/>
            <p:cNvGrpSpPr/>
            <p:nvPr/>
          </p:nvGrpSpPr>
          <p:grpSpPr>
            <a:xfrm>
              <a:off x="4667250" y="1238250"/>
              <a:ext cx="4095900" cy="952500"/>
              <a:chOff x="4667250" y="1238250"/>
              <a:chExt cx="4095900" cy="952500"/>
            </a:xfrm>
          </p:grpSpPr>
          <p:sp>
            <p:nvSpPr>
              <p:cNvPr id="140" name="Google Shape;140;p18"/>
              <p:cNvSpPr/>
              <p:nvPr/>
            </p:nvSpPr>
            <p:spPr>
              <a:xfrm>
                <a:off x="4667250" y="1238250"/>
                <a:ext cx="4095900" cy="952500"/>
              </a:xfrm>
              <a:prstGeom prst="roundRect">
                <a:avLst>
                  <a:gd fmla="val 8000" name="adj"/>
                </a:avLst>
              </a:prstGeom>
              <a:solidFill>
                <a:srgbClr val="F8F9FA"/>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8"/>
              <p:cNvSpPr txBox="1"/>
              <p:nvPr/>
            </p:nvSpPr>
            <p:spPr>
              <a:xfrm>
                <a:off x="4810125" y="1238250"/>
                <a:ext cx="3810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0056B3"/>
                    </a:solidFill>
                    <a:latin typeface="Roboto"/>
                    <a:ea typeface="Roboto"/>
                    <a:cs typeface="Roboto"/>
                    <a:sym typeface="Roboto"/>
                  </a:rPr>
                  <a:t>Account Summary Dashboard (OPP-01)</a:t>
                </a:r>
                <a:endParaRPr b="1" sz="1100">
                  <a:solidFill>
                    <a:srgbClr val="0056B3"/>
                  </a:solidFill>
                  <a:latin typeface="Roboto"/>
                  <a:ea typeface="Roboto"/>
                  <a:cs typeface="Roboto"/>
                  <a:sym typeface="Roboto"/>
                </a:endParaRPr>
              </a:p>
              <a:p>
                <a:pPr indent="0" lvl="0" marL="0" rtl="0" algn="l">
                  <a:spcBef>
                    <a:spcPts val="300"/>
                  </a:spcBef>
                  <a:spcAft>
                    <a:spcPts val="0"/>
                  </a:spcAft>
                  <a:buNone/>
                </a:pPr>
                <a:r>
                  <a:rPr b="0" lang="en-GB" sz="1000">
                    <a:solidFill>
                      <a:srgbClr val="495057"/>
                    </a:solidFill>
                    <a:latin typeface="Roboto"/>
                    <a:ea typeface="Roboto"/>
                    <a:cs typeface="Roboto"/>
                    <a:sym typeface="Roboto"/>
                  </a:rPr>
                  <a:t>Clean frontend interface for balances and outstanding money, deflecting routine agent inquiries.</a:t>
                </a:r>
                <a:endParaRPr b="0" sz="1000">
                  <a:solidFill>
                    <a:srgbClr val="495057"/>
                  </a:solidFill>
                  <a:latin typeface="Roboto"/>
                  <a:ea typeface="Roboto"/>
                  <a:cs typeface="Roboto"/>
                  <a:sym typeface="Roboto"/>
                </a:endParaRPr>
              </a:p>
            </p:txBody>
          </p:sp>
        </p:grpSp>
        <p:grpSp>
          <p:nvGrpSpPr>
            <p:cNvPr id="142" name="Google Shape;142;p18"/>
            <p:cNvGrpSpPr/>
            <p:nvPr/>
          </p:nvGrpSpPr>
          <p:grpSpPr>
            <a:xfrm>
              <a:off x="381000" y="2286000"/>
              <a:ext cx="4095900" cy="952500"/>
              <a:chOff x="381000" y="2286000"/>
              <a:chExt cx="4095900" cy="952500"/>
            </a:xfrm>
          </p:grpSpPr>
          <p:sp>
            <p:nvSpPr>
              <p:cNvPr id="143" name="Google Shape;143;p18"/>
              <p:cNvSpPr/>
              <p:nvPr/>
            </p:nvSpPr>
            <p:spPr>
              <a:xfrm>
                <a:off x="381000" y="2286000"/>
                <a:ext cx="4095900" cy="952500"/>
              </a:xfrm>
              <a:prstGeom prst="roundRect">
                <a:avLst>
                  <a:gd fmla="val 8000" name="adj"/>
                </a:avLst>
              </a:prstGeom>
              <a:solidFill>
                <a:srgbClr val="F8F9FA"/>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8"/>
              <p:cNvSpPr txBox="1"/>
              <p:nvPr/>
            </p:nvSpPr>
            <p:spPr>
              <a:xfrm>
                <a:off x="523875" y="2286000"/>
                <a:ext cx="3810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0056B3"/>
                    </a:solidFill>
                    <a:latin typeface="Roboto"/>
                    <a:ea typeface="Roboto"/>
                    <a:cs typeface="Roboto"/>
                    <a:sym typeface="Roboto"/>
                  </a:rPr>
                  <a:t>Promise to Pay Setup (OPP-05)</a:t>
                </a:r>
                <a:endParaRPr b="1" sz="1100">
                  <a:solidFill>
                    <a:srgbClr val="0056B3"/>
                  </a:solidFill>
                  <a:latin typeface="Roboto"/>
                  <a:ea typeface="Roboto"/>
                  <a:cs typeface="Roboto"/>
                  <a:sym typeface="Roboto"/>
                </a:endParaRPr>
              </a:p>
              <a:p>
                <a:pPr indent="0" lvl="0" marL="0" rtl="0" algn="l">
                  <a:spcBef>
                    <a:spcPts val="300"/>
                  </a:spcBef>
                  <a:spcAft>
                    <a:spcPts val="0"/>
                  </a:spcAft>
                  <a:buNone/>
                </a:pPr>
                <a:r>
                  <a:rPr b="0" lang="en-GB" sz="1000">
                    <a:solidFill>
                      <a:srgbClr val="495057"/>
                    </a:solidFill>
                    <a:latin typeface="Roboto"/>
                    <a:ea typeface="Roboto"/>
                    <a:cs typeface="Roboto"/>
                    <a:sym typeface="Roboto"/>
                  </a:rPr>
                  <a:t>Structured repayment portal. </a:t>
                </a:r>
                <a:r>
                  <a:rPr b="0" i="1" lang="en-GB" sz="1000">
                    <a:solidFill>
                      <a:srgbClr val="DC3545"/>
                    </a:solidFill>
                    <a:latin typeface="Roboto"/>
                    <a:ea typeface="Roboto"/>
                    <a:cs typeface="Roboto"/>
                    <a:sym typeface="Roboto"/>
                  </a:rPr>
                  <a:t>Affordability Guardrail:</a:t>
                </a:r>
                <a:r>
                  <a:rPr b="0" lang="en-GB" sz="1000">
                    <a:solidFill>
                      <a:srgbClr val="495057"/>
                    </a:solidFill>
                    <a:latin typeface="Roboto"/>
                    <a:ea typeface="Roboto"/>
                    <a:cs typeface="Roboto"/>
                    <a:sym typeface="Roboto"/>
                  </a:rPr>
                  <a:t> Instant agent escalation if repayment exceeds income.</a:t>
                </a:r>
                <a:endParaRPr b="0" sz="1000">
                  <a:solidFill>
                    <a:srgbClr val="495057"/>
                  </a:solidFill>
                  <a:latin typeface="Roboto"/>
                  <a:ea typeface="Roboto"/>
                  <a:cs typeface="Roboto"/>
                  <a:sym typeface="Roboto"/>
                </a:endParaRPr>
              </a:p>
            </p:txBody>
          </p:sp>
        </p:grpSp>
        <p:grpSp>
          <p:nvGrpSpPr>
            <p:cNvPr id="145" name="Google Shape;145;p18"/>
            <p:cNvGrpSpPr/>
            <p:nvPr/>
          </p:nvGrpSpPr>
          <p:grpSpPr>
            <a:xfrm>
              <a:off x="4667250" y="2286000"/>
              <a:ext cx="4095900" cy="952500"/>
              <a:chOff x="4667250" y="2286000"/>
              <a:chExt cx="4095900" cy="952500"/>
            </a:xfrm>
          </p:grpSpPr>
          <p:sp>
            <p:nvSpPr>
              <p:cNvPr id="146" name="Google Shape;146;p18"/>
              <p:cNvSpPr/>
              <p:nvPr/>
            </p:nvSpPr>
            <p:spPr>
              <a:xfrm>
                <a:off x="4667250" y="2286000"/>
                <a:ext cx="4095900" cy="952500"/>
              </a:xfrm>
              <a:prstGeom prst="roundRect">
                <a:avLst>
                  <a:gd fmla="val 8000" name="adj"/>
                </a:avLst>
              </a:prstGeom>
              <a:solidFill>
                <a:srgbClr val="F8F9FA"/>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8"/>
              <p:cNvSpPr txBox="1"/>
              <p:nvPr/>
            </p:nvSpPr>
            <p:spPr>
              <a:xfrm>
                <a:off x="4810125" y="2286000"/>
                <a:ext cx="3810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0056B3"/>
                    </a:solidFill>
                    <a:latin typeface="Roboto"/>
                    <a:ea typeface="Roboto"/>
                    <a:cs typeface="Roboto"/>
                    <a:sym typeface="Roboto"/>
                  </a:rPr>
                  <a:t>Automated Workflow Alerts (OPP-05)</a:t>
                </a:r>
                <a:endParaRPr b="1" sz="1100">
                  <a:solidFill>
                    <a:srgbClr val="0056B3"/>
                  </a:solidFill>
                  <a:latin typeface="Roboto"/>
                  <a:ea typeface="Roboto"/>
                  <a:cs typeface="Roboto"/>
                  <a:sym typeface="Roboto"/>
                </a:endParaRPr>
              </a:p>
              <a:p>
                <a:pPr indent="0" lvl="0" marL="0" rtl="0" algn="l">
                  <a:spcBef>
                    <a:spcPts val="300"/>
                  </a:spcBef>
                  <a:spcAft>
                    <a:spcPts val="0"/>
                  </a:spcAft>
                  <a:buNone/>
                </a:pPr>
                <a:r>
                  <a:rPr b="0" lang="en-GB" sz="1000">
                    <a:solidFill>
                      <a:srgbClr val="495057"/>
                    </a:solidFill>
                    <a:latin typeface="Roboto"/>
                    <a:ea typeface="Roboto"/>
                    <a:cs typeface="Roboto"/>
                    <a:sym typeface="Roboto"/>
                  </a:rPr>
                  <a:t>Backend triggers for missed deadlines, rescuing </a:t>
                </a:r>
                <a:r>
                  <a:rPr b="1" lang="en-GB" sz="1000">
                    <a:solidFill>
                      <a:srgbClr val="495057"/>
                    </a:solidFill>
                    <a:latin typeface="Roboto"/>
                    <a:ea typeface="Roboto"/>
                    <a:cs typeface="Roboto"/>
                    <a:sym typeface="Roboto"/>
                  </a:rPr>
                  <a:t>£10,617.37</a:t>
                </a:r>
                <a:r>
                  <a:rPr b="0" lang="en-GB" sz="1000">
                    <a:solidFill>
                      <a:srgbClr val="495057"/>
                    </a:solidFill>
                    <a:latin typeface="Roboto"/>
                    <a:ea typeface="Roboto"/>
                    <a:cs typeface="Roboto"/>
                    <a:sym typeface="Roboto"/>
                  </a:rPr>
                  <a:t> in arrangement leakage.</a:t>
                </a:r>
                <a:endParaRPr b="0" sz="1000">
                  <a:solidFill>
                    <a:srgbClr val="495057"/>
                  </a:solidFill>
                  <a:latin typeface="Roboto"/>
                  <a:ea typeface="Roboto"/>
                  <a:cs typeface="Roboto"/>
                  <a:sym typeface="Roboto"/>
                </a:endParaRPr>
              </a:p>
            </p:txBody>
          </p:sp>
        </p:grpSp>
        <p:grpSp>
          <p:nvGrpSpPr>
            <p:cNvPr id="148" name="Google Shape;148;p18"/>
            <p:cNvGrpSpPr/>
            <p:nvPr/>
          </p:nvGrpSpPr>
          <p:grpSpPr>
            <a:xfrm>
              <a:off x="381000" y="3333750"/>
              <a:ext cx="8382000" cy="381000"/>
              <a:chOff x="381000" y="3333750"/>
              <a:chExt cx="8382000" cy="381000"/>
            </a:xfrm>
          </p:grpSpPr>
          <p:sp>
            <p:nvSpPr>
              <p:cNvPr id="149" name="Google Shape;149;p18"/>
              <p:cNvSpPr/>
              <p:nvPr/>
            </p:nvSpPr>
            <p:spPr>
              <a:xfrm>
                <a:off x="381000" y="3333750"/>
                <a:ext cx="8382000" cy="381000"/>
              </a:xfrm>
              <a:prstGeom prst="roundRect">
                <a:avLst>
                  <a:gd fmla="val 20000" name="adj"/>
                </a:avLst>
              </a:prstGeom>
              <a:solidFill>
                <a:srgbClr val="F8F9FA"/>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8"/>
              <p:cNvSpPr txBox="1"/>
              <p:nvPr/>
            </p:nvSpPr>
            <p:spPr>
              <a:xfrm>
                <a:off x="523875" y="3333750"/>
                <a:ext cx="8096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000">
                    <a:solidFill>
                      <a:srgbClr val="0056B3"/>
                    </a:solidFill>
                    <a:latin typeface="Roboto"/>
                    <a:ea typeface="Roboto"/>
                    <a:cs typeface="Roboto"/>
                    <a:sym typeface="Roboto"/>
                  </a:rPr>
                  <a:t>Data Auditing &amp; Reporting (OPP-03):</a:t>
                </a:r>
                <a:r>
                  <a:rPr lang="en-GB" sz="1000">
                    <a:solidFill>
                      <a:srgbClr val="495057"/>
                    </a:solidFill>
                    <a:latin typeface="Roboto"/>
                    <a:ea typeface="Roboto"/>
                    <a:cs typeface="Roboto"/>
                    <a:sym typeface="Roboto"/>
                  </a:rPr>
                  <a:t> Immutable activity logs for FCA compliance; absorbs a net yield of </a:t>
                </a:r>
                <a:r>
                  <a:rPr b="1" lang="en-GB" sz="1000">
                    <a:solidFill>
                      <a:srgbClr val="DC3545"/>
                    </a:solidFill>
                    <a:latin typeface="Roboto"/>
                    <a:ea typeface="Roboto"/>
                    <a:cs typeface="Roboto"/>
                    <a:sym typeface="Roboto"/>
                  </a:rPr>
                  <a:t>-£5,920.88</a:t>
                </a:r>
                <a:r>
                  <a:rPr lang="en-GB" sz="1000">
                    <a:solidFill>
                      <a:srgbClr val="495057"/>
                    </a:solidFill>
                    <a:latin typeface="Roboto"/>
                    <a:ea typeface="Roboto"/>
                    <a:cs typeface="Roboto"/>
                    <a:sym typeface="Roboto"/>
                  </a:rPr>
                  <a:t>.</a:t>
                </a:r>
                <a:endParaRPr sz="1000">
                  <a:solidFill>
                    <a:srgbClr val="495057"/>
                  </a:solidFill>
                  <a:latin typeface="Roboto"/>
                  <a:ea typeface="Roboto"/>
                  <a:cs typeface="Roboto"/>
                  <a:sym typeface="Roboto"/>
                </a:endParaRPr>
              </a:p>
            </p:txBody>
          </p:sp>
        </p:grpSp>
      </p:grpSp>
      <p:grpSp>
        <p:nvGrpSpPr>
          <p:cNvPr id="151" name="Google Shape;151;p18"/>
          <p:cNvGrpSpPr/>
          <p:nvPr/>
        </p:nvGrpSpPr>
        <p:grpSpPr>
          <a:xfrm>
            <a:off x="381000" y="3857625"/>
            <a:ext cx="8382000" cy="714450"/>
            <a:chOff x="381000" y="3857625"/>
            <a:chExt cx="8382000" cy="714450"/>
          </a:xfrm>
        </p:grpSpPr>
        <p:sp>
          <p:nvSpPr>
            <p:cNvPr id="152" name="Google Shape;152;p18"/>
            <p:cNvSpPr/>
            <p:nvPr/>
          </p:nvSpPr>
          <p:spPr>
            <a:xfrm>
              <a:off x="381000" y="3857625"/>
              <a:ext cx="8382000" cy="285900"/>
            </a:xfrm>
            <a:prstGeom prst="roundRect">
              <a:avLst>
                <a:gd fmla="val 13333" name="adj"/>
              </a:avLst>
            </a:prstGeom>
            <a:solidFill>
              <a:srgbClr val="FFF5F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8"/>
            <p:cNvSpPr txBox="1"/>
            <p:nvPr/>
          </p:nvSpPr>
          <p:spPr>
            <a:xfrm>
              <a:off x="476250" y="3857625"/>
              <a:ext cx="8191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C53030"/>
                  </a:solidFill>
                  <a:latin typeface="Roboto"/>
                  <a:ea typeface="Roboto"/>
                  <a:cs typeface="Roboto"/>
                  <a:sym typeface="Roboto"/>
                </a:rPr>
                <a:t>🚫 EXCLUDED / DEFERRED CAPABILITIES (PHASE 2)</a:t>
              </a:r>
              <a:endParaRPr b="1" sz="1100">
                <a:solidFill>
                  <a:srgbClr val="C53030"/>
                </a:solidFill>
                <a:latin typeface="Roboto"/>
                <a:ea typeface="Roboto"/>
                <a:cs typeface="Roboto"/>
                <a:sym typeface="Roboto"/>
              </a:endParaRPr>
            </a:p>
          </p:txBody>
        </p:sp>
        <p:sp>
          <p:nvSpPr>
            <p:cNvPr id="154" name="Google Shape;154;p18"/>
            <p:cNvSpPr txBox="1"/>
            <p:nvPr/>
          </p:nvSpPr>
          <p:spPr>
            <a:xfrm>
              <a:off x="381000" y="4143375"/>
              <a:ext cx="8382000" cy="428700"/>
            </a:xfrm>
            <a:prstGeom prst="rect">
              <a:avLst/>
            </a:prstGeom>
            <a:noFill/>
            <a:ln>
              <a:noFill/>
            </a:ln>
          </p:spPr>
          <p:txBody>
            <a:bodyPr anchorCtr="0" anchor="ctr" bIns="0" lIns="95250" spcFirstLastPara="1" rIns="0" wrap="square" tIns="0">
              <a:noAutofit/>
            </a:bodyPr>
            <a:lstStyle/>
            <a:p>
              <a:pPr indent="0" lvl="0" marL="0" rtl="0" algn="l">
                <a:spcBef>
                  <a:spcPts val="0"/>
                </a:spcBef>
                <a:spcAft>
                  <a:spcPts val="0"/>
                </a:spcAft>
                <a:buNone/>
              </a:pPr>
              <a:r>
                <a:rPr b="1" lang="en-GB" sz="900">
                  <a:solidFill>
                    <a:srgbClr val="495057"/>
                  </a:solidFill>
                  <a:latin typeface="Roboto"/>
                  <a:ea typeface="Roboto"/>
                  <a:cs typeface="Roboto"/>
                  <a:sym typeface="Roboto"/>
                </a:rPr>
                <a:t>Live API Write-Paths (OPP-04):</a:t>
              </a:r>
              <a:r>
                <a:rPr lang="en-GB" sz="900">
                  <a:solidFill>
                    <a:srgbClr val="495057"/>
                  </a:solidFill>
                  <a:latin typeface="Roboto"/>
                  <a:ea typeface="Roboto"/>
                  <a:cs typeface="Roboto"/>
                  <a:sym typeface="Roboto"/>
                </a:rPr>
                <a:t> Batched via read-only SFTP to protect core banking system.</a:t>
              </a:r>
              <a:endParaRPr sz="900">
                <a:solidFill>
                  <a:srgbClr val="495057"/>
                </a:solidFill>
                <a:latin typeface="Roboto"/>
                <a:ea typeface="Roboto"/>
                <a:cs typeface="Roboto"/>
                <a:sym typeface="Roboto"/>
              </a:endParaRPr>
            </a:p>
            <a:p>
              <a:pPr indent="0" lvl="0" marL="0" rtl="0" algn="l">
                <a:spcBef>
                  <a:spcPts val="150"/>
                </a:spcBef>
                <a:spcAft>
                  <a:spcPts val="0"/>
                </a:spcAft>
                <a:buNone/>
              </a:pPr>
              <a:r>
                <a:rPr b="1" lang="en-GB" sz="900">
                  <a:solidFill>
                    <a:srgbClr val="495057"/>
                  </a:solidFill>
                  <a:latin typeface="Roboto"/>
                  <a:ea typeface="Roboto"/>
                  <a:cs typeface="Roboto"/>
                  <a:sym typeface="Roboto"/>
                </a:rPr>
                <a:t>Automated Ingestion (OPP-02) / Advanced Routing:</a:t>
              </a:r>
              <a:r>
                <a:rPr lang="en-GB" sz="900">
                  <a:solidFill>
                    <a:srgbClr val="495057"/>
                  </a:solidFill>
                  <a:latin typeface="Roboto"/>
                  <a:ea typeface="Roboto"/>
                  <a:cs typeface="Roboto"/>
                  <a:sym typeface="Roboto"/>
                </a:rPr>
                <a:t> Deferred for stability; vulnerable users stay with human agents.</a:t>
              </a:r>
              <a:endParaRPr sz="900">
                <a:solidFill>
                  <a:srgbClr val="495057"/>
                </a:solidFill>
                <a:latin typeface="Roboto"/>
                <a:ea typeface="Roboto"/>
                <a:cs typeface="Roboto"/>
                <a:sym typeface="Robo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8" name="Shape 158"/>
        <p:cNvGrpSpPr/>
        <p:nvPr/>
      </p:nvGrpSpPr>
      <p:grpSpPr>
        <a:xfrm>
          <a:off x="0" y="0"/>
          <a:ext cx="0" cy="0"/>
          <a:chOff x="0" y="0"/>
          <a:chExt cx="0" cy="0"/>
        </a:xfrm>
      </p:grpSpPr>
      <p:sp>
        <p:nvSpPr>
          <p:cNvPr id="159" name="Google Shape;159;p19"/>
          <p:cNvSpPr/>
          <p:nvPr/>
        </p:nvSpPr>
        <p:spPr>
          <a:xfrm>
            <a:off x="0" y="0"/>
            <a:ext cx="9144000" cy="762000"/>
          </a:xfrm>
          <a:prstGeom prst="rect">
            <a:avLst/>
          </a:prstGeom>
          <a:solidFill>
            <a:srgbClr val="1C1E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9"/>
          <p:cNvSpPr txBox="1"/>
          <p:nvPr/>
        </p:nvSpPr>
        <p:spPr>
          <a:xfrm>
            <a:off x="381000" y="0"/>
            <a:ext cx="8382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2400">
                <a:solidFill>
                  <a:srgbClr val="FFFFFF"/>
                </a:solidFill>
                <a:latin typeface="Roboto"/>
                <a:ea typeface="Roboto"/>
                <a:cs typeface="Roboto"/>
                <a:sym typeface="Roboto"/>
              </a:rPr>
              <a:t>Backlog and Prototype</a:t>
            </a:r>
            <a:endParaRPr b="1" sz="2400">
              <a:solidFill>
                <a:srgbClr val="FFFFFF"/>
              </a:solidFill>
              <a:latin typeface="Roboto"/>
              <a:ea typeface="Roboto"/>
              <a:cs typeface="Roboto"/>
              <a:sym typeface="Roboto"/>
            </a:endParaRPr>
          </a:p>
        </p:txBody>
      </p:sp>
      <p:sp>
        <p:nvSpPr>
          <p:cNvPr id="161" name="Google Shape;161;p19"/>
          <p:cNvSpPr/>
          <p:nvPr/>
        </p:nvSpPr>
        <p:spPr>
          <a:xfrm>
            <a:off x="381000" y="4572000"/>
            <a:ext cx="8382000" cy="19200"/>
          </a:xfrm>
          <a:prstGeom prst="rect">
            <a:avLst/>
          </a:prstGeom>
          <a:solidFill>
            <a:srgbClr val="DEE2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9"/>
          <p:cNvSpPr txBox="1"/>
          <p:nvPr/>
        </p:nvSpPr>
        <p:spPr>
          <a:xfrm>
            <a:off x="381000" y="4667250"/>
            <a:ext cx="8382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GB" sz="1000">
                <a:solidFill>
                  <a:srgbClr val="6C757D"/>
                </a:solidFill>
                <a:latin typeface="Roboto"/>
                <a:ea typeface="Roboto"/>
                <a:cs typeface="Roboto"/>
                <a:sym typeface="Roboto"/>
              </a:rPr>
              <a:t>Smart Recovery Initiative - Discovery Package Output</a:t>
            </a:r>
            <a:endParaRPr b="0" sz="1000">
              <a:solidFill>
                <a:srgbClr val="6C757D"/>
              </a:solidFill>
              <a:latin typeface="Roboto"/>
              <a:ea typeface="Roboto"/>
              <a:cs typeface="Roboto"/>
              <a:sym typeface="Roboto"/>
            </a:endParaRPr>
          </a:p>
        </p:txBody>
      </p:sp>
      <p:grpSp>
        <p:nvGrpSpPr>
          <p:cNvPr id="163" name="Google Shape;163;p19"/>
          <p:cNvGrpSpPr/>
          <p:nvPr/>
        </p:nvGrpSpPr>
        <p:grpSpPr>
          <a:xfrm>
            <a:off x="381000" y="1047750"/>
            <a:ext cx="4381500" cy="3238500"/>
            <a:chOff x="381000" y="1047750"/>
            <a:chExt cx="4381500" cy="3238500"/>
          </a:xfrm>
        </p:grpSpPr>
        <p:pic>
          <p:nvPicPr>
            <p:cNvPr id="164" name="Google Shape;164;p19"/>
            <p:cNvPicPr preferRelativeResize="0"/>
            <p:nvPr/>
          </p:nvPicPr>
          <p:blipFill rotWithShape="1">
            <a:blip r:embed="rId4">
              <a:alphaModFix/>
            </a:blip>
            <a:srcRect b="4212" l="0" r="0" t="4221"/>
            <a:stretch/>
          </p:blipFill>
          <p:spPr>
            <a:xfrm>
              <a:off x="381000" y="1047750"/>
              <a:ext cx="4381500" cy="3238500"/>
            </a:xfrm>
            <a:prstGeom prst="roundRect">
              <a:avLst>
                <a:gd fmla="val 3529" name="adj"/>
              </a:avLst>
            </a:prstGeom>
            <a:noFill/>
            <a:ln>
              <a:noFill/>
            </a:ln>
          </p:spPr>
        </p:pic>
        <p:sp>
          <p:nvSpPr>
            <p:cNvPr id="165" name="Google Shape;165;p19"/>
            <p:cNvSpPr/>
            <p:nvPr/>
          </p:nvSpPr>
          <p:spPr>
            <a:xfrm>
              <a:off x="381000" y="1047750"/>
              <a:ext cx="4381500" cy="3238500"/>
            </a:xfrm>
            <a:prstGeom prst="roundRect">
              <a:avLst>
                <a:gd fmla="val 3529" name="adj"/>
              </a:avLst>
            </a:prstGeom>
            <a:solidFill>
              <a:srgbClr val="000000">
                <a:alpha val="0"/>
              </a:srgbClr>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66" name="Google Shape;166;p19"/>
          <p:cNvSpPr txBox="1"/>
          <p:nvPr/>
        </p:nvSpPr>
        <p:spPr>
          <a:xfrm>
            <a:off x="5143500" y="1047750"/>
            <a:ext cx="3619500" cy="326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GB" sz="1300">
                <a:solidFill>
                  <a:srgbClr val="0056B3"/>
                </a:solidFill>
                <a:latin typeface="Roboto"/>
                <a:ea typeface="Roboto"/>
                <a:cs typeface="Roboto"/>
                <a:sym typeface="Roboto"/>
              </a:rPr>
              <a:t>De-Risked User Experience</a:t>
            </a:r>
            <a:endParaRPr b="1" sz="1300">
              <a:solidFill>
                <a:srgbClr val="0056B3"/>
              </a:solidFill>
              <a:latin typeface="Roboto"/>
              <a:ea typeface="Roboto"/>
              <a:cs typeface="Roboto"/>
              <a:sym typeface="Roboto"/>
            </a:endParaRPr>
          </a:p>
          <a:p>
            <a:pPr indent="0" lvl="0" marL="0" rtl="0" algn="l">
              <a:spcBef>
                <a:spcPts val="300"/>
              </a:spcBef>
              <a:spcAft>
                <a:spcPts val="0"/>
              </a:spcAft>
              <a:buNone/>
            </a:pPr>
            <a:r>
              <a:rPr b="0" lang="en-GB" sz="1100">
                <a:solidFill>
                  <a:srgbClr val="495057"/>
                </a:solidFill>
                <a:latin typeface="Roboto"/>
                <a:ea typeface="Roboto"/>
                <a:cs typeface="Roboto"/>
                <a:sym typeface="Roboto"/>
              </a:rPr>
              <a:t>An interactive HTML/CSS prototype built to map core journeys, translating user stories into scannable layouts for </a:t>
            </a:r>
            <a:r>
              <a:rPr b="1" lang="en-GB" sz="1100">
                <a:solidFill>
                  <a:srgbClr val="495057"/>
                </a:solidFill>
                <a:latin typeface="Roboto"/>
                <a:ea typeface="Roboto"/>
                <a:cs typeface="Roboto"/>
                <a:sym typeface="Roboto"/>
              </a:rPr>
              <a:t>verification</a:t>
            </a:r>
            <a:r>
              <a:rPr lang="en-GB" sz="1100">
                <a:solidFill>
                  <a:srgbClr val="495057"/>
                </a:solidFill>
                <a:latin typeface="Roboto"/>
                <a:ea typeface="Roboto"/>
                <a:cs typeface="Roboto"/>
                <a:sym typeface="Roboto"/>
              </a:rPr>
              <a:t>, the</a:t>
            </a:r>
            <a:r>
              <a:rPr b="0" lang="en-GB" sz="1100">
                <a:solidFill>
                  <a:srgbClr val="495057"/>
                </a:solidFill>
                <a:latin typeface="Roboto"/>
                <a:ea typeface="Roboto"/>
                <a:cs typeface="Roboto"/>
                <a:sym typeface="Roboto"/>
              </a:rPr>
              <a:t> </a:t>
            </a:r>
            <a:r>
              <a:rPr b="1" lang="en-GB" sz="1100">
                <a:solidFill>
                  <a:srgbClr val="495057"/>
                </a:solidFill>
                <a:latin typeface="Roboto"/>
                <a:ea typeface="Roboto"/>
                <a:cs typeface="Roboto"/>
                <a:sym typeface="Roboto"/>
              </a:rPr>
              <a:t>Account Dashboard</a:t>
            </a:r>
            <a:r>
              <a:rPr b="0" lang="en-GB" sz="1100">
                <a:solidFill>
                  <a:srgbClr val="495057"/>
                </a:solidFill>
                <a:latin typeface="Roboto"/>
                <a:ea typeface="Roboto"/>
                <a:cs typeface="Roboto"/>
                <a:sym typeface="Roboto"/>
              </a:rPr>
              <a:t> and </a:t>
            </a:r>
            <a:r>
              <a:rPr b="1" lang="en-GB" sz="1100">
                <a:solidFill>
                  <a:srgbClr val="495057"/>
                </a:solidFill>
                <a:latin typeface="Roboto"/>
                <a:ea typeface="Roboto"/>
                <a:cs typeface="Roboto"/>
                <a:sym typeface="Roboto"/>
              </a:rPr>
              <a:t>3-Month Plan Calculator</a:t>
            </a:r>
            <a:r>
              <a:rPr b="0" lang="en-GB" sz="1100">
                <a:solidFill>
                  <a:srgbClr val="495057"/>
                </a:solidFill>
                <a:latin typeface="Roboto"/>
                <a:ea typeface="Roboto"/>
                <a:cs typeface="Roboto"/>
                <a:sym typeface="Roboto"/>
              </a:rPr>
              <a:t>.</a:t>
            </a:r>
            <a:endParaRPr b="0" sz="1100">
              <a:solidFill>
                <a:srgbClr val="495057"/>
              </a:solidFill>
              <a:latin typeface="Roboto"/>
              <a:ea typeface="Roboto"/>
              <a:cs typeface="Roboto"/>
              <a:sym typeface="Roboto"/>
            </a:endParaRPr>
          </a:p>
          <a:p>
            <a:pPr indent="0" lvl="0" marL="0" rtl="0" algn="l">
              <a:spcBef>
                <a:spcPts val="1125"/>
              </a:spcBef>
              <a:spcAft>
                <a:spcPts val="0"/>
              </a:spcAft>
              <a:buNone/>
            </a:pPr>
            <a:r>
              <a:rPr b="1" lang="en-GB" sz="1300">
                <a:solidFill>
                  <a:srgbClr val="0056B3"/>
                </a:solidFill>
                <a:latin typeface="Roboto"/>
                <a:ea typeface="Roboto"/>
                <a:cs typeface="Roboto"/>
                <a:sym typeface="Roboto"/>
              </a:rPr>
              <a:t>Built-In Exception Safeguards</a:t>
            </a:r>
            <a:endParaRPr b="1" sz="1300">
              <a:solidFill>
                <a:srgbClr val="0056B3"/>
              </a:solidFill>
              <a:latin typeface="Roboto"/>
              <a:ea typeface="Roboto"/>
              <a:cs typeface="Roboto"/>
              <a:sym typeface="Roboto"/>
            </a:endParaRPr>
          </a:p>
          <a:p>
            <a:pPr indent="0" lvl="0" marL="0" rtl="0" algn="l">
              <a:spcBef>
                <a:spcPts val="300"/>
              </a:spcBef>
              <a:spcAft>
                <a:spcPts val="0"/>
              </a:spcAft>
              <a:buNone/>
            </a:pPr>
            <a:r>
              <a:rPr b="0" lang="en-GB" sz="1100">
                <a:solidFill>
                  <a:srgbClr val="495057"/>
                </a:solidFill>
                <a:latin typeface="Roboto"/>
                <a:ea typeface="Roboto"/>
                <a:cs typeface="Roboto"/>
                <a:sym typeface="Roboto"/>
              </a:rPr>
              <a:t>Interface demonstrates automated boundary controls mandated by strategy:</a:t>
            </a:r>
            <a:endParaRPr b="0" sz="1100">
              <a:solidFill>
                <a:srgbClr val="495057"/>
              </a:solidFill>
              <a:latin typeface="Roboto"/>
              <a:ea typeface="Roboto"/>
              <a:cs typeface="Roboto"/>
              <a:sym typeface="Roboto"/>
            </a:endParaRPr>
          </a:p>
          <a:p>
            <a:pPr indent="-298450" lvl="0" marL="457200" rtl="0" algn="l">
              <a:spcBef>
                <a:spcPts val="450"/>
              </a:spcBef>
              <a:spcAft>
                <a:spcPts val="0"/>
              </a:spcAft>
              <a:buClr>
                <a:srgbClr val="495057"/>
              </a:buClr>
              <a:buSzPts val="1100"/>
              <a:buFont typeface="Roboto"/>
              <a:buChar char="●"/>
            </a:pPr>
            <a:r>
              <a:rPr b="1" lang="en-GB" sz="1100">
                <a:solidFill>
                  <a:srgbClr val="495057"/>
                </a:solidFill>
                <a:latin typeface="Roboto"/>
                <a:ea typeface="Roboto"/>
                <a:cs typeface="Roboto"/>
                <a:sym typeface="Roboto"/>
              </a:rPr>
              <a:t>MFA Lockout:</a:t>
            </a:r>
            <a:r>
              <a:rPr lang="en-GB" sz="1100">
                <a:solidFill>
                  <a:srgbClr val="495057"/>
                </a:solidFill>
                <a:latin typeface="Roboto"/>
                <a:ea typeface="Roboto"/>
                <a:cs typeface="Roboto"/>
                <a:sym typeface="Roboto"/>
              </a:rPr>
              <a:t> Displays agent helpline after 3 invalid token attempts.</a:t>
            </a:r>
            <a:endParaRPr sz="1100">
              <a:solidFill>
                <a:srgbClr val="495057"/>
              </a:solidFill>
              <a:latin typeface="Roboto"/>
              <a:ea typeface="Roboto"/>
              <a:cs typeface="Roboto"/>
              <a:sym typeface="Roboto"/>
            </a:endParaRPr>
          </a:p>
          <a:p>
            <a:pPr indent="-298450" lvl="0" marL="457200" rtl="0" algn="l">
              <a:spcBef>
                <a:spcPts val="450"/>
              </a:spcBef>
              <a:spcAft>
                <a:spcPts val="0"/>
              </a:spcAft>
              <a:buClr>
                <a:srgbClr val="495057"/>
              </a:buClr>
              <a:buSzPts val="1100"/>
              <a:buFont typeface="Roboto"/>
              <a:buChar char="●"/>
            </a:pPr>
            <a:r>
              <a:rPr b="1" lang="en-GB" sz="1100">
                <a:solidFill>
                  <a:srgbClr val="495057"/>
                </a:solidFill>
                <a:latin typeface="Roboto"/>
                <a:ea typeface="Roboto"/>
                <a:cs typeface="Roboto"/>
                <a:sym typeface="Roboto"/>
              </a:rPr>
              <a:t>Affordability Alert:</a:t>
            </a:r>
            <a:r>
              <a:rPr lang="en-GB" sz="1100">
                <a:solidFill>
                  <a:srgbClr val="495057"/>
                </a:solidFill>
                <a:latin typeface="Roboto"/>
                <a:ea typeface="Roboto"/>
                <a:cs typeface="Roboto"/>
                <a:sym typeface="Roboto"/>
              </a:rPr>
              <a:t> Halts journey and escalates to live queue if payments exceed income.</a:t>
            </a:r>
            <a:endParaRPr sz="1100">
              <a:solidFill>
                <a:srgbClr val="495057"/>
              </a:solidFill>
              <a:latin typeface="Roboto"/>
              <a:ea typeface="Roboto"/>
              <a:cs typeface="Roboto"/>
              <a:sym typeface="Roboto"/>
            </a:endParaRPr>
          </a:p>
          <a:p>
            <a:pPr indent="0" lvl="0" marL="0" rtl="0" algn="l">
              <a:spcBef>
                <a:spcPts val="1125"/>
              </a:spcBef>
              <a:spcAft>
                <a:spcPts val="0"/>
              </a:spcAft>
              <a:buNone/>
            </a:pPr>
            <a:r>
              <a:rPr b="1" lang="en-GB" sz="1200">
                <a:solidFill>
                  <a:srgbClr val="0056B3"/>
                </a:solidFill>
                <a:highlight>
                  <a:srgbClr val="E7F1FF"/>
                </a:highlight>
                <a:latin typeface="Roboto"/>
                <a:ea typeface="Roboto"/>
                <a:cs typeface="Roboto"/>
                <a:sym typeface="Roboto"/>
              </a:rPr>
              <a:t>Backlog Maturity</a:t>
            </a:r>
            <a:endParaRPr b="1" sz="1200">
              <a:solidFill>
                <a:srgbClr val="0056B3"/>
              </a:solidFill>
              <a:highlight>
                <a:srgbClr val="E7F1FF"/>
              </a:highlight>
              <a:latin typeface="Roboto"/>
              <a:ea typeface="Roboto"/>
              <a:cs typeface="Roboto"/>
              <a:sym typeface="Roboto"/>
            </a:endParaRPr>
          </a:p>
          <a:p>
            <a:pPr indent="0" lvl="0" marL="0" rtl="0" algn="l">
              <a:spcBef>
                <a:spcPts val="150"/>
              </a:spcBef>
              <a:spcAft>
                <a:spcPts val="0"/>
              </a:spcAft>
              <a:buNone/>
            </a:pPr>
            <a:r>
              <a:rPr b="0" lang="en-GB" sz="1050">
                <a:solidFill>
                  <a:srgbClr val="495057"/>
                </a:solidFill>
                <a:highlight>
                  <a:srgbClr val="E7F1FF"/>
                </a:highlight>
                <a:latin typeface="Roboto"/>
                <a:ea typeface="Roboto"/>
                <a:cs typeface="Roboto"/>
                <a:sym typeface="Roboto"/>
              </a:rPr>
              <a:t>All primary user pathways are written as engineering-ready stories. Development can commence immediately upon Phase 1 approval.</a:t>
            </a:r>
            <a:endParaRPr b="0" sz="1050">
              <a:solidFill>
                <a:srgbClr val="495057"/>
              </a:solidFill>
              <a:highlight>
                <a:srgbClr val="E7F1FF"/>
              </a:highlight>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 name="Shape 170"/>
        <p:cNvGrpSpPr/>
        <p:nvPr/>
      </p:nvGrpSpPr>
      <p:grpSpPr>
        <a:xfrm>
          <a:off x="0" y="0"/>
          <a:ext cx="0" cy="0"/>
          <a:chOff x="0" y="0"/>
          <a:chExt cx="0" cy="0"/>
        </a:xfrm>
      </p:grpSpPr>
      <p:sp>
        <p:nvSpPr>
          <p:cNvPr id="171" name="Google Shape;171;p20"/>
          <p:cNvSpPr/>
          <p:nvPr/>
        </p:nvSpPr>
        <p:spPr>
          <a:xfrm>
            <a:off x="0" y="0"/>
            <a:ext cx="9144000" cy="762000"/>
          </a:xfrm>
          <a:prstGeom prst="rect">
            <a:avLst/>
          </a:prstGeom>
          <a:solidFill>
            <a:srgbClr val="1C1E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20"/>
          <p:cNvSpPr txBox="1"/>
          <p:nvPr/>
        </p:nvSpPr>
        <p:spPr>
          <a:xfrm>
            <a:off x="381000" y="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400">
                <a:solidFill>
                  <a:srgbClr val="FFFFFF"/>
                </a:solidFill>
                <a:latin typeface="Roboto"/>
                <a:ea typeface="Roboto"/>
                <a:cs typeface="Roboto"/>
                <a:sym typeface="Roboto"/>
              </a:rPr>
              <a:t>Change risks and mitigations</a:t>
            </a:r>
            <a:endParaRPr b="1" sz="2400">
              <a:solidFill>
                <a:srgbClr val="FFFFFF"/>
              </a:solidFill>
              <a:latin typeface="Roboto"/>
              <a:ea typeface="Roboto"/>
              <a:cs typeface="Roboto"/>
              <a:sym typeface="Roboto"/>
            </a:endParaRPr>
          </a:p>
        </p:txBody>
      </p:sp>
      <p:sp>
        <p:nvSpPr>
          <p:cNvPr id="173" name="Google Shape;173;p20"/>
          <p:cNvSpPr/>
          <p:nvPr/>
        </p:nvSpPr>
        <p:spPr>
          <a:xfrm>
            <a:off x="381000" y="4572000"/>
            <a:ext cx="8382000" cy="19200"/>
          </a:xfrm>
          <a:prstGeom prst="rect">
            <a:avLst/>
          </a:prstGeom>
          <a:solidFill>
            <a:srgbClr val="E9EC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20"/>
          <p:cNvSpPr txBox="1"/>
          <p:nvPr/>
        </p:nvSpPr>
        <p:spPr>
          <a:xfrm>
            <a:off x="381000" y="4667250"/>
            <a:ext cx="8382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000">
                <a:solidFill>
                  <a:srgbClr val="6C757D"/>
                </a:solidFill>
                <a:latin typeface="Roboto"/>
                <a:ea typeface="Roboto"/>
                <a:cs typeface="Roboto"/>
                <a:sym typeface="Roboto"/>
              </a:rPr>
              <a:t>Smart Recovery Initiative - Discovery Package Output</a:t>
            </a:r>
            <a:endParaRPr sz="1000">
              <a:solidFill>
                <a:srgbClr val="6C757D"/>
              </a:solidFill>
              <a:latin typeface="Roboto"/>
              <a:ea typeface="Roboto"/>
              <a:cs typeface="Roboto"/>
              <a:sym typeface="Roboto"/>
            </a:endParaRPr>
          </a:p>
        </p:txBody>
      </p:sp>
      <p:grpSp>
        <p:nvGrpSpPr>
          <p:cNvPr id="175" name="Google Shape;175;p20"/>
          <p:cNvGrpSpPr/>
          <p:nvPr/>
        </p:nvGrpSpPr>
        <p:grpSpPr>
          <a:xfrm>
            <a:off x="381000" y="952500"/>
            <a:ext cx="8382000" cy="1047900"/>
            <a:chOff x="381000" y="952500"/>
            <a:chExt cx="8382000" cy="1047900"/>
          </a:xfrm>
        </p:grpSpPr>
        <p:sp>
          <p:nvSpPr>
            <p:cNvPr id="176" name="Google Shape;176;p20"/>
            <p:cNvSpPr/>
            <p:nvPr/>
          </p:nvSpPr>
          <p:spPr>
            <a:xfrm>
              <a:off x="381000" y="952500"/>
              <a:ext cx="8382000" cy="1047900"/>
            </a:xfrm>
            <a:prstGeom prst="roundRect">
              <a:avLst>
                <a:gd fmla="val 10909" name="adj"/>
              </a:avLst>
            </a:prstGeom>
            <a:solidFill>
              <a:srgbClr val="FFFFFF"/>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20"/>
            <p:cNvSpPr txBox="1"/>
            <p:nvPr/>
          </p:nvSpPr>
          <p:spPr>
            <a:xfrm>
              <a:off x="571500" y="1047750"/>
              <a:ext cx="8001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400">
                  <a:solidFill>
                    <a:srgbClr val="1C1E21"/>
                  </a:solidFill>
                  <a:latin typeface="Roboto"/>
                  <a:ea typeface="Roboto"/>
                  <a:cs typeface="Roboto"/>
                  <a:sym typeface="Roboto"/>
                </a:rPr>
                <a:t>Risk 1: Legacy Database Instability</a:t>
              </a:r>
              <a:endParaRPr b="1" sz="1400">
                <a:solidFill>
                  <a:srgbClr val="1C1E21"/>
                </a:solidFill>
                <a:latin typeface="Roboto"/>
                <a:ea typeface="Roboto"/>
                <a:cs typeface="Roboto"/>
                <a:sym typeface="Roboto"/>
              </a:endParaRPr>
            </a:p>
            <a:p>
              <a:pPr indent="0" lvl="0" marL="0" rtl="0" algn="l">
                <a:spcBef>
                  <a:spcPts val="375"/>
                </a:spcBef>
                <a:spcAft>
                  <a:spcPts val="0"/>
                </a:spcAft>
                <a:buNone/>
              </a:pPr>
              <a:r>
                <a:rPr b="1" i="1" lang="en-GB" sz="1100">
                  <a:solidFill>
                    <a:srgbClr val="0056B3"/>
                  </a:solidFill>
                  <a:latin typeface="Roboto"/>
                  <a:ea typeface="Roboto"/>
                  <a:cs typeface="Roboto"/>
                  <a:sym typeface="Roboto"/>
                </a:rPr>
                <a:t>Mitigation:</a:t>
              </a:r>
              <a:r>
                <a:rPr b="0" lang="en-GB" sz="1100">
                  <a:solidFill>
                    <a:srgbClr val="495057"/>
                  </a:solidFill>
                  <a:latin typeface="Roboto"/>
                  <a:ea typeface="Roboto"/>
                  <a:cs typeface="Roboto"/>
                  <a:sym typeface="Roboto"/>
                </a:rPr>
                <a:t> Phase 1 completely avoids live API write-paths. Instead, data is synced safely using an automated midnight read-only SFTP daily batch export.</a:t>
              </a:r>
              <a:endParaRPr b="0" sz="1100">
                <a:solidFill>
                  <a:srgbClr val="495057"/>
                </a:solidFill>
                <a:latin typeface="Roboto"/>
                <a:ea typeface="Roboto"/>
                <a:cs typeface="Roboto"/>
                <a:sym typeface="Roboto"/>
              </a:endParaRPr>
            </a:p>
          </p:txBody>
        </p:sp>
      </p:grpSp>
      <p:grpSp>
        <p:nvGrpSpPr>
          <p:cNvPr id="178" name="Google Shape;178;p20"/>
          <p:cNvGrpSpPr/>
          <p:nvPr/>
        </p:nvGrpSpPr>
        <p:grpSpPr>
          <a:xfrm>
            <a:off x="381000" y="2143125"/>
            <a:ext cx="8382000" cy="1047900"/>
            <a:chOff x="381000" y="2143125"/>
            <a:chExt cx="8382000" cy="1047900"/>
          </a:xfrm>
        </p:grpSpPr>
        <p:sp>
          <p:nvSpPr>
            <p:cNvPr id="179" name="Google Shape;179;p20"/>
            <p:cNvSpPr/>
            <p:nvPr/>
          </p:nvSpPr>
          <p:spPr>
            <a:xfrm>
              <a:off x="381000" y="2143125"/>
              <a:ext cx="8382000" cy="1047900"/>
            </a:xfrm>
            <a:prstGeom prst="roundRect">
              <a:avLst>
                <a:gd fmla="val 10909" name="adj"/>
              </a:avLst>
            </a:prstGeom>
            <a:solidFill>
              <a:srgbClr val="FFFFFF"/>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20"/>
            <p:cNvSpPr txBox="1"/>
            <p:nvPr/>
          </p:nvSpPr>
          <p:spPr>
            <a:xfrm>
              <a:off x="571500" y="2238375"/>
              <a:ext cx="8001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400">
                  <a:solidFill>
                    <a:srgbClr val="1C1E21"/>
                  </a:solidFill>
                  <a:latin typeface="Roboto"/>
                  <a:ea typeface="Roboto"/>
                  <a:cs typeface="Roboto"/>
                  <a:sym typeface="Roboto"/>
                </a:rPr>
                <a:t>Risk 2: Standalone Loss on OPP-03 Reporting</a:t>
              </a:r>
              <a:endParaRPr b="1" sz="1400">
                <a:solidFill>
                  <a:srgbClr val="1C1E21"/>
                </a:solidFill>
                <a:latin typeface="Roboto"/>
                <a:ea typeface="Roboto"/>
                <a:cs typeface="Roboto"/>
                <a:sym typeface="Roboto"/>
              </a:endParaRPr>
            </a:p>
            <a:p>
              <a:pPr indent="0" lvl="0" marL="0" rtl="0" algn="l">
                <a:spcBef>
                  <a:spcPts val="375"/>
                </a:spcBef>
                <a:spcAft>
                  <a:spcPts val="0"/>
                </a:spcAft>
                <a:buNone/>
              </a:pPr>
              <a:r>
                <a:rPr b="1" i="1" lang="en-GB" sz="1100">
                  <a:solidFill>
                    <a:srgbClr val="0056B3"/>
                  </a:solidFill>
                  <a:latin typeface="Roboto"/>
                  <a:ea typeface="Roboto"/>
                  <a:cs typeface="Roboto"/>
                  <a:sym typeface="Roboto"/>
                </a:rPr>
                <a:t>Mitigation:</a:t>
              </a:r>
              <a:r>
                <a:rPr b="0" lang="en-GB" sz="1100">
                  <a:solidFill>
                    <a:srgbClr val="495057"/>
                  </a:solidFill>
                  <a:latin typeface="Roboto"/>
                  <a:ea typeface="Roboto"/>
                  <a:cs typeface="Roboto"/>
                  <a:sym typeface="Roboto"/>
                </a:rPr>
                <a:t> Accept the individual net loss of </a:t>
              </a:r>
              <a:r>
                <a:rPr b="1" lang="en-GB" sz="1100">
                  <a:solidFill>
                    <a:srgbClr val="DC3545"/>
                  </a:solidFill>
                  <a:latin typeface="Roboto"/>
                  <a:ea typeface="Roboto"/>
                  <a:cs typeface="Roboto"/>
                  <a:sym typeface="Roboto"/>
                </a:rPr>
                <a:t>-£5,920.88</a:t>
              </a:r>
              <a:r>
                <a:rPr b="0" lang="en-GB" sz="1100">
                  <a:solidFill>
                    <a:srgbClr val="495057"/>
                  </a:solidFill>
                  <a:latin typeface="Roboto"/>
                  <a:ea typeface="Roboto"/>
                  <a:cs typeface="Roboto"/>
                  <a:sym typeface="Roboto"/>
                </a:rPr>
                <a:t> because launching it now delivers the critical audit log trail required by UK FCA guidelines. The cost is fully absorbed by the massive surplus of OPP-05.</a:t>
              </a:r>
              <a:endParaRPr b="0" sz="1100">
                <a:solidFill>
                  <a:srgbClr val="495057"/>
                </a:solidFill>
                <a:latin typeface="Roboto"/>
                <a:ea typeface="Roboto"/>
                <a:cs typeface="Roboto"/>
                <a:sym typeface="Roboto"/>
              </a:endParaRPr>
            </a:p>
          </p:txBody>
        </p:sp>
      </p:grpSp>
      <p:grpSp>
        <p:nvGrpSpPr>
          <p:cNvPr id="181" name="Google Shape;181;p20"/>
          <p:cNvGrpSpPr/>
          <p:nvPr/>
        </p:nvGrpSpPr>
        <p:grpSpPr>
          <a:xfrm>
            <a:off x="381000" y="3333750"/>
            <a:ext cx="8382000" cy="1047900"/>
            <a:chOff x="381000" y="3333750"/>
            <a:chExt cx="8382000" cy="1047900"/>
          </a:xfrm>
        </p:grpSpPr>
        <p:sp>
          <p:nvSpPr>
            <p:cNvPr id="182" name="Google Shape;182;p20"/>
            <p:cNvSpPr/>
            <p:nvPr/>
          </p:nvSpPr>
          <p:spPr>
            <a:xfrm>
              <a:off x="381000" y="3333750"/>
              <a:ext cx="8382000" cy="1047900"/>
            </a:xfrm>
            <a:prstGeom prst="roundRect">
              <a:avLst>
                <a:gd fmla="val 10909" name="adj"/>
              </a:avLst>
            </a:prstGeom>
            <a:solidFill>
              <a:srgbClr val="F8F9FA"/>
            </a:solidFill>
            <a:ln cap="flat" cmpd="sng" w="9525">
              <a:solidFill>
                <a:srgbClr val="0056B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20"/>
            <p:cNvSpPr txBox="1"/>
            <p:nvPr/>
          </p:nvSpPr>
          <p:spPr>
            <a:xfrm>
              <a:off x="571500" y="3429000"/>
              <a:ext cx="8001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400">
                  <a:solidFill>
                    <a:srgbClr val="0056B3"/>
                  </a:solidFill>
                  <a:latin typeface="Roboto"/>
                  <a:ea typeface="Roboto"/>
                  <a:cs typeface="Roboto"/>
                  <a:sym typeface="Roboto"/>
                </a:rPr>
                <a:t>Risk 3: Customer Vulnerability &amp; Hardship Handling</a:t>
              </a:r>
              <a:endParaRPr b="1" sz="1400">
                <a:solidFill>
                  <a:srgbClr val="0056B3"/>
                </a:solidFill>
                <a:latin typeface="Roboto"/>
                <a:ea typeface="Roboto"/>
                <a:cs typeface="Roboto"/>
                <a:sym typeface="Roboto"/>
              </a:endParaRPr>
            </a:p>
            <a:p>
              <a:pPr indent="0" lvl="0" marL="0" rtl="0" algn="l">
                <a:spcBef>
                  <a:spcPts val="375"/>
                </a:spcBef>
                <a:spcAft>
                  <a:spcPts val="0"/>
                </a:spcAft>
                <a:buNone/>
              </a:pPr>
              <a:r>
                <a:rPr b="1" i="1" lang="en-GB" sz="1100">
                  <a:solidFill>
                    <a:srgbClr val="0056B3"/>
                  </a:solidFill>
                  <a:latin typeface="Roboto"/>
                  <a:ea typeface="Roboto"/>
                  <a:cs typeface="Roboto"/>
                  <a:sym typeface="Roboto"/>
                </a:rPr>
                <a:t>Mitigation:</a:t>
              </a:r>
              <a:r>
                <a:rPr b="0" lang="en-GB" sz="1100">
                  <a:solidFill>
                    <a:srgbClr val="495057"/>
                  </a:solidFill>
                  <a:latin typeface="Roboto"/>
                  <a:ea typeface="Roboto"/>
                  <a:cs typeface="Roboto"/>
                  <a:sym typeface="Roboto"/>
                </a:rPr>
                <a:t> Built-in front-end safety valves instantly route users to manual agent queues with explicit context metadata strings, preventing regulatory breaches.</a:t>
              </a:r>
              <a:endParaRPr b="0" sz="1100">
                <a:solidFill>
                  <a:srgbClr val="495057"/>
                </a:solidFill>
                <a:latin typeface="Roboto"/>
                <a:ea typeface="Roboto"/>
                <a:cs typeface="Roboto"/>
                <a:sym typeface="Robo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7" name="Shape 187"/>
        <p:cNvGrpSpPr/>
        <p:nvPr/>
      </p:nvGrpSpPr>
      <p:grpSpPr>
        <a:xfrm>
          <a:off x="0" y="0"/>
          <a:ext cx="0" cy="0"/>
          <a:chOff x="0" y="0"/>
          <a:chExt cx="0" cy="0"/>
        </a:xfrm>
      </p:grpSpPr>
      <p:sp>
        <p:nvSpPr>
          <p:cNvPr id="188" name="Google Shape;188;p21"/>
          <p:cNvSpPr/>
          <p:nvPr/>
        </p:nvSpPr>
        <p:spPr>
          <a:xfrm>
            <a:off x="0" y="0"/>
            <a:ext cx="9144000" cy="762000"/>
          </a:xfrm>
          <a:prstGeom prst="rect">
            <a:avLst/>
          </a:prstGeom>
          <a:solidFill>
            <a:srgbClr val="1C1E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1"/>
          <p:cNvSpPr txBox="1"/>
          <p:nvPr/>
        </p:nvSpPr>
        <p:spPr>
          <a:xfrm>
            <a:off x="381000" y="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400">
                <a:solidFill>
                  <a:srgbClr val="FFFFFF"/>
                </a:solidFill>
                <a:latin typeface="Roboto"/>
                <a:ea typeface="Roboto"/>
                <a:cs typeface="Roboto"/>
                <a:sym typeface="Roboto"/>
              </a:rPr>
              <a:t>Summary</a:t>
            </a:r>
            <a:endParaRPr b="1" sz="2400">
              <a:solidFill>
                <a:srgbClr val="FFFFFF"/>
              </a:solidFill>
              <a:latin typeface="Roboto"/>
              <a:ea typeface="Roboto"/>
              <a:cs typeface="Roboto"/>
              <a:sym typeface="Roboto"/>
            </a:endParaRPr>
          </a:p>
        </p:txBody>
      </p:sp>
      <p:sp>
        <p:nvSpPr>
          <p:cNvPr id="190" name="Google Shape;190;p21"/>
          <p:cNvSpPr/>
          <p:nvPr/>
        </p:nvSpPr>
        <p:spPr>
          <a:xfrm>
            <a:off x="381000" y="4572000"/>
            <a:ext cx="8382000" cy="19200"/>
          </a:xfrm>
          <a:prstGeom prst="rect">
            <a:avLst/>
          </a:prstGeom>
          <a:solidFill>
            <a:srgbClr val="E9EC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21"/>
          <p:cNvSpPr txBox="1"/>
          <p:nvPr/>
        </p:nvSpPr>
        <p:spPr>
          <a:xfrm>
            <a:off x="381000" y="4667250"/>
            <a:ext cx="8382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000">
                <a:solidFill>
                  <a:srgbClr val="6C757D"/>
                </a:solidFill>
                <a:latin typeface="Roboto"/>
                <a:ea typeface="Roboto"/>
                <a:cs typeface="Roboto"/>
                <a:sym typeface="Roboto"/>
              </a:rPr>
              <a:t>Smart Recovery Initiative - Discovery Package Output</a:t>
            </a:r>
            <a:endParaRPr sz="1000">
              <a:solidFill>
                <a:srgbClr val="6C757D"/>
              </a:solidFill>
              <a:latin typeface="Roboto"/>
              <a:ea typeface="Roboto"/>
              <a:cs typeface="Roboto"/>
              <a:sym typeface="Roboto"/>
            </a:endParaRPr>
          </a:p>
        </p:txBody>
      </p:sp>
      <p:grpSp>
        <p:nvGrpSpPr>
          <p:cNvPr id="192" name="Google Shape;192;p21"/>
          <p:cNvGrpSpPr/>
          <p:nvPr/>
        </p:nvGrpSpPr>
        <p:grpSpPr>
          <a:xfrm>
            <a:off x="381000" y="1047750"/>
            <a:ext cx="8382000" cy="3238500"/>
            <a:chOff x="381000" y="1047750"/>
            <a:chExt cx="8382000" cy="3238500"/>
          </a:xfrm>
        </p:grpSpPr>
        <p:sp>
          <p:nvSpPr>
            <p:cNvPr id="193" name="Google Shape;193;p21"/>
            <p:cNvSpPr/>
            <p:nvPr/>
          </p:nvSpPr>
          <p:spPr>
            <a:xfrm>
              <a:off x="381000" y="1047750"/>
              <a:ext cx="8382000" cy="3238500"/>
            </a:xfrm>
            <a:prstGeom prst="roundRect">
              <a:avLst>
                <a:gd fmla="val 3529" name="adj"/>
              </a:avLst>
            </a:prstGeom>
            <a:solidFill>
              <a:srgbClr val="FFFFFF"/>
            </a:solidFill>
            <a:ln cap="flat" cmpd="sng" w="9525">
              <a:solidFill>
                <a:srgbClr val="DEE2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21"/>
            <p:cNvSpPr txBox="1"/>
            <p:nvPr/>
          </p:nvSpPr>
          <p:spPr>
            <a:xfrm>
              <a:off x="762000" y="1428750"/>
              <a:ext cx="7620000" cy="2476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2000">
                  <a:solidFill>
                    <a:srgbClr val="1C1E21"/>
                  </a:solidFill>
                  <a:latin typeface="Roboto"/>
                  <a:ea typeface="Roboto"/>
                  <a:cs typeface="Roboto"/>
                  <a:sym typeface="Roboto"/>
                </a:rPr>
                <a:t>Authorize the formal allocation of the </a:t>
              </a:r>
              <a:r>
                <a:rPr b="1" lang="en-GB" sz="2000">
                  <a:solidFill>
                    <a:srgbClr val="0056B3"/>
                  </a:solidFill>
                  <a:latin typeface="Roboto"/>
                  <a:ea typeface="Roboto"/>
                  <a:cs typeface="Roboto"/>
                  <a:sym typeface="Roboto"/>
                </a:rPr>
                <a:t>£42,320 Phase 1 budget</a:t>
              </a:r>
              <a:r>
                <a:rPr b="0" lang="en-GB" sz="2000">
                  <a:solidFill>
                    <a:srgbClr val="1C1E21"/>
                  </a:solidFill>
                  <a:latin typeface="Roboto"/>
                  <a:ea typeface="Roboto"/>
                  <a:cs typeface="Roboto"/>
                  <a:sym typeface="Roboto"/>
                </a:rPr>
                <a:t> to deliver the </a:t>
              </a:r>
              <a:r>
                <a:rPr b="1" lang="en-GB" sz="2000">
                  <a:solidFill>
                    <a:srgbClr val="1C1E21"/>
                  </a:solidFill>
                  <a:latin typeface="Roboto"/>
                  <a:ea typeface="Roboto"/>
                  <a:cs typeface="Roboto"/>
                  <a:sym typeface="Roboto"/>
                </a:rPr>
                <a:t>Smart-Recovery Portal bundle</a:t>
              </a:r>
              <a:r>
                <a:rPr b="0" lang="en-GB" sz="2000">
                  <a:solidFill>
                    <a:srgbClr val="1C1E21"/>
                  </a:solidFill>
                  <a:latin typeface="Roboto"/>
                  <a:ea typeface="Roboto"/>
                  <a:cs typeface="Roboto"/>
                  <a:sym typeface="Roboto"/>
                </a:rPr>
                <a:t> (OPP-01, 03, &amp; 05).</a:t>
              </a:r>
              <a:endParaRPr b="0" sz="2000">
                <a:solidFill>
                  <a:srgbClr val="1C1E21"/>
                </a:solidFill>
                <a:latin typeface="Roboto"/>
                <a:ea typeface="Roboto"/>
                <a:cs typeface="Roboto"/>
                <a:sym typeface="Roboto"/>
              </a:endParaRPr>
            </a:p>
            <a:p>
              <a:pPr indent="0" lvl="0" marL="0" rtl="0" algn="ctr">
                <a:spcBef>
                  <a:spcPts val="3000"/>
                </a:spcBef>
                <a:spcAft>
                  <a:spcPts val="0"/>
                </a:spcAft>
                <a:buNone/>
              </a:pPr>
              <a:r>
                <a:rPr b="1" lang="en-GB" sz="3200">
                  <a:solidFill>
                    <a:srgbClr val="28A745"/>
                  </a:solidFill>
                  <a:latin typeface="Roboto"/>
                  <a:ea typeface="Roboto"/>
                  <a:cs typeface="Roboto"/>
                  <a:sym typeface="Roboto"/>
                </a:rPr>
                <a:t>£24,400</a:t>
              </a:r>
              <a:endParaRPr b="1" sz="3200">
                <a:solidFill>
                  <a:srgbClr val="28A745"/>
                </a:solidFill>
                <a:latin typeface="Roboto"/>
                <a:ea typeface="Roboto"/>
                <a:cs typeface="Roboto"/>
                <a:sym typeface="Roboto"/>
              </a:endParaRPr>
            </a:p>
            <a:p>
              <a:pPr indent="0" lvl="0" marL="0" rtl="0" algn="ctr">
                <a:spcBef>
                  <a:spcPts val="375"/>
                </a:spcBef>
                <a:spcAft>
                  <a:spcPts val="0"/>
                </a:spcAft>
                <a:buNone/>
              </a:pPr>
              <a:r>
                <a:rPr b="1" lang="en-GB" sz="1200">
                  <a:solidFill>
                    <a:srgbClr val="6C757D"/>
                  </a:solidFill>
                  <a:latin typeface="Roboto"/>
                  <a:ea typeface="Roboto"/>
                  <a:cs typeface="Roboto"/>
                  <a:sym typeface="Roboto"/>
                </a:rPr>
                <a:t>12-MONTH NET PROFIT</a:t>
              </a:r>
              <a:endParaRPr b="1" sz="1200">
                <a:solidFill>
                  <a:srgbClr val="6C757D"/>
                </a:solidFill>
                <a:latin typeface="Roboto"/>
                <a:ea typeface="Roboto"/>
                <a:cs typeface="Roboto"/>
                <a:sym typeface="Roboto"/>
              </a:endParaRPr>
            </a:p>
            <a:p>
              <a:pPr indent="0" lvl="0" marL="0" rtl="0" algn="ctr">
                <a:spcBef>
                  <a:spcPts val="0"/>
                </a:spcBef>
                <a:spcAft>
                  <a:spcPts val="0"/>
                </a:spcAft>
                <a:buNone/>
              </a:pPr>
              <a:r>
                <a:rPr b="1" lang="en-GB" sz="3200">
                  <a:solidFill>
                    <a:srgbClr val="0056B3"/>
                  </a:solidFill>
                  <a:latin typeface="Roboto"/>
                  <a:ea typeface="Roboto"/>
                  <a:cs typeface="Roboto"/>
                  <a:sym typeface="Roboto"/>
                </a:rPr>
                <a:t>2,300 hrs</a:t>
              </a:r>
              <a:endParaRPr b="1" sz="3200">
                <a:solidFill>
                  <a:srgbClr val="0056B3"/>
                </a:solidFill>
                <a:latin typeface="Roboto"/>
                <a:ea typeface="Roboto"/>
                <a:cs typeface="Roboto"/>
                <a:sym typeface="Roboto"/>
              </a:endParaRPr>
            </a:p>
            <a:p>
              <a:pPr indent="0" lvl="0" marL="0" rtl="0" algn="ctr">
                <a:spcBef>
                  <a:spcPts val="375"/>
                </a:spcBef>
                <a:spcAft>
                  <a:spcPts val="0"/>
                </a:spcAft>
                <a:buNone/>
              </a:pPr>
              <a:r>
                <a:rPr b="1" lang="en-GB" sz="1200">
                  <a:solidFill>
                    <a:srgbClr val="6C757D"/>
                  </a:solidFill>
                  <a:latin typeface="Roboto"/>
                  <a:ea typeface="Roboto"/>
                  <a:cs typeface="Roboto"/>
                  <a:sym typeface="Roboto"/>
                </a:rPr>
                <a:t>MANUAL CAPACITY UNBLOCKED</a:t>
              </a:r>
              <a:endParaRPr b="1" sz="1200">
                <a:solidFill>
                  <a:srgbClr val="6C757D"/>
                </a:solidFill>
                <a:latin typeface="Roboto"/>
                <a:ea typeface="Roboto"/>
                <a:cs typeface="Roboto"/>
                <a:sym typeface="Roboto"/>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