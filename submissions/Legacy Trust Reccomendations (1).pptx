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Lst>
  <p:sldSz cy="5143500" cx="9144000"/>
  <p:notesSz cx="6858000" cy="9144000"/>
  <p:embeddedFontLst>
    <p:embeddedFont>
      <p:font typeface="Roboto"/>
      <p:bold r:id="rId16"/>
      <p:boldItalic r:id="rId17"/>
    </p:embeddedFont>
    <p:embeddedFont>
      <p:font typeface="Roboto Medium"/>
      <p:regular r:id="rId18"/>
      <p:bold r:id="rId19"/>
      <p:italic r:id="rId20"/>
      <p:boldItalic r:id="rId2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0959A7C4-8D97-4529-8450-EA043DCB2C23}">
  <a:tblStyle styleId="{0959A7C4-8D97-4529-8450-EA043DCB2C23}"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font" Target="fonts/RobotoMedium-italic.fntdata"/><Relationship Id="rId11" Type="http://schemas.openxmlformats.org/officeDocument/2006/relationships/slide" Target="slides/slide5.xml"/><Relationship Id="rId10" Type="http://schemas.openxmlformats.org/officeDocument/2006/relationships/slide" Target="slides/slide4.xml"/><Relationship Id="rId21" Type="http://schemas.openxmlformats.org/officeDocument/2006/relationships/font" Target="fonts/RobotoMedium-boldItalic.fntdata"/><Relationship Id="rId13" Type="http://schemas.openxmlformats.org/officeDocument/2006/relationships/slide" Target="slides/slide7.xml"/><Relationship Id="rId12" Type="http://schemas.openxmlformats.org/officeDocument/2006/relationships/slide" Target="slides/slide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font" Target="fonts/Roboto-boldItalic.fntdata"/><Relationship Id="rId16" Type="http://schemas.openxmlformats.org/officeDocument/2006/relationships/font" Target="fonts/Roboto-bold.fntdata"/><Relationship Id="rId5" Type="http://schemas.openxmlformats.org/officeDocument/2006/relationships/slideMaster" Target="slideMasters/slideMaster1.xml"/><Relationship Id="rId19" Type="http://schemas.openxmlformats.org/officeDocument/2006/relationships/font" Target="fonts/RobotoMedium-bold.fntdata"/><Relationship Id="rId6" Type="http://schemas.openxmlformats.org/officeDocument/2006/relationships/notesMaster" Target="notesMasters/notesMaster1.xml"/><Relationship Id="rId18" Type="http://schemas.openxmlformats.org/officeDocument/2006/relationships/font" Target="fonts/RobotoMedium-regular.fntdata"/><Relationship Id="rId7" Type="http://schemas.openxmlformats.org/officeDocument/2006/relationships/slide" Target="slides/slide1.xml"/><Relationship Id="rId8"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g4097d0ff977_0_95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g4097d0ff977_0_95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g4097d0ff9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 name="Google Shape;57;g4097d0ff9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GB">
                <a:solidFill>
                  <a:schemeClr val="dk1"/>
                </a:solidFill>
              </a:rPr>
              <a:t>We are here to discuss a critical turning point for Legacy Trust’s collections operations. Today, I am recommending the </a:t>
            </a:r>
            <a:r>
              <a:rPr b="1" lang="en-GB">
                <a:solidFill>
                  <a:schemeClr val="dk1"/>
                </a:solidFill>
              </a:rPr>
              <a:t>immediate development and funding of our Phase 1 Portal Bundle</a:t>
            </a:r>
            <a:r>
              <a:rPr lang="en-GB">
                <a:solidFill>
                  <a:schemeClr val="dk1"/>
                </a:solidFill>
              </a:rPr>
              <a:t>, which combines </a:t>
            </a:r>
            <a:r>
              <a:rPr b="1" lang="en-GB">
                <a:solidFill>
                  <a:schemeClr val="dk1"/>
                </a:solidFill>
              </a:rPr>
              <a:t>OPP-01 </a:t>
            </a:r>
            <a:r>
              <a:rPr lang="en-GB">
                <a:solidFill>
                  <a:schemeClr val="dk1"/>
                </a:solidFill>
              </a:rPr>
              <a:t>(automate status checks) </a:t>
            </a:r>
            <a:r>
              <a:rPr b="1" lang="en-GB">
                <a:solidFill>
                  <a:schemeClr val="dk1"/>
                </a:solidFill>
              </a:rPr>
              <a:t>, OPP-03 (a</a:t>
            </a:r>
            <a:r>
              <a:rPr lang="en-GB" sz="1000">
                <a:solidFill>
                  <a:schemeClr val="dk1"/>
                </a:solidFill>
              </a:rPr>
              <a:t>tomate analytics and end of month reporting</a:t>
            </a:r>
            <a:r>
              <a:rPr b="1" lang="en-GB">
                <a:solidFill>
                  <a:schemeClr val="dk1"/>
                </a:solidFill>
              </a:rPr>
              <a:t>,) and OPP-05 </a:t>
            </a:r>
            <a:r>
              <a:rPr lang="en-GB">
                <a:solidFill>
                  <a:schemeClr val="dk1"/>
                </a:solidFill>
              </a:rPr>
              <a:t>(</a:t>
            </a:r>
            <a:r>
              <a:rPr lang="en-GB" sz="1000">
                <a:solidFill>
                  <a:schemeClr val="dk1"/>
                </a:solidFill>
              </a:rPr>
              <a:t>Automate the scheduling of follow ups with agents).</a:t>
            </a:r>
            <a:r>
              <a:rPr lang="en-GB">
                <a:solidFill>
                  <a:schemeClr val="dk1"/>
                </a:solidFill>
              </a:rPr>
              <a:t>.</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Let's look at what this investment achieves:</a:t>
            </a:r>
            <a:endParaRPr>
              <a:solidFill>
                <a:schemeClr val="dk1"/>
              </a:solidFill>
            </a:endParaRPr>
          </a:p>
          <a:p>
            <a:pPr indent="-298450" lvl="0" marL="457200" rtl="0" algn="l">
              <a:lnSpc>
                <a:spcPct val="115000"/>
              </a:lnSpc>
              <a:spcBef>
                <a:spcPts val="1200"/>
              </a:spcBef>
              <a:spcAft>
                <a:spcPts val="0"/>
              </a:spcAft>
              <a:buClr>
                <a:schemeClr val="dk1"/>
              </a:buClr>
              <a:buSzPts val="1100"/>
              <a:buChar char="●"/>
            </a:pPr>
            <a:r>
              <a:rPr b="1" lang="en-GB">
                <a:solidFill>
                  <a:schemeClr val="dk1"/>
                </a:solidFill>
              </a:rPr>
              <a:t>First, Operational Efficiency:</a:t>
            </a:r>
            <a:r>
              <a:rPr lang="en-GB">
                <a:solidFill>
                  <a:schemeClr val="dk1"/>
                </a:solidFill>
              </a:rPr>
              <a:t> This bundle targets bottlenecks caused by the volume of manual </a:t>
            </a:r>
            <a:r>
              <a:rPr lang="en-GB">
                <a:solidFill>
                  <a:schemeClr val="dk1"/>
                </a:solidFill>
              </a:rPr>
              <a:t>administration</a:t>
            </a:r>
            <a:r>
              <a:rPr lang="en-GB">
                <a:solidFill>
                  <a:schemeClr val="dk1"/>
                </a:solidFill>
              </a:rPr>
              <a:t> faced by Gareth’s team. By automating customer status inquiries and follow-up tracking, we free up thousands of hours of capacity which agents can use to </a:t>
            </a:r>
            <a:r>
              <a:rPr lang="en-GB">
                <a:solidFill>
                  <a:schemeClr val="dk1"/>
                </a:solidFill>
              </a:rPr>
              <a:t>address</a:t>
            </a:r>
            <a:r>
              <a:rPr lang="en-GB">
                <a:solidFill>
                  <a:schemeClr val="dk1"/>
                </a:solidFill>
              </a:rPr>
              <a:t> the cases that really need them.</a:t>
            </a:r>
            <a:endParaRPr>
              <a:solidFill>
                <a:schemeClr val="dk1"/>
              </a:solidFill>
            </a:endParaRPr>
          </a:p>
          <a:p>
            <a:pPr indent="-298450" lvl="0" marL="457200" rtl="0" algn="l">
              <a:lnSpc>
                <a:spcPct val="115000"/>
              </a:lnSpc>
              <a:spcBef>
                <a:spcPts val="0"/>
              </a:spcBef>
              <a:spcAft>
                <a:spcPts val="0"/>
              </a:spcAft>
              <a:buClr>
                <a:schemeClr val="dk1"/>
              </a:buClr>
              <a:buSzPts val="1100"/>
              <a:buChar char="●"/>
            </a:pPr>
            <a:r>
              <a:rPr b="1" lang="en-GB">
                <a:solidFill>
                  <a:schemeClr val="dk1"/>
                </a:solidFill>
              </a:rPr>
              <a:t>Second, Financial Gain:</a:t>
            </a:r>
            <a:r>
              <a:rPr lang="en-GB">
                <a:solidFill>
                  <a:schemeClr val="dk1"/>
                </a:solidFill>
              </a:rPr>
              <a:t> This deployment is highly profitable. Phase 1 requires a total implementation cost of </a:t>
            </a:r>
            <a:r>
              <a:rPr b="1" lang="en-GB">
                <a:solidFill>
                  <a:schemeClr val="dk1"/>
                </a:solidFill>
              </a:rPr>
              <a:t>£42,320.00</a:t>
            </a:r>
            <a:r>
              <a:rPr lang="en-GB">
                <a:solidFill>
                  <a:schemeClr val="dk1"/>
                </a:solidFill>
              </a:rPr>
              <a:t>, but it should generate a gross annual benefit of </a:t>
            </a:r>
            <a:r>
              <a:rPr b="1" lang="en-GB">
                <a:solidFill>
                  <a:schemeClr val="dk1"/>
                </a:solidFill>
              </a:rPr>
              <a:t>£66,756.09</a:t>
            </a:r>
            <a:r>
              <a:rPr lang="en-GB">
                <a:solidFill>
                  <a:schemeClr val="dk1"/>
                </a:solidFill>
              </a:rPr>
              <a:t>. This means the net annual profit will be </a:t>
            </a:r>
            <a:r>
              <a:rPr b="1" lang="en-GB">
                <a:solidFill>
                  <a:schemeClr val="dk1"/>
                </a:solidFill>
              </a:rPr>
              <a:t>+£24,436.09</a:t>
            </a:r>
            <a:r>
              <a:rPr lang="en-GB">
                <a:solidFill>
                  <a:schemeClr val="dk1"/>
                </a:solidFill>
              </a:rPr>
              <a:t> in the very first year.</a:t>
            </a:r>
            <a:endParaRPr>
              <a:solidFill>
                <a:schemeClr val="dk1"/>
              </a:solidFill>
            </a:endParaRPr>
          </a:p>
          <a:p>
            <a:pPr indent="-298450" lvl="0" marL="457200" rtl="0" algn="l">
              <a:lnSpc>
                <a:spcPct val="115000"/>
              </a:lnSpc>
              <a:spcBef>
                <a:spcPts val="0"/>
              </a:spcBef>
              <a:spcAft>
                <a:spcPts val="0"/>
              </a:spcAft>
              <a:buClr>
                <a:schemeClr val="dk1"/>
              </a:buClr>
              <a:buSzPts val="1100"/>
              <a:buChar char="●"/>
            </a:pPr>
            <a:r>
              <a:rPr b="1" lang="en-GB">
                <a:solidFill>
                  <a:schemeClr val="dk1"/>
                </a:solidFill>
              </a:rPr>
              <a:t>Third, Risk Mitigation:</a:t>
            </a:r>
            <a:r>
              <a:rPr lang="en-GB">
                <a:solidFill>
                  <a:schemeClr val="dk1"/>
                </a:solidFill>
              </a:rPr>
              <a:t> OPP-03 is strategically necessary as it builds the data log and audit trails mandated by UK FCA guidelines. Without it we would be exposing the bank to catastrophic compliance fines that could easily reach hundreds of thousands of pounds.</a:t>
            </a:r>
            <a:endParaRPr>
              <a:solidFill>
                <a:schemeClr val="dk1"/>
              </a:solidFill>
            </a:endParaRPr>
          </a:p>
          <a:p>
            <a:pPr indent="0" lvl="0" marL="0" rtl="0" algn="l">
              <a:spcBef>
                <a:spcPts val="120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g4097d0ff977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 name="Google Shape;78;g4097d0ff977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b="1" lang="en-GB">
                <a:solidFill>
                  <a:schemeClr val="dk1"/>
                </a:solidFill>
              </a:rPr>
              <a:t>Gareth, Priya, Daniel—let’s look at why the current manual state is entirely unsustainable.</a:t>
            </a:r>
            <a:endParaRPr b="1">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Right now, our collections team is </a:t>
            </a:r>
            <a:r>
              <a:rPr lang="en-GB">
                <a:solidFill>
                  <a:schemeClr val="dk1"/>
                </a:solidFill>
              </a:rPr>
              <a:t>losing</a:t>
            </a:r>
            <a:r>
              <a:rPr lang="en-GB">
                <a:solidFill>
                  <a:schemeClr val="dk1"/>
                </a:solidFill>
              </a:rPr>
              <a:t> 2,391.80 hours of manual work every single year just processing basic administrative tasks. At our baseline agent cost, that equates  £52,619.60 annually wasted on routine administration rather than high-value customer negotiations.</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Worse still, because our agents are completely buried under this administrative work, we are experiencing an extra £10,617.37 in direct revenue leakage annually. This is because active payment arrangements quietly collapse in the background, and we lack the capacity to follow this up. When you look at the breakdown, OPP-01 status checks consume nearly 1,270 hours, and OPP-05 manual tracking takes up over 1,120 hours. This means the team are being paid to be data entry messengers, not collections experts.</a:t>
            </a:r>
            <a:endParaRPr>
              <a:solidFill>
                <a:schemeClr val="dk1"/>
              </a:solidFill>
            </a:endParaRPr>
          </a:p>
          <a:p>
            <a:pPr indent="0" lvl="0" marL="0" rtl="0" algn="l">
              <a:spcBef>
                <a:spcPts val="120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4097d0ff977_0_16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4097d0ff977_0_16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b="1" lang="en-GB">
                <a:solidFill>
                  <a:schemeClr val="dk1"/>
                </a:solidFill>
              </a:rPr>
              <a:t>Our discovery phase exposed three critical friction points.</a:t>
            </a:r>
            <a:endParaRPr b="1">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First, we have severe lack of easily </a:t>
            </a:r>
            <a:r>
              <a:rPr lang="en-GB">
                <a:solidFill>
                  <a:schemeClr val="dk1"/>
                </a:solidFill>
              </a:rPr>
              <a:t>available</a:t>
            </a:r>
            <a:r>
              <a:rPr lang="en-GB">
                <a:solidFill>
                  <a:schemeClr val="dk1"/>
                </a:solidFill>
              </a:rPr>
              <a:t> information. Customers have no self-service visibility, forcing them to call up just to check their balance. Second, we suffer from a 'Follow-Up Black Hole'. This means when a customer breaks a promise to pay, it gets lost in the system as there is no automated trigger to prompt an agent.</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The final friction point is that our team is surviving on fragmented, manual spreadsheets. This leaves us with no audit trails, which puts us in a precarious regulatory position. Our user research confirms that both our customers and our staff are crying out for a secure, identity-verified portal to handle these routine interactions.</a:t>
            </a:r>
            <a:endParaRPr>
              <a:solidFill>
                <a:schemeClr val="dk1"/>
              </a:solidFill>
            </a:endParaRPr>
          </a:p>
          <a:p>
            <a:pPr indent="0" lvl="0" marL="0" rtl="0" algn="l">
              <a:spcBef>
                <a:spcPts val="120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g4097d0ff977_0_1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 name="Google Shape;118;g4097d0ff977_0_1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b="1" lang="en-GB">
                <a:solidFill>
                  <a:schemeClr val="dk1"/>
                </a:solidFill>
              </a:rPr>
              <a:t>Let’s address the numbers</a:t>
            </a:r>
            <a:endParaRPr>
              <a:solidFill>
                <a:schemeClr val="dk1"/>
              </a:solidFill>
            </a:endParaRPr>
          </a:p>
          <a:p>
            <a:pPr indent="0" lvl="0" marL="0" rtl="0" algn="l">
              <a:lnSpc>
                <a:spcPct val="115000"/>
              </a:lnSpc>
              <a:spcBef>
                <a:spcPts val="1200"/>
              </a:spcBef>
              <a:spcAft>
                <a:spcPts val="0"/>
              </a:spcAft>
              <a:buNone/>
            </a:pPr>
            <a:r>
              <a:rPr lang="en-GB">
                <a:solidFill>
                  <a:schemeClr val="dk1"/>
                </a:solidFill>
              </a:rPr>
              <a:t>To implement phase 1 we require an investment of £42,320.00. This bundle will deliver an annual benefit of £66,756.09, resulting in a net 12-month value of +£24,436.09 and a ROI of 57.74%.</a:t>
            </a:r>
            <a:endParaRPr>
              <a:solidFill>
                <a:schemeClr val="dk1"/>
              </a:solidFill>
            </a:endParaRPr>
          </a:p>
          <a:p>
            <a:pPr indent="0" lvl="0" marL="0" rtl="0" algn="l">
              <a:lnSpc>
                <a:spcPct val="115000"/>
              </a:lnSpc>
              <a:spcBef>
                <a:spcPts val="1200"/>
              </a:spcBef>
              <a:spcAft>
                <a:spcPts val="0"/>
              </a:spcAft>
              <a:buNone/>
            </a:pPr>
            <a:r>
              <a:rPr lang="en-GB">
                <a:solidFill>
                  <a:schemeClr val="dk1"/>
                </a:solidFill>
              </a:rPr>
              <a:t>Regarding OPP-03, our End-of-Month Analytics module, this shows a net loss of -£5,920.88. In a vacuum, we might cut this. However, we have intentionally bundled it into Phase 1 because it builds the foundation of data Daniel needs for risk auditing. Because OPP-05 is highly profitable with a 150.78% ROI, it completely absorbs the cost of our analytics framework, keeping the phase profitable whilst shielding the bank against regulatory penalties.</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spcBef>
                <a:spcPts val="120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g4097d0ff977_0_2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7" name="Google Shape;127;g4097d0ff977_0_2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b="1" lang="en-GB">
                <a:solidFill>
                  <a:schemeClr val="dk1"/>
                </a:solidFill>
              </a:rPr>
              <a:t>To ensure we protect the bank's legacy architecture, we have drawn a very strict line around our product scope.</a:t>
            </a:r>
            <a:endParaRPr b="1">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In-scope capabilities include the core MFA Login Gate, featuring an FCA compliance guardrail that will lock accounts after 3 failed attempts and alerts Gareth’s team. We are also funding the read-only Account Dashboard and the Promise to Pay setup, which contains an affordability guardrail to instantly flag and escalate cases if a proposed plan exceeds a customer's logged income.</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What we are </a:t>
            </a:r>
            <a:r>
              <a:rPr i="1" lang="en-GB">
                <a:solidFill>
                  <a:schemeClr val="dk1"/>
                </a:solidFill>
              </a:rPr>
              <a:t>excluding</a:t>
            </a:r>
            <a:r>
              <a:rPr lang="en-GB">
                <a:solidFill>
                  <a:schemeClr val="dk1"/>
                </a:solidFill>
              </a:rPr>
              <a:t> in phase 1 is also important. We are deferring live API write-paths to the 20-year-old database under OPP-04. Instead, the portal will batch data into a daily midnight CSV, dropped via a secure, read-only SFTP file sync. This delivers full automation to operations without risking a catastrophic </a:t>
            </a:r>
            <a:r>
              <a:rPr lang="en-GB">
                <a:solidFill>
                  <a:schemeClr val="dk1"/>
                </a:solidFill>
              </a:rPr>
              <a:t>crash</a:t>
            </a:r>
            <a:r>
              <a:rPr lang="en-GB">
                <a:solidFill>
                  <a:schemeClr val="dk1"/>
                </a:solidFill>
              </a:rPr>
              <a:t> of the legacy system.</a:t>
            </a:r>
            <a:endParaRPr>
              <a:solidFill>
                <a:schemeClr val="dk1"/>
              </a:solidFill>
            </a:endParaRPr>
          </a:p>
          <a:p>
            <a:pPr indent="0" lvl="0" marL="0" rtl="0" algn="l">
              <a:spcBef>
                <a:spcPts val="120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 name="Shape 155"/>
        <p:cNvGrpSpPr/>
        <p:nvPr/>
      </p:nvGrpSpPr>
      <p:grpSpPr>
        <a:xfrm>
          <a:off x="0" y="0"/>
          <a:ext cx="0" cy="0"/>
          <a:chOff x="0" y="0"/>
          <a:chExt cx="0" cy="0"/>
        </a:xfrm>
      </p:grpSpPr>
      <p:sp>
        <p:nvSpPr>
          <p:cNvPr id="156" name="Google Shape;156;g4097d0ff977_0_2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7" name="Google Shape;157;g4097d0ff977_0_2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GB"/>
              <a:t>As you can see by the UI interface displayed on this slide, we have already developed a fully functional, low-fidelity HTML prototype to explore the </a:t>
            </a:r>
            <a:r>
              <a:rPr lang="en-GB"/>
              <a:t>capabilities</a:t>
            </a:r>
            <a:r>
              <a:rPr lang="en-GB"/>
              <a:t> of phase 1.</a:t>
            </a:r>
            <a:endParaRPr/>
          </a:p>
          <a:p>
            <a:pPr indent="0" lvl="0" marL="0" rtl="0" algn="l">
              <a:lnSpc>
                <a:spcPct val="115000"/>
              </a:lnSpc>
              <a:spcBef>
                <a:spcPts val="1200"/>
              </a:spcBef>
              <a:spcAft>
                <a:spcPts val="0"/>
              </a:spcAft>
              <a:buClr>
                <a:schemeClr val="dk1"/>
              </a:buClr>
              <a:buSzPts val="1100"/>
              <a:buFont typeface="Arial"/>
              <a:buNone/>
            </a:pPr>
            <a:r>
              <a:rPr lang="en-GB"/>
              <a:t>This prototype proves that our core user journeys and exception guardrails work in practice. The income validation checkbox and automated agent-routing rules are already mapped out. Furthermore, all primary pathways are documented as engineering-ready user stories in our backlog. The engineering team can begin development the day we receive budget sign-off.</a:t>
            </a:r>
            <a:endParaRPr/>
          </a:p>
          <a:p>
            <a:pPr indent="0" lvl="0" marL="0" rtl="0" algn="l">
              <a:spcBef>
                <a:spcPts val="120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4097d0ff977_0_2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4097d0ff977_0_2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b="1" lang="en-GB">
                <a:solidFill>
                  <a:schemeClr val="dk1"/>
                </a:solidFill>
              </a:rPr>
              <a:t>Before we ask for formal approval, let’s talk about risk mitigation.</a:t>
            </a:r>
            <a:endParaRPr b="1">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Our highest technical risk is legacy database instability. We have completely mitigated this by enforcing the midnight read-only SFTP file batch sync rather than direct live writes. Our financial risk is the standalone loss on OPP-03 reporting, which we have mitigated by using the massive surplus of OPP-05 to absorb the cost, giving us critical compliance tracking for free.</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Finally, to mitigate any vulnerability or customer hardship risks, the frontend includes automated safety valves. If a customer flags distress, the portal instantly bypasses automated calculations and drops them into a priority manual queue with context provided, ensuring regulatory alignment.</a:t>
            </a:r>
            <a:endParaRPr>
              <a:solidFill>
                <a:schemeClr val="dk1"/>
              </a:solidFill>
            </a:endParaRPr>
          </a:p>
          <a:p>
            <a:pPr indent="0" lvl="0" marL="0" rtl="0" algn="l">
              <a:spcBef>
                <a:spcPts val="120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g4097d0ff977_0_96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6" name="Google Shape;186;g4097d0ff977_0_9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b="1" lang="en-GB">
                <a:solidFill>
                  <a:schemeClr val="dk1"/>
                </a:solidFill>
              </a:rPr>
              <a:t>To wrap up: the data shows that the cost of doing nothing is a continuous drain on our staff and our revenue.</a:t>
            </a:r>
            <a:endParaRPr b="1">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en-GB">
                <a:solidFill>
                  <a:schemeClr val="dk1"/>
                </a:solidFill>
              </a:rPr>
              <a:t>By allocating the £42,320 Phase 1 budget today, we will unblock 2,300 hours of manual agent capacity, secure our legacy systems, and pocket a £24,400 net profit within 12 months. The prototype is validated, the risk is mitigated, and we are ready to build.</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b="1" lang="en-GB">
                <a:solidFill>
                  <a:schemeClr val="dk1"/>
                </a:solidFill>
              </a:rPr>
              <a:t>Thank you, and I will now open the floor to your questions.</a:t>
            </a:r>
            <a:endParaRPr b="1">
              <a:solidFill>
                <a:schemeClr val="dk1"/>
              </a:solidFill>
            </a:endParaRPr>
          </a:p>
          <a:p>
            <a:pPr indent="0" lvl="0" marL="0" rtl="0" algn="l">
              <a:spcBef>
                <a:spcPts val="1200"/>
              </a:spcBef>
              <a:spcAft>
                <a:spcPts val="0"/>
              </a:spcAft>
              <a:buNone/>
            </a:pPr>
            <a:r>
              <a:t/>
            </a:r>
            <a:endParaRPr>
              <a:solidFill>
                <a:schemeClr val="dk1"/>
              </a:solidFil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xml"/><Relationship Id="rId3" Type="http://schemas.openxmlformats.org/officeDocument/2006/relationships/image" Target="../media/image4.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2.png"/><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pic>
        <p:nvPicPr>
          <p:cNvPr descr="I like this, but the project is for an online portal for a bank that automates a lot of the work staff do manually at the moment. I want the theme to fit that a bit better." id="54" name="Google Shape;54;p13"/>
          <p:cNvPicPr preferRelativeResize="0"/>
          <p:nvPr/>
        </p:nvPicPr>
        <p:blipFill>
          <a:blip r:embed="rId3">
            <a:alphaModFix/>
          </a:blip>
          <a:stretch>
            <a:fillRect/>
          </a:stretch>
        </p:blipFill>
        <p:spPr>
          <a:xfrm>
            <a:off x="-35700" y="0"/>
            <a:ext cx="9210675" cy="514350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8" name="Shape 58"/>
        <p:cNvGrpSpPr/>
        <p:nvPr/>
      </p:nvGrpSpPr>
      <p:grpSpPr>
        <a:xfrm>
          <a:off x="0" y="0"/>
          <a:ext cx="0" cy="0"/>
          <a:chOff x="0" y="0"/>
          <a:chExt cx="0" cy="0"/>
        </a:xfrm>
      </p:grpSpPr>
      <p:sp>
        <p:nvSpPr>
          <p:cNvPr id="59" name="Google Shape;59;p14"/>
          <p:cNvSpPr/>
          <p:nvPr/>
        </p:nvSpPr>
        <p:spPr>
          <a:xfrm>
            <a:off x="0" y="0"/>
            <a:ext cx="9144000" cy="762000"/>
          </a:xfrm>
          <a:prstGeom prst="rect">
            <a:avLst/>
          </a:prstGeom>
          <a:solidFill>
            <a:srgbClr val="1C1E21"/>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0" name="Google Shape;60;p14"/>
          <p:cNvSpPr txBox="1"/>
          <p:nvPr/>
        </p:nvSpPr>
        <p:spPr>
          <a:xfrm>
            <a:off x="381000" y="0"/>
            <a:ext cx="8382000" cy="762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2400">
                <a:solidFill>
                  <a:srgbClr val="FFFFFF"/>
                </a:solidFill>
                <a:latin typeface="Roboto"/>
                <a:ea typeface="Roboto"/>
                <a:cs typeface="Roboto"/>
                <a:sym typeface="Roboto"/>
              </a:rPr>
              <a:t>Strategic Recommendations</a:t>
            </a:r>
            <a:endParaRPr b="1" sz="2400">
              <a:solidFill>
                <a:srgbClr val="FFFFFF"/>
              </a:solidFill>
              <a:latin typeface="Roboto"/>
              <a:ea typeface="Roboto"/>
              <a:cs typeface="Roboto"/>
              <a:sym typeface="Roboto"/>
            </a:endParaRPr>
          </a:p>
        </p:txBody>
      </p:sp>
      <p:grpSp>
        <p:nvGrpSpPr>
          <p:cNvPr id="61" name="Google Shape;61;p14"/>
          <p:cNvGrpSpPr/>
          <p:nvPr/>
        </p:nvGrpSpPr>
        <p:grpSpPr>
          <a:xfrm>
            <a:off x="381000" y="1047750"/>
            <a:ext cx="8382000" cy="952500"/>
            <a:chOff x="381000" y="1047750"/>
            <a:chExt cx="8382000" cy="952500"/>
          </a:xfrm>
        </p:grpSpPr>
        <p:sp>
          <p:nvSpPr>
            <p:cNvPr id="62" name="Google Shape;62;p14"/>
            <p:cNvSpPr/>
            <p:nvPr/>
          </p:nvSpPr>
          <p:spPr>
            <a:xfrm>
              <a:off x="381000" y="1047750"/>
              <a:ext cx="8382000" cy="952500"/>
            </a:xfrm>
            <a:prstGeom prst="roundRect">
              <a:avLst>
                <a:gd fmla="val 8000" name="adj"/>
              </a:avLst>
            </a:prstGeom>
            <a:solidFill>
              <a:srgbClr val="F8F9FA"/>
            </a:solidFill>
            <a:ln cap="flat" cmpd="sng" w="9525">
              <a:solidFill>
                <a:srgbClr val="E9ECEF"/>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3" name="Google Shape;63;p14"/>
            <p:cNvSpPr txBox="1"/>
            <p:nvPr/>
          </p:nvSpPr>
          <p:spPr>
            <a:xfrm>
              <a:off x="571500" y="1047750"/>
              <a:ext cx="8001000" cy="952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0" lang="en-GB" sz="1800">
                  <a:solidFill>
                    <a:srgbClr val="1C1E21"/>
                  </a:solidFill>
                  <a:latin typeface="Roboto Medium"/>
                  <a:ea typeface="Roboto Medium"/>
                  <a:cs typeface="Roboto Medium"/>
                  <a:sym typeface="Roboto Medium"/>
                </a:rPr>
                <a:t>Approve immediate development of the </a:t>
              </a:r>
              <a:r>
                <a:rPr b="1" lang="en-GB" sz="1800">
                  <a:solidFill>
                    <a:srgbClr val="0056B3"/>
                  </a:solidFill>
                  <a:latin typeface="Roboto"/>
                  <a:ea typeface="Roboto"/>
                  <a:cs typeface="Roboto"/>
                  <a:sym typeface="Roboto"/>
                </a:rPr>
                <a:t>Phase 1 Portal Bundle</a:t>
              </a:r>
              <a:r>
                <a:rPr b="0" lang="en-GB" sz="1800">
                  <a:solidFill>
                    <a:srgbClr val="1C1E21"/>
                  </a:solidFill>
                  <a:latin typeface="Roboto Medium"/>
                  <a:ea typeface="Roboto Medium"/>
                  <a:cs typeface="Roboto Medium"/>
                  <a:sym typeface="Roboto Medium"/>
                </a:rPr>
                <a:t> (OPP-01, 03, &amp; 05)</a:t>
              </a:r>
              <a:endParaRPr b="0" sz="1800">
                <a:solidFill>
                  <a:srgbClr val="1C1E21"/>
                </a:solidFill>
                <a:latin typeface="Roboto Medium"/>
                <a:ea typeface="Roboto Medium"/>
                <a:cs typeface="Roboto Medium"/>
                <a:sym typeface="Roboto Medium"/>
              </a:endParaRPr>
            </a:p>
          </p:txBody>
        </p:sp>
      </p:grpSp>
      <p:grpSp>
        <p:nvGrpSpPr>
          <p:cNvPr id="64" name="Google Shape;64;p14"/>
          <p:cNvGrpSpPr/>
          <p:nvPr/>
        </p:nvGrpSpPr>
        <p:grpSpPr>
          <a:xfrm>
            <a:off x="381000" y="2190750"/>
            <a:ext cx="8372550" cy="2095500"/>
            <a:chOff x="381000" y="2190750"/>
            <a:chExt cx="8372550" cy="2095500"/>
          </a:xfrm>
        </p:grpSpPr>
        <p:sp>
          <p:nvSpPr>
            <p:cNvPr id="65" name="Google Shape;65;p14"/>
            <p:cNvSpPr/>
            <p:nvPr/>
          </p:nvSpPr>
          <p:spPr>
            <a:xfrm>
              <a:off x="381000" y="2190750"/>
              <a:ext cx="2600400" cy="2095500"/>
            </a:xfrm>
            <a:prstGeom prst="roundRect">
              <a:avLst>
                <a:gd fmla="val 5454" name="adj"/>
              </a:avLst>
            </a:prstGeom>
            <a:solidFill>
              <a:srgbClr val="FFFFFF"/>
            </a:solidFill>
            <a:ln cap="flat" cmpd="sng" w="9525">
              <a:solidFill>
                <a:srgbClr val="DEE2E6"/>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6" name="Google Shape;66;p14"/>
            <p:cNvSpPr txBox="1"/>
            <p:nvPr/>
          </p:nvSpPr>
          <p:spPr>
            <a:xfrm>
              <a:off x="523875" y="2368677"/>
              <a:ext cx="381000" cy="381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GB" sz="2400">
                  <a:solidFill>
                    <a:srgbClr val="0056B3"/>
                  </a:solidFill>
                  <a:latin typeface="Material Icons"/>
                  <a:ea typeface="Material Icons"/>
                  <a:cs typeface="Material Icons"/>
                  <a:sym typeface="Material Icons"/>
                </a:rPr>
                <a:t>engineering</a:t>
              </a:r>
              <a:endParaRPr sz="2400">
                <a:solidFill>
                  <a:srgbClr val="0056B3"/>
                </a:solidFill>
                <a:latin typeface="Material Icons"/>
                <a:ea typeface="Material Icons"/>
                <a:cs typeface="Material Icons"/>
                <a:sym typeface="Material Icons"/>
              </a:endParaRPr>
            </a:p>
          </p:txBody>
        </p:sp>
        <p:sp>
          <p:nvSpPr>
            <p:cNvPr id="67" name="Google Shape;67;p14"/>
            <p:cNvSpPr txBox="1"/>
            <p:nvPr/>
          </p:nvSpPr>
          <p:spPr>
            <a:xfrm>
              <a:off x="523875" y="2809875"/>
              <a:ext cx="2314500" cy="1333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1400">
                  <a:solidFill>
                    <a:srgbClr val="1C1E21"/>
                  </a:solidFill>
                  <a:latin typeface="Roboto"/>
                  <a:ea typeface="Roboto"/>
                  <a:cs typeface="Roboto"/>
                  <a:sym typeface="Roboto"/>
                </a:rPr>
                <a:t>Operational Efficiency</a:t>
              </a:r>
              <a:endParaRPr b="1" sz="1400">
                <a:solidFill>
                  <a:srgbClr val="1C1E21"/>
                </a:solidFill>
                <a:latin typeface="Roboto"/>
                <a:ea typeface="Roboto"/>
                <a:cs typeface="Roboto"/>
                <a:sym typeface="Roboto"/>
              </a:endParaRPr>
            </a:p>
            <a:p>
              <a:pPr indent="0" lvl="0" marL="0" rtl="0" algn="l">
                <a:spcBef>
                  <a:spcPts val="600"/>
                </a:spcBef>
                <a:spcAft>
                  <a:spcPts val="0"/>
                </a:spcAft>
                <a:buNone/>
              </a:pPr>
              <a:r>
                <a:rPr lang="en-GB" sz="1100">
                  <a:solidFill>
                    <a:srgbClr val="495057"/>
                  </a:solidFill>
                  <a:latin typeface="Roboto"/>
                  <a:ea typeface="Roboto"/>
                  <a:cs typeface="Roboto"/>
                  <a:sym typeface="Roboto"/>
                </a:rPr>
                <a:t>Eliminate critical agent labour bottlenecks across fragmented systems.</a:t>
              </a:r>
              <a:endParaRPr sz="1100">
                <a:solidFill>
                  <a:srgbClr val="495057"/>
                </a:solidFill>
                <a:latin typeface="Roboto"/>
                <a:ea typeface="Roboto"/>
                <a:cs typeface="Roboto"/>
                <a:sym typeface="Roboto"/>
              </a:endParaRPr>
            </a:p>
          </p:txBody>
        </p:sp>
        <p:sp>
          <p:nvSpPr>
            <p:cNvPr id="68" name="Google Shape;68;p14"/>
            <p:cNvSpPr/>
            <p:nvPr/>
          </p:nvSpPr>
          <p:spPr>
            <a:xfrm>
              <a:off x="3267075" y="2190750"/>
              <a:ext cx="2600400" cy="2095500"/>
            </a:xfrm>
            <a:prstGeom prst="roundRect">
              <a:avLst>
                <a:gd fmla="val 5454" name="adj"/>
              </a:avLst>
            </a:prstGeom>
            <a:solidFill>
              <a:srgbClr val="FFFFFF"/>
            </a:solidFill>
            <a:ln cap="flat" cmpd="sng" w="9525">
              <a:solidFill>
                <a:srgbClr val="DEE2E6"/>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69" name="Google Shape;69;p14"/>
            <p:cNvSpPr txBox="1"/>
            <p:nvPr/>
          </p:nvSpPr>
          <p:spPr>
            <a:xfrm>
              <a:off x="3409950" y="2368677"/>
              <a:ext cx="381000" cy="381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GB" sz="2400">
                  <a:solidFill>
                    <a:srgbClr val="28A745"/>
                  </a:solidFill>
                  <a:latin typeface="Material Icons"/>
                  <a:ea typeface="Material Icons"/>
                  <a:cs typeface="Material Icons"/>
                  <a:sym typeface="Material Icons"/>
                </a:rPr>
                <a:t>payments</a:t>
              </a:r>
              <a:endParaRPr sz="2400">
                <a:solidFill>
                  <a:srgbClr val="28A745"/>
                </a:solidFill>
                <a:latin typeface="Material Icons"/>
                <a:ea typeface="Material Icons"/>
                <a:cs typeface="Material Icons"/>
                <a:sym typeface="Material Icons"/>
              </a:endParaRPr>
            </a:p>
          </p:txBody>
        </p:sp>
        <p:sp>
          <p:nvSpPr>
            <p:cNvPr id="70" name="Google Shape;70;p14"/>
            <p:cNvSpPr txBox="1"/>
            <p:nvPr/>
          </p:nvSpPr>
          <p:spPr>
            <a:xfrm>
              <a:off x="3409950" y="2809875"/>
              <a:ext cx="2314500" cy="1333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1400">
                  <a:solidFill>
                    <a:srgbClr val="1C1E21"/>
                  </a:solidFill>
                  <a:latin typeface="Roboto"/>
                  <a:ea typeface="Roboto"/>
                  <a:cs typeface="Roboto"/>
                  <a:sym typeface="Roboto"/>
                </a:rPr>
                <a:t>Financial Gain</a:t>
              </a:r>
              <a:endParaRPr b="1" sz="1400">
                <a:solidFill>
                  <a:srgbClr val="1C1E21"/>
                </a:solidFill>
                <a:latin typeface="Roboto"/>
                <a:ea typeface="Roboto"/>
                <a:cs typeface="Roboto"/>
                <a:sym typeface="Roboto"/>
              </a:endParaRPr>
            </a:p>
            <a:p>
              <a:pPr indent="0" lvl="0" marL="0" rtl="0" algn="l">
                <a:spcBef>
                  <a:spcPts val="600"/>
                </a:spcBef>
                <a:spcAft>
                  <a:spcPts val="0"/>
                </a:spcAft>
                <a:buNone/>
              </a:pPr>
              <a:r>
                <a:rPr lang="en-GB" sz="1100">
                  <a:solidFill>
                    <a:srgbClr val="495057"/>
                  </a:solidFill>
                  <a:latin typeface="Roboto"/>
                  <a:ea typeface="Roboto"/>
                  <a:cs typeface="Roboto"/>
                  <a:sym typeface="Roboto"/>
                </a:rPr>
                <a:t>Capture over </a:t>
              </a:r>
              <a:r>
                <a:rPr b="1" lang="en-GB" sz="1100">
                  <a:solidFill>
                    <a:srgbClr val="1C1E21"/>
                  </a:solidFill>
                  <a:latin typeface="Roboto"/>
                  <a:ea typeface="Roboto"/>
                  <a:cs typeface="Roboto"/>
                  <a:sym typeface="Roboto"/>
                </a:rPr>
                <a:t>£24,000</a:t>
              </a:r>
              <a:r>
                <a:rPr lang="en-GB" sz="1100">
                  <a:solidFill>
                    <a:srgbClr val="495057"/>
                  </a:solidFill>
                  <a:latin typeface="Roboto"/>
                  <a:ea typeface="Roboto"/>
                  <a:cs typeface="Roboto"/>
                  <a:sym typeface="Roboto"/>
                </a:rPr>
                <a:t> in net annual benefit.</a:t>
              </a:r>
              <a:endParaRPr sz="1100">
                <a:solidFill>
                  <a:srgbClr val="495057"/>
                </a:solidFill>
                <a:latin typeface="Roboto"/>
                <a:ea typeface="Roboto"/>
                <a:cs typeface="Roboto"/>
                <a:sym typeface="Roboto"/>
              </a:endParaRPr>
            </a:p>
          </p:txBody>
        </p:sp>
        <p:sp>
          <p:nvSpPr>
            <p:cNvPr id="71" name="Google Shape;71;p14"/>
            <p:cNvSpPr/>
            <p:nvPr/>
          </p:nvSpPr>
          <p:spPr>
            <a:xfrm>
              <a:off x="6153150" y="2190750"/>
              <a:ext cx="2600400" cy="2095500"/>
            </a:xfrm>
            <a:prstGeom prst="roundRect">
              <a:avLst>
                <a:gd fmla="val 5454" name="adj"/>
              </a:avLst>
            </a:prstGeom>
            <a:solidFill>
              <a:srgbClr val="FFFFFF"/>
            </a:solidFill>
            <a:ln cap="flat" cmpd="sng" w="9525">
              <a:solidFill>
                <a:srgbClr val="DEE2E6"/>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2" name="Google Shape;72;p14"/>
            <p:cNvSpPr txBox="1"/>
            <p:nvPr/>
          </p:nvSpPr>
          <p:spPr>
            <a:xfrm>
              <a:off x="6296025" y="2368677"/>
              <a:ext cx="381000" cy="3810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lang="en-GB" sz="2400">
                  <a:solidFill>
                    <a:srgbClr val="DC3545"/>
                  </a:solidFill>
                  <a:latin typeface="Material Icons"/>
                  <a:ea typeface="Material Icons"/>
                  <a:cs typeface="Material Icons"/>
                  <a:sym typeface="Material Icons"/>
                </a:rPr>
                <a:t>gavel</a:t>
              </a:r>
              <a:endParaRPr sz="2400">
                <a:solidFill>
                  <a:srgbClr val="DC3545"/>
                </a:solidFill>
                <a:latin typeface="Material Icons"/>
                <a:ea typeface="Material Icons"/>
                <a:cs typeface="Material Icons"/>
                <a:sym typeface="Material Icons"/>
              </a:endParaRPr>
            </a:p>
          </p:txBody>
        </p:sp>
        <p:sp>
          <p:nvSpPr>
            <p:cNvPr id="73" name="Google Shape;73;p14"/>
            <p:cNvSpPr txBox="1"/>
            <p:nvPr/>
          </p:nvSpPr>
          <p:spPr>
            <a:xfrm>
              <a:off x="6296025" y="2809875"/>
              <a:ext cx="2314500" cy="1333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1400">
                  <a:solidFill>
                    <a:srgbClr val="1C1E21"/>
                  </a:solidFill>
                  <a:latin typeface="Roboto"/>
                  <a:ea typeface="Roboto"/>
                  <a:cs typeface="Roboto"/>
                  <a:sym typeface="Roboto"/>
                </a:rPr>
                <a:t>Risk Mitigation</a:t>
              </a:r>
              <a:endParaRPr b="1" sz="1400">
                <a:solidFill>
                  <a:srgbClr val="1C1E21"/>
                </a:solidFill>
                <a:latin typeface="Roboto"/>
                <a:ea typeface="Roboto"/>
                <a:cs typeface="Roboto"/>
                <a:sym typeface="Roboto"/>
              </a:endParaRPr>
            </a:p>
            <a:p>
              <a:pPr indent="0" lvl="0" marL="0" rtl="0" algn="l">
                <a:spcBef>
                  <a:spcPts val="600"/>
                </a:spcBef>
                <a:spcAft>
                  <a:spcPts val="0"/>
                </a:spcAft>
                <a:buNone/>
              </a:pPr>
              <a:r>
                <a:rPr lang="en-GB" sz="1100">
                  <a:solidFill>
                    <a:srgbClr val="495057"/>
                  </a:solidFill>
                  <a:latin typeface="Roboto"/>
                  <a:ea typeface="Roboto"/>
                  <a:cs typeface="Roboto"/>
                  <a:sym typeface="Roboto"/>
                </a:rPr>
                <a:t>Safely absorb long-term compliance reporting costs and reduce audit risks.</a:t>
              </a:r>
              <a:endParaRPr sz="1100">
                <a:solidFill>
                  <a:srgbClr val="495057"/>
                </a:solidFill>
                <a:latin typeface="Roboto"/>
                <a:ea typeface="Roboto"/>
                <a:cs typeface="Roboto"/>
                <a:sym typeface="Roboto"/>
              </a:endParaRPr>
            </a:p>
          </p:txBody>
        </p:sp>
      </p:grpSp>
      <p:sp>
        <p:nvSpPr>
          <p:cNvPr id="74" name="Google Shape;74;p14"/>
          <p:cNvSpPr/>
          <p:nvPr/>
        </p:nvSpPr>
        <p:spPr>
          <a:xfrm>
            <a:off x="381000" y="4572000"/>
            <a:ext cx="8382000" cy="19200"/>
          </a:xfrm>
          <a:prstGeom prst="rect">
            <a:avLst/>
          </a:prstGeom>
          <a:solidFill>
            <a:srgbClr val="E9ECE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75" name="Google Shape;75;p14"/>
          <p:cNvSpPr txBox="1"/>
          <p:nvPr/>
        </p:nvSpPr>
        <p:spPr>
          <a:xfrm>
            <a:off x="381000" y="4667250"/>
            <a:ext cx="8382000" cy="2859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lang="en-GB" sz="1000">
                <a:solidFill>
                  <a:srgbClr val="6C757D"/>
                </a:solidFill>
                <a:latin typeface="Roboto"/>
                <a:ea typeface="Roboto"/>
                <a:cs typeface="Roboto"/>
                <a:sym typeface="Roboto"/>
              </a:rPr>
              <a:t>Smart Recovery Initiative - Discovery Package Output</a:t>
            </a:r>
            <a:endParaRPr sz="1000">
              <a:solidFill>
                <a:srgbClr val="6C757D"/>
              </a:solidFill>
              <a:latin typeface="Roboto"/>
              <a:ea typeface="Roboto"/>
              <a:cs typeface="Roboto"/>
              <a:sym typeface="Roboto"/>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79" name="Shape 79"/>
        <p:cNvGrpSpPr/>
        <p:nvPr/>
      </p:nvGrpSpPr>
      <p:grpSpPr>
        <a:xfrm>
          <a:off x="0" y="0"/>
          <a:ext cx="0" cy="0"/>
          <a:chOff x="0" y="0"/>
          <a:chExt cx="0" cy="0"/>
        </a:xfrm>
      </p:grpSpPr>
      <p:sp>
        <p:nvSpPr>
          <p:cNvPr id="80" name="Google Shape;80;p15"/>
          <p:cNvSpPr/>
          <p:nvPr/>
        </p:nvSpPr>
        <p:spPr>
          <a:xfrm>
            <a:off x="0" y="0"/>
            <a:ext cx="9144000" cy="762000"/>
          </a:xfrm>
          <a:prstGeom prst="rect">
            <a:avLst/>
          </a:prstGeom>
          <a:solidFill>
            <a:srgbClr val="1C1E21"/>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81" name="Google Shape;81;p15"/>
          <p:cNvSpPr txBox="1"/>
          <p:nvPr/>
        </p:nvSpPr>
        <p:spPr>
          <a:xfrm>
            <a:off x="381000" y="0"/>
            <a:ext cx="8382000" cy="762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2400">
                <a:solidFill>
                  <a:srgbClr val="FFFFFF"/>
                </a:solidFill>
                <a:latin typeface="Roboto"/>
                <a:ea typeface="Roboto"/>
                <a:cs typeface="Roboto"/>
                <a:sym typeface="Roboto"/>
              </a:rPr>
              <a:t>The Core Problems</a:t>
            </a:r>
            <a:endParaRPr b="1" sz="2400">
              <a:solidFill>
                <a:srgbClr val="FFFFFF"/>
              </a:solidFill>
              <a:latin typeface="Roboto"/>
              <a:ea typeface="Roboto"/>
              <a:cs typeface="Roboto"/>
              <a:sym typeface="Roboto"/>
            </a:endParaRPr>
          </a:p>
        </p:txBody>
      </p:sp>
      <p:sp>
        <p:nvSpPr>
          <p:cNvPr id="82" name="Google Shape;82;p15"/>
          <p:cNvSpPr/>
          <p:nvPr/>
        </p:nvSpPr>
        <p:spPr>
          <a:xfrm>
            <a:off x="381000" y="4572000"/>
            <a:ext cx="8382000" cy="19200"/>
          </a:xfrm>
          <a:prstGeom prst="rect">
            <a:avLst/>
          </a:prstGeom>
          <a:solidFill>
            <a:srgbClr val="E9ECE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83" name="Google Shape;83;p15"/>
          <p:cNvSpPr txBox="1"/>
          <p:nvPr/>
        </p:nvSpPr>
        <p:spPr>
          <a:xfrm>
            <a:off x="381000" y="4667250"/>
            <a:ext cx="8382000" cy="2859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lang="en-GB" sz="1000">
                <a:solidFill>
                  <a:srgbClr val="6C757D"/>
                </a:solidFill>
                <a:latin typeface="Roboto"/>
                <a:ea typeface="Roboto"/>
                <a:cs typeface="Roboto"/>
                <a:sym typeface="Roboto"/>
              </a:rPr>
              <a:t>Smart Recovery Initiative - Discovery Package Output</a:t>
            </a:r>
            <a:endParaRPr sz="1000">
              <a:solidFill>
                <a:srgbClr val="6C757D"/>
              </a:solidFill>
              <a:latin typeface="Roboto"/>
              <a:ea typeface="Roboto"/>
              <a:cs typeface="Roboto"/>
              <a:sym typeface="Roboto"/>
            </a:endParaRPr>
          </a:p>
        </p:txBody>
      </p:sp>
      <p:grpSp>
        <p:nvGrpSpPr>
          <p:cNvPr id="84" name="Google Shape;84;p15"/>
          <p:cNvGrpSpPr/>
          <p:nvPr/>
        </p:nvGrpSpPr>
        <p:grpSpPr>
          <a:xfrm>
            <a:off x="381000" y="1047750"/>
            <a:ext cx="4095900" cy="1428900"/>
            <a:chOff x="381000" y="1047750"/>
            <a:chExt cx="4095900" cy="1428900"/>
          </a:xfrm>
        </p:grpSpPr>
        <p:sp>
          <p:nvSpPr>
            <p:cNvPr id="85" name="Google Shape;85;p15"/>
            <p:cNvSpPr/>
            <p:nvPr/>
          </p:nvSpPr>
          <p:spPr>
            <a:xfrm>
              <a:off x="381000" y="1047750"/>
              <a:ext cx="4095900" cy="1428900"/>
            </a:xfrm>
            <a:prstGeom prst="roundRect">
              <a:avLst>
                <a:gd fmla="val 8000" name="adj"/>
              </a:avLst>
            </a:prstGeom>
            <a:solidFill>
              <a:srgbClr val="FFFFFF"/>
            </a:solidFill>
            <a:ln cap="flat" cmpd="sng" w="9525">
              <a:solidFill>
                <a:srgbClr val="DEE2E6"/>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86" name="Google Shape;86;p15"/>
            <p:cNvSpPr txBox="1"/>
            <p:nvPr/>
          </p:nvSpPr>
          <p:spPr>
            <a:xfrm>
              <a:off x="523875" y="1190625"/>
              <a:ext cx="3810000" cy="1143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lang="en-GB" sz="1400">
                  <a:solidFill>
                    <a:srgbClr val="1C1E21"/>
                  </a:solidFill>
                  <a:latin typeface="Roboto"/>
                  <a:ea typeface="Roboto"/>
                  <a:cs typeface="Roboto"/>
                  <a:sym typeface="Roboto"/>
                </a:rPr>
                <a:t>The Annual Labor Leak</a:t>
              </a:r>
              <a:endParaRPr b="1" sz="1400">
                <a:solidFill>
                  <a:srgbClr val="1C1E21"/>
                </a:solidFill>
                <a:latin typeface="Roboto"/>
                <a:ea typeface="Roboto"/>
                <a:cs typeface="Roboto"/>
                <a:sym typeface="Roboto"/>
              </a:endParaRPr>
            </a:p>
            <a:p>
              <a:pPr indent="0" lvl="0" marL="0" rtl="0" algn="l">
                <a:spcBef>
                  <a:spcPts val="600"/>
                </a:spcBef>
                <a:spcAft>
                  <a:spcPts val="0"/>
                </a:spcAft>
                <a:buNone/>
              </a:pPr>
              <a:r>
                <a:rPr b="0" lang="en-GB" sz="1100">
                  <a:solidFill>
                    <a:srgbClr val="495057"/>
                  </a:solidFill>
                  <a:latin typeface="Roboto"/>
                  <a:ea typeface="Roboto"/>
                  <a:cs typeface="Roboto"/>
                  <a:sym typeface="Roboto"/>
                </a:rPr>
                <a:t>The manual current state requires exactly </a:t>
              </a:r>
              <a:r>
                <a:rPr b="1" lang="en-GB" sz="1100">
                  <a:solidFill>
                    <a:srgbClr val="1C1E21"/>
                  </a:solidFill>
                  <a:latin typeface="Roboto"/>
                  <a:ea typeface="Roboto"/>
                  <a:cs typeface="Roboto"/>
                  <a:sym typeface="Roboto"/>
                </a:rPr>
                <a:t>2,391.80 hours</a:t>
              </a:r>
              <a:r>
                <a:rPr b="0" lang="en-GB" sz="1100">
                  <a:solidFill>
                    <a:srgbClr val="495057"/>
                  </a:solidFill>
                  <a:latin typeface="Roboto"/>
                  <a:ea typeface="Roboto"/>
                  <a:cs typeface="Roboto"/>
                  <a:sym typeface="Roboto"/>
                </a:rPr>
                <a:t> of manual work annually across routine status checking and administrative follow-up tracking alone.</a:t>
              </a:r>
              <a:endParaRPr b="0" sz="1100">
                <a:solidFill>
                  <a:srgbClr val="495057"/>
                </a:solidFill>
                <a:latin typeface="Roboto"/>
                <a:ea typeface="Roboto"/>
                <a:cs typeface="Roboto"/>
                <a:sym typeface="Roboto"/>
              </a:endParaRPr>
            </a:p>
          </p:txBody>
        </p:sp>
      </p:grpSp>
      <p:grpSp>
        <p:nvGrpSpPr>
          <p:cNvPr id="87" name="Google Shape;87;p15"/>
          <p:cNvGrpSpPr/>
          <p:nvPr/>
        </p:nvGrpSpPr>
        <p:grpSpPr>
          <a:xfrm>
            <a:off x="4667250" y="1047750"/>
            <a:ext cx="4095900" cy="1428900"/>
            <a:chOff x="4667250" y="1047750"/>
            <a:chExt cx="4095900" cy="1428900"/>
          </a:xfrm>
        </p:grpSpPr>
        <p:sp>
          <p:nvSpPr>
            <p:cNvPr id="88" name="Google Shape;88;p15"/>
            <p:cNvSpPr/>
            <p:nvPr/>
          </p:nvSpPr>
          <p:spPr>
            <a:xfrm>
              <a:off x="4667250" y="1047750"/>
              <a:ext cx="4095900" cy="1428900"/>
            </a:xfrm>
            <a:prstGeom prst="roundRect">
              <a:avLst>
                <a:gd fmla="val 8000" name="adj"/>
              </a:avLst>
            </a:prstGeom>
            <a:solidFill>
              <a:srgbClr val="FFFFFF"/>
            </a:solidFill>
            <a:ln cap="flat" cmpd="sng" w="9525">
              <a:solidFill>
                <a:srgbClr val="DEE2E6"/>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89" name="Google Shape;89;p15"/>
            <p:cNvSpPr txBox="1"/>
            <p:nvPr/>
          </p:nvSpPr>
          <p:spPr>
            <a:xfrm>
              <a:off x="4810125" y="1190625"/>
              <a:ext cx="3810000" cy="11430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lang="en-GB" sz="1400">
                  <a:solidFill>
                    <a:srgbClr val="1C1E21"/>
                  </a:solidFill>
                  <a:latin typeface="Roboto"/>
                  <a:ea typeface="Roboto"/>
                  <a:cs typeface="Roboto"/>
                  <a:sym typeface="Roboto"/>
                </a:rPr>
                <a:t>The Financial Burden</a:t>
              </a:r>
              <a:endParaRPr b="1" sz="1400">
                <a:solidFill>
                  <a:srgbClr val="1C1E21"/>
                </a:solidFill>
                <a:latin typeface="Roboto"/>
                <a:ea typeface="Roboto"/>
                <a:cs typeface="Roboto"/>
                <a:sym typeface="Roboto"/>
              </a:endParaRPr>
            </a:p>
            <a:p>
              <a:pPr indent="0" lvl="0" marL="0" rtl="0" algn="l">
                <a:spcBef>
                  <a:spcPts val="600"/>
                </a:spcBef>
                <a:spcAft>
                  <a:spcPts val="0"/>
                </a:spcAft>
                <a:buNone/>
              </a:pPr>
              <a:r>
                <a:rPr b="0" lang="en-GB" sz="1100">
                  <a:solidFill>
                    <a:srgbClr val="495057"/>
                  </a:solidFill>
                  <a:latin typeface="Roboto"/>
                  <a:ea typeface="Roboto"/>
                  <a:cs typeface="Roboto"/>
                  <a:sym typeface="Roboto"/>
                </a:rPr>
                <a:t>At our standard baseline cost, this operational drain drains </a:t>
              </a:r>
              <a:r>
                <a:rPr b="1" lang="en-GB" sz="1100">
                  <a:solidFill>
                    <a:srgbClr val="1C1E21"/>
                  </a:solidFill>
                  <a:latin typeface="Roboto"/>
                  <a:ea typeface="Roboto"/>
                  <a:cs typeface="Roboto"/>
                  <a:sym typeface="Roboto"/>
                </a:rPr>
                <a:t>£52,619.60</a:t>
              </a:r>
              <a:r>
                <a:rPr b="0" lang="en-GB" sz="1100">
                  <a:solidFill>
                    <a:srgbClr val="495057"/>
                  </a:solidFill>
                  <a:latin typeface="Roboto"/>
                  <a:ea typeface="Roboto"/>
                  <a:cs typeface="Roboto"/>
                  <a:sym typeface="Roboto"/>
                </a:rPr>
                <a:t> in human resource capacity every single year.</a:t>
              </a:r>
              <a:endParaRPr b="0" sz="1100">
                <a:solidFill>
                  <a:srgbClr val="495057"/>
                </a:solidFill>
                <a:latin typeface="Roboto"/>
                <a:ea typeface="Roboto"/>
                <a:cs typeface="Roboto"/>
                <a:sym typeface="Roboto"/>
              </a:endParaRPr>
            </a:p>
          </p:txBody>
        </p:sp>
      </p:grpSp>
      <p:grpSp>
        <p:nvGrpSpPr>
          <p:cNvPr id="90" name="Google Shape;90;p15"/>
          <p:cNvGrpSpPr/>
          <p:nvPr/>
        </p:nvGrpSpPr>
        <p:grpSpPr>
          <a:xfrm>
            <a:off x="381000" y="2667000"/>
            <a:ext cx="4095900" cy="1714500"/>
            <a:chOff x="381000" y="2667000"/>
            <a:chExt cx="4095900" cy="1714500"/>
          </a:xfrm>
        </p:grpSpPr>
        <p:sp>
          <p:nvSpPr>
            <p:cNvPr id="91" name="Google Shape;91;p15"/>
            <p:cNvSpPr/>
            <p:nvPr/>
          </p:nvSpPr>
          <p:spPr>
            <a:xfrm>
              <a:off x="381000" y="2667000"/>
              <a:ext cx="4095900" cy="1714500"/>
            </a:xfrm>
            <a:prstGeom prst="roundRect">
              <a:avLst>
                <a:gd fmla="val 6666" name="adj"/>
              </a:avLst>
            </a:prstGeom>
            <a:solidFill>
              <a:srgbClr val="FFFFFF"/>
            </a:solidFill>
            <a:ln cap="flat" cmpd="sng" w="9525">
              <a:solidFill>
                <a:srgbClr val="DEE2E6"/>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2" name="Google Shape;92;p15"/>
            <p:cNvSpPr txBox="1"/>
            <p:nvPr/>
          </p:nvSpPr>
          <p:spPr>
            <a:xfrm>
              <a:off x="523875" y="2809875"/>
              <a:ext cx="3810000" cy="14289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lang="en-GB" sz="1400">
                  <a:solidFill>
                    <a:srgbClr val="1C1E21"/>
                  </a:solidFill>
                  <a:latin typeface="Roboto"/>
                  <a:ea typeface="Roboto"/>
                  <a:cs typeface="Roboto"/>
                  <a:sym typeface="Roboto"/>
                </a:rPr>
                <a:t>The Revenue Leakage Layer</a:t>
              </a:r>
              <a:endParaRPr b="1" sz="1400">
                <a:solidFill>
                  <a:srgbClr val="1C1E21"/>
                </a:solidFill>
                <a:latin typeface="Roboto"/>
                <a:ea typeface="Roboto"/>
                <a:cs typeface="Roboto"/>
                <a:sym typeface="Roboto"/>
              </a:endParaRPr>
            </a:p>
            <a:p>
              <a:pPr indent="0" lvl="0" marL="0" rtl="0" algn="l">
                <a:spcBef>
                  <a:spcPts val="600"/>
                </a:spcBef>
                <a:spcAft>
                  <a:spcPts val="0"/>
                </a:spcAft>
                <a:buNone/>
              </a:pPr>
              <a:r>
                <a:rPr b="0" lang="en-GB" sz="1100">
                  <a:solidFill>
                    <a:srgbClr val="495057"/>
                  </a:solidFill>
                  <a:latin typeface="Roboto"/>
                  <a:ea typeface="Roboto"/>
                  <a:cs typeface="Roboto"/>
                  <a:sym typeface="Roboto"/>
                </a:rPr>
                <a:t>The bank suffers an extra </a:t>
              </a:r>
              <a:r>
                <a:rPr b="1" lang="en-GB" sz="1100">
                  <a:solidFill>
                    <a:srgbClr val="DC3545"/>
                  </a:solidFill>
                  <a:latin typeface="Roboto"/>
                  <a:ea typeface="Roboto"/>
                  <a:cs typeface="Roboto"/>
                  <a:sym typeface="Roboto"/>
                </a:rPr>
                <a:t>£10,617.37</a:t>
              </a:r>
              <a:r>
                <a:rPr b="0" lang="en-GB" sz="1100">
                  <a:solidFill>
                    <a:srgbClr val="495057"/>
                  </a:solidFill>
                  <a:latin typeface="Roboto"/>
                  <a:ea typeface="Roboto"/>
                  <a:cs typeface="Roboto"/>
                  <a:sym typeface="Roboto"/>
                </a:rPr>
                <a:t> in direct revenue leakage annually from active arrangement collapses because overwhelmed agents lack capacity to follow up.</a:t>
              </a:r>
              <a:endParaRPr b="0" sz="1100">
                <a:solidFill>
                  <a:srgbClr val="495057"/>
                </a:solidFill>
                <a:latin typeface="Roboto"/>
                <a:ea typeface="Roboto"/>
                <a:cs typeface="Roboto"/>
                <a:sym typeface="Roboto"/>
              </a:endParaRPr>
            </a:p>
          </p:txBody>
        </p:sp>
      </p:grpSp>
      <p:grpSp>
        <p:nvGrpSpPr>
          <p:cNvPr id="93" name="Google Shape;93;p15"/>
          <p:cNvGrpSpPr/>
          <p:nvPr/>
        </p:nvGrpSpPr>
        <p:grpSpPr>
          <a:xfrm>
            <a:off x="4667250" y="2667000"/>
            <a:ext cx="4095900" cy="1714500"/>
            <a:chOff x="4667250" y="2667000"/>
            <a:chExt cx="4095900" cy="1714500"/>
          </a:xfrm>
        </p:grpSpPr>
        <p:sp>
          <p:nvSpPr>
            <p:cNvPr id="94" name="Google Shape;94;p15"/>
            <p:cNvSpPr/>
            <p:nvPr/>
          </p:nvSpPr>
          <p:spPr>
            <a:xfrm>
              <a:off x="4667250" y="2667000"/>
              <a:ext cx="4095900" cy="1714500"/>
            </a:xfrm>
            <a:prstGeom prst="roundRect">
              <a:avLst>
                <a:gd fmla="val 6666" name="adj"/>
              </a:avLst>
            </a:prstGeom>
            <a:solidFill>
              <a:srgbClr val="FFFFFF"/>
            </a:solidFill>
            <a:ln cap="flat" cmpd="sng" w="9525">
              <a:solidFill>
                <a:srgbClr val="DEE2E6"/>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95" name="Google Shape;95;p15"/>
            <p:cNvSpPr txBox="1"/>
            <p:nvPr/>
          </p:nvSpPr>
          <p:spPr>
            <a:xfrm>
              <a:off x="4810125" y="2809875"/>
              <a:ext cx="3810000" cy="1428900"/>
            </a:xfrm>
            <a:prstGeom prst="rect">
              <a:avLst/>
            </a:prstGeom>
            <a:solidFill>
              <a:srgbClr val="000000">
                <a:alpha val="0"/>
              </a:srgbClr>
            </a:solidFill>
            <a:ln>
              <a:noFill/>
            </a:ln>
          </p:spPr>
          <p:txBody>
            <a:bodyPr anchorCtr="0" anchor="t" bIns="0" lIns="0" spcFirstLastPara="1" rIns="0" wrap="square" tIns="0">
              <a:noAutofit/>
            </a:bodyPr>
            <a:lstStyle/>
            <a:p>
              <a:pPr indent="0" lvl="0" marL="0" rtl="0" algn="l">
                <a:spcBef>
                  <a:spcPts val="0"/>
                </a:spcBef>
                <a:spcAft>
                  <a:spcPts val="0"/>
                </a:spcAft>
                <a:buNone/>
              </a:pPr>
              <a:r>
                <a:rPr b="1" lang="en-GB" sz="1400">
                  <a:solidFill>
                    <a:srgbClr val="1C1E21"/>
                  </a:solidFill>
                  <a:latin typeface="Roboto"/>
                  <a:ea typeface="Roboto"/>
                  <a:cs typeface="Roboto"/>
                  <a:sym typeface="Roboto"/>
                </a:rPr>
                <a:t>The Process Breakdowns</a:t>
              </a:r>
              <a:endParaRPr b="1" sz="1400">
                <a:solidFill>
                  <a:srgbClr val="1C1E21"/>
                </a:solidFill>
                <a:latin typeface="Roboto"/>
                <a:ea typeface="Roboto"/>
                <a:cs typeface="Roboto"/>
                <a:sym typeface="Roboto"/>
              </a:endParaRPr>
            </a:p>
            <a:p>
              <a:pPr indent="-292100" lvl="0" marL="457200" rtl="0" algn="l">
                <a:spcBef>
                  <a:spcPts val="600"/>
                </a:spcBef>
                <a:spcAft>
                  <a:spcPts val="0"/>
                </a:spcAft>
                <a:buClr>
                  <a:srgbClr val="495057"/>
                </a:buClr>
                <a:buSzPts val="1000"/>
                <a:buFont typeface="Roboto"/>
                <a:buChar char="●"/>
              </a:pPr>
              <a:r>
                <a:rPr b="1" lang="en-GB" sz="1000">
                  <a:solidFill>
                    <a:srgbClr val="1C1E21"/>
                  </a:solidFill>
                  <a:latin typeface="Roboto"/>
                  <a:ea typeface="Roboto"/>
                  <a:cs typeface="Roboto"/>
                  <a:sym typeface="Roboto"/>
                </a:rPr>
                <a:t>OPP-01:</a:t>
              </a:r>
              <a:r>
                <a:rPr b="0" lang="en-GB" sz="1000">
                  <a:solidFill>
                    <a:srgbClr val="495057"/>
                  </a:solidFill>
                  <a:latin typeface="Roboto"/>
                  <a:ea typeface="Roboto"/>
                  <a:cs typeface="Roboto"/>
                  <a:sym typeface="Roboto"/>
                </a:rPr>
                <a:t> 1,269.40 hours on status checks.</a:t>
              </a:r>
              <a:endParaRPr b="0" sz="1000">
                <a:solidFill>
                  <a:srgbClr val="495057"/>
                </a:solidFill>
                <a:latin typeface="Roboto"/>
                <a:ea typeface="Roboto"/>
                <a:cs typeface="Roboto"/>
                <a:sym typeface="Roboto"/>
              </a:endParaRPr>
            </a:p>
            <a:p>
              <a:pPr indent="-292100" lvl="0" marL="457200" rtl="0" algn="l">
                <a:spcBef>
                  <a:spcPts val="400"/>
                </a:spcBef>
                <a:spcAft>
                  <a:spcPts val="0"/>
                </a:spcAft>
                <a:buClr>
                  <a:srgbClr val="495057"/>
                </a:buClr>
                <a:buSzPts val="1000"/>
                <a:buFont typeface="Roboto"/>
                <a:buChar char="●"/>
              </a:pPr>
              <a:r>
                <a:rPr b="1" lang="en-GB" sz="1000">
                  <a:solidFill>
                    <a:srgbClr val="1C1E21"/>
                  </a:solidFill>
                  <a:latin typeface="Roboto"/>
                  <a:ea typeface="Roboto"/>
                  <a:cs typeface="Roboto"/>
                  <a:sym typeface="Roboto"/>
                </a:rPr>
                <a:t>OPP-05:</a:t>
              </a:r>
              <a:r>
                <a:rPr b="0" lang="en-GB" sz="1000">
                  <a:solidFill>
                    <a:srgbClr val="495057"/>
                  </a:solidFill>
                  <a:latin typeface="Roboto"/>
                  <a:ea typeface="Roboto"/>
                  <a:cs typeface="Roboto"/>
                  <a:sym typeface="Roboto"/>
                </a:rPr>
                <a:t> 1,122.40 hours on follow-up scheduling.</a:t>
              </a:r>
              <a:endParaRPr b="0" sz="1000">
                <a:solidFill>
                  <a:srgbClr val="495057"/>
                </a:solidFill>
                <a:latin typeface="Roboto"/>
                <a:ea typeface="Roboto"/>
                <a:cs typeface="Roboto"/>
                <a:sym typeface="Roboto"/>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99" name="Shape 99"/>
        <p:cNvGrpSpPr/>
        <p:nvPr/>
      </p:nvGrpSpPr>
      <p:grpSpPr>
        <a:xfrm>
          <a:off x="0" y="0"/>
          <a:ext cx="0" cy="0"/>
          <a:chOff x="0" y="0"/>
          <a:chExt cx="0" cy="0"/>
        </a:xfrm>
      </p:grpSpPr>
      <p:sp>
        <p:nvSpPr>
          <p:cNvPr id="100" name="Google Shape;100;p16"/>
          <p:cNvSpPr/>
          <p:nvPr/>
        </p:nvSpPr>
        <p:spPr>
          <a:xfrm>
            <a:off x="0" y="0"/>
            <a:ext cx="9144000" cy="762000"/>
          </a:xfrm>
          <a:prstGeom prst="rect">
            <a:avLst/>
          </a:prstGeom>
          <a:solidFill>
            <a:srgbClr val="1C1E21"/>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1" name="Google Shape;101;p16"/>
          <p:cNvSpPr txBox="1"/>
          <p:nvPr/>
        </p:nvSpPr>
        <p:spPr>
          <a:xfrm>
            <a:off x="381000" y="0"/>
            <a:ext cx="8382000" cy="762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2400">
                <a:solidFill>
                  <a:srgbClr val="FFFFFF"/>
                </a:solidFill>
                <a:latin typeface="Roboto"/>
                <a:ea typeface="Roboto"/>
                <a:cs typeface="Roboto"/>
                <a:sym typeface="Roboto"/>
              </a:rPr>
              <a:t>Discovery</a:t>
            </a:r>
            <a:r>
              <a:rPr b="1" lang="en-GB" sz="2400">
                <a:solidFill>
                  <a:srgbClr val="FFFFFF"/>
                </a:solidFill>
                <a:latin typeface="Roboto"/>
                <a:ea typeface="Roboto"/>
                <a:cs typeface="Roboto"/>
                <a:sym typeface="Roboto"/>
              </a:rPr>
              <a:t> Evidence and Pain Points</a:t>
            </a:r>
            <a:endParaRPr b="1" sz="2400">
              <a:solidFill>
                <a:srgbClr val="FFFFFF"/>
              </a:solidFill>
              <a:latin typeface="Roboto"/>
              <a:ea typeface="Roboto"/>
              <a:cs typeface="Roboto"/>
              <a:sym typeface="Roboto"/>
            </a:endParaRPr>
          </a:p>
        </p:txBody>
      </p:sp>
      <p:sp>
        <p:nvSpPr>
          <p:cNvPr id="102" name="Google Shape;102;p16"/>
          <p:cNvSpPr/>
          <p:nvPr/>
        </p:nvSpPr>
        <p:spPr>
          <a:xfrm>
            <a:off x="381000" y="4572000"/>
            <a:ext cx="8382000" cy="19200"/>
          </a:xfrm>
          <a:prstGeom prst="rect">
            <a:avLst/>
          </a:prstGeom>
          <a:solidFill>
            <a:srgbClr val="E9ECE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3" name="Google Shape;103;p16"/>
          <p:cNvSpPr txBox="1"/>
          <p:nvPr/>
        </p:nvSpPr>
        <p:spPr>
          <a:xfrm>
            <a:off x="381000" y="4667250"/>
            <a:ext cx="8382000" cy="2859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lang="en-GB" sz="1000">
                <a:solidFill>
                  <a:srgbClr val="6C757D"/>
                </a:solidFill>
                <a:latin typeface="Roboto"/>
                <a:ea typeface="Roboto"/>
                <a:cs typeface="Roboto"/>
                <a:sym typeface="Roboto"/>
              </a:rPr>
              <a:t>Smart Recovery Initiative - Discovery Package Output</a:t>
            </a:r>
            <a:endParaRPr sz="1000">
              <a:solidFill>
                <a:srgbClr val="6C757D"/>
              </a:solidFill>
              <a:latin typeface="Roboto"/>
              <a:ea typeface="Roboto"/>
              <a:cs typeface="Roboto"/>
              <a:sym typeface="Roboto"/>
            </a:endParaRPr>
          </a:p>
        </p:txBody>
      </p:sp>
      <p:grpSp>
        <p:nvGrpSpPr>
          <p:cNvPr id="104" name="Google Shape;104;p16"/>
          <p:cNvGrpSpPr/>
          <p:nvPr/>
        </p:nvGrpSpPr>
        <p:grpSpPr>
          <a:xfrm>
            <a:off x="381000" y="952500"/>
            <a:ext cx="4095900" cy="1428900"/>
            <a:chOff x="381000" y="952500"/>
            <a:chExt cx="4095900" cy="1428900"/>
          </a:xfrm>
        </p:grpSpPr>
        <p:sp>
          <p:nvSpPr>
            <p:cNvPr id="105" name="Google Shape;105;p16"/>
            <p:cNvSpPr/>
            <p:nvPr/>
          </p:nvSpPr>
          <p:spPr>
            <a:xfrm>
              <a:off x="381000" y="952500"/>
              <a:ext cx="4095900" cy="1428900"/>
            </a:xfrm>
            <a:prstGeom prst="roundRect">
              <a:avLst>
                <a:gd fmla="val 8000" name="adj"/>
              </a:avLst>
            </a:prstGeom>
            <a:solidFill>
              <a:srgbClr val="FFFFFF"/>
            </a:solidFill>
            <a:ln cap="flat" cmpd="sng" w="9525">
              <a:solidFill>
                <a:srgbClr val="DEE2E6"/>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6" name="Google Shape;106;p16"/>
            <p:cNvSpPr txBox="1"/>
            <p:nvPr/>
          </p:nvSpPr>
          <p:spPr>
            <a:xfrm>
              <a:off x="523875" y="1095375"/>
              <a:ext cx="3810000" cy="1143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1400">
                  <a:solidFill>
                    <a:srgbClr val="1C1E21"/>
                  </a:solidFill>
                  <a:latin typeface="Roboto"/>
                  <a:ea typeface="Roboto"/>
                  <a:cs typeface="Roboto"/>
                  <a:sym typeface="Roboto"/>
                </a:rPr>
                <a:t>Information Asymmetry</a:t>
              </a:r>
              <a:endParaRPr b="1" sz="1400">
                <a:solidFill>
                  <a:srgbClr val="1C1E21"/>
                </a:solidFill>
                <a:latin typeface="Roboto"/>
                <a:ea typeface="Roboto"/>
                <a:cs typeface="Roboto"/>
                <a:sym typeface="Roboto"/>
              </a:endParaRPr>
            </a:p>
            <a:p>
              <a:pPr indent="0" lvl="0" marL="0" rtl="0" algn="l">
                <a:spcBef>
                  <a:spcPts val="600"/>
                </a:spcBef>
                <a:spcAft>
                  <a:spcPts val="0"/>
                </a:spcAft>
                <a:buNone/>
              </a:pPr>
              <a:r>
                <a:rPr b="0" lang="en-GB" sz="1100">
                  <a:solidFill>
                    <a:srgbClr val="495057"/>
                  </a:solidFill>
                  <a:latin typeface="Roboto"/>
                  <a:ea typeface="Roboto"/>
                  <a:cs typeface="Roboto"/>
                  <a:sym typeface="Roboto"/>
                </a:rPr>
                <a:t>Customers have no self-service visibility, forcing high volumes of simple inbound balance inquiries.</a:t>
              </a:r>
              <a:endParaRPr b="0" sz="1100">
                <a:solidFill>
                  <a:srgbClr val="495057"/>
                </a:solidFill>
                <a:latin typeface="Roboto"/>
                <a:ea typeface="Roboto"/>
                <a:cs typeface="Roboto"/>
                <a:sym typeface="Roboto"/>
              </a:endParaRPr>
            </a:p>
          </p:txBody>
        </p:sp>
      </p:grpSp>
      <p:grpSp>
        <p:nvGrpSpPr>
          <p:cNvPr id="107" name="Google Shape;107;p16"/>
          <p:cNvGrpSpPr/>
          <p:nvPr/>
        </p:nvGrpSpPr>
        <p:grpSpPr>
          <a:xfrm>
            <a:off x="4667250" y="952500"/>
            <a:ext cx="4095900" cy="1428900"/>
            <a:chOff x="4667250" y="952500"/>
            <a:chExt cx="4095900" cy="1428900"/>
          </a:xfrm>
        </p:grpSpPr>
        <p:sp>
          <p:nvSpPr>
            <p:cNvPr id="108" name="Google Shape;108;p16"/>
            <p:cNvSpPr/>
            <p:nvPr/>
          </p:nvSpPr>
          <p:spPr>
            <a:xfrm>
              <a:off x="4667250" y="952500"/>
              <a:ext cx="4095900" cy="1428900"/>
            </a:xfrm>
            <a:prstGeom prst="roundRect">
              <a:avLst>
                <a:gd fmla="val 8000" name="adj"/>
              </a:avLst>
            </a:prstGeom>
            <a:solidFill>
              <a:srgbClr val="FFFFFF"/>
            </a:solidFill>
            <a:ln cap="flat" cmpd="sng" w="9525">
              <a:solidFill>
                <a:srgbClr val="DEE2E6"/>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09" name="Google Shape;109;p16"/>
            <p:cNvSpPr txBox="1"/>
            <p:nvPr/>
          </p:nvSpPr>
          <p:spPr>
            <a:xfrm>
              <a:off x="4810125" y="1095375"/>
              <a:ext cx="3810000" cy="1143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1400">
                  <a:solidFill>
                    <a:srgbClr val="1C1E21"/>
                  </a:solidFill>
                  <a:latin typeface="Roboto"/>
                  <a:ea typeface="Roboto"/>
                  <a:cs typeface="Roboto"/>
                  <a:sym typeface="Roboto"/>
                </a:rPr>
                <a:t>The Follow-Up Black Hole</a:t>
              </a:r>
              <a:endParaRPr b="1" sz="1400">
                <a:solidFill>
                  <a:srgbClr val="1C1E21"/>
                </a:solidFill>
                <a:latin typeface="Roboto"/>
                <a:ea typeface="Roboto"/>
                <a:cs typeface="Roboto"/>
                <a:sym typeface="Roboto"/>
              </a:endParaRPr>
            </a:p>
            <a:p>
              <a:pPr indent="0" lvl="0" marL="0" rtl="0" algn="l">
                <a:spcBef>
                  <a:spcPts val="600"/>
                </a:spcBef>
                <a:spcAft>
                  <a:spcPts val="0"/>
                </a:spcAft>
                <a:buNone/>
              </a:pPr>
              <a:r>
                <a:rPr b="0" lang="en-GB" sz="1100">
                  <a:solidFill>
                    <a:srgbClr val="495057"/>
                  </a:solidFill>
                  <a:latin typeface="Roboto"/>
                  <a:ea typeface="Roboto"/>
                  <a:cs typeface="Roboto"/>
                  <a:sym typeface="Roboto"/>
                </a:rPr>
                <a:t>Broken promises to pay fall through the cracks because agents lack an automated scheduling mechanism to track and match payments.</a:t>
              </a:r>
              <a:endParaRPr b="0" sz="1100">
                <a:solidFill>
                  <a:srgbClr val="495057"/>
                </a:solidFill>
                <a:latin typeface="Roboto"/>
                <a:ea typeface="Roboto"/>
                <a:cs typeface="Roboto"/>
                <a:sym typeface="Roboto"/>
              </a:endParaRPr>
            </a:p>
          </p:txBody>
        </p:sp>
      </p:grpSp>
      <p:grpSp>
        <p:nvGrpSpPr>
          <p:cNvPr id="110" name="Google Shape;110;p16"/>
          <p:cNvGrpSpPr/>
          <p:nvPr/>
        </p:nvGrpSpPr>
        <p:grpSpPr>
          <a:xfrm>
            <a:off x="381000" y="2571750"/>
            <a:ext cx="4095900" cy="1714500"/>
            <a:chOff x="381000" y="2571750"/>
            <a:chExt cx="4095900" cy="1714500"/>
          </a:xfrm>
        </p:grpSpPr>
        <p:sp>
          <p:nvSpPr>
            <p:cNvPr id="111" name="Google Shape;111;p16"/>
            <p:cNvSpPr/>
            <p:nvPr/>
          </p:nvSpPr>
          <p:spPr>
            <a:xfrm>
              <a:off x="381000" y="2571750"/>
              <a:ext cx="4095900" cy="1714500"/>
            </a:xfrm>
            <a:prstGeom prst="roundRect">
              <a:avLst>
                <a:gd fmla="val 6666" name="adj"/>
              </a:avLst>
            </a:prstGeom>
            <a:solidFill>
              <a:srgbClr val="FFFFFF"/>
            </a:solidFill>
            <a:ln cap="flat" cmpd="sng" w="9525">
              <a:solidFill>
                <a:srgbClr val="DEE2E6"/>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2" name="Google Shape;112;p16"/>
            <p:cNvSpPr txBox="1"/>
            <p:nvPr/>
          </p:nvSpPr>
          <p:spPr>
            <a:xfrm>
              <a:off x="523875" y="2714625"/>
              <a:ext cx="3810000" cy="14289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1400">
                  <a:solidFill>
                    <a:srgbClr val="1C1E21"/>
                  </a:solidFill>
                  <a:latin typeface="Roboto"/>
                  <a:ea typeface="Roboto"/>
                  <a:cs typeface="Roboto"/>
                  <a:sym typeface="Roboto"/>
                </a:rPr>
                <a:t>The Technical Reality</a:t>
              </a:r>
              <a:endParaRPr b="1" sz="1400">
                <a:solidFill>
                  <a:srgbClr val="1C1E21"/>
                </a:solidFill>
                <a:latin typeface="Roboto"/>
                <a:ea typeface="Roboto"/>
                <a:cs typeface="Roboto"/>
                <a:sym typeface="Roboto"/>
              </a:endParaRPr>
            </a:p>
            <a:p>
              <a:pPr indent="0" lvl="0" marL="0" rtl="0" algn="l">
                <a:spcBef>
                  <a:spcPts val="600"/>
                </a:spcBef>
                <a:spcAft>
                  <a:spcPts val="0"/>
                </a:spcAft>
                <a:buNone/>
              </a:pPr>
              <a:r>
                <a:rPr b="0" lang="en-GB" sz="1100">
                  <a:solidFill>
                    <a:srgbClr val="495057"/>
                  </a:solidFill>
                  <a:latin typeface="Roboto"/>
                  <a:ea typeface="Roboto"/>
                  <a:cs typeface="Roboto"/>
                  <a:sym typeface="Roboto"/>
                </a:rPr>
                <a:t>The current system relies on manual tracking sheets and fragmented logs, leaving zero audit trails for compliance.</a:t>
              </a:r>
              <a:endParaRPr b="0" sz="1100">
                <a:solidFill>
                  <a:srgbClr val="495057"/>
                </a:solidFill>
                <a:latin typeface="Roboto"/>
                <a:ea typeface="Roboto"/>
                <a:cs typeface="Roboto"/>
                <a:sym typeface="Roboto"/>
              </a:endParaRPr>
            </a:p>
          </p:txBody>
        </p:sp>
      </p:grpSp>
      <p:grpSp>
        <p:nvGrpSpPr>
          <p:cNvPr id="113" name="Google Shape;113;p16"/>
          <p:cNvGrpSpPr/>
          <p:nvPr/>
        </p:nvGrpSpPr>
        <p:grpSpPr>
          <a:xfrm>
            <a:off x="4667250" y="2571750"/>
            <a:ext cx="4095900" cy="1714500"/>
            <a:chOff x="4667250" y="2571750"/>
            <a:chExt cx="4095900" cy="1714500"/>
          </a:xfrm>
        </p:grpSpPr>
        <p:sp>
          <p:nvSpPr>
            <p:cNvPr id="114" name="Google Shape;114;p16"/>
            <p:cNvSpPr/>
            <p:nvPr/>
          </p:nvSpPr>
          <p:spPr>
            <a:xfrm>
              <a:off x="4667250" y="2571750"/>
              <a:ext cx="4095900" cy="1714500"/>
            </a:xfrm>
            <a:prstGeom prst="roundRect">
              <a:avLst>
                <a:gd fmla="val 6666" name="adj"/>
              </a:avLst>
            </a:prstGeom>
            <a:solidFill>
              <a:srgbClr val="F8F9FA"/>
            </a:solidFill>
            <a:ln cap="flat" cmpd="sng" w="9525">
              <a:solidFill>
                <a:srgbClr val="0056B3"/>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15" name="Google Shape;115;p16"/>
            <p:cNvSpPr txBox="1"/>
            <p:nvPr/>
          </p:nvSpPr>
          <p:spPr>
            <a:xfrm>
              <a:off x="4810125" y="2714625"/>
              <a:ext cx="3810000" cy="14289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GB" sz="1400">
                  <a:solidFill>
                    <a:srgbClr val="0056B3"/>
                  </a:solidFill>
                  <a:latin typeface="Roboto"/>
                  <a:ea typeface="Roboto"/>
                  <a:cs typeface="Roboto"/>
                  <a:sym typeface="Roboto"/>
                </a:rPr>
                <a:t>User Story Alignment</a:t>
              </a:r>
              <a:endParaRPr b="1" sz="1400">
                <a:solidFill>
                  <a:srgbClr val="0056B3"/>
                </a:solidFill>
                <a:latin typeface="Roboto"/>
                <a:ea typeface="Roboto"/>
                <a:cs typeface="Roboto"/>
                <a:sym typeface="Roboto"/>
              </a:endParaRPr>
            </a:p>
            <a:p>
              <a:pPr indent="0" lvl="0" marL="0" rtl="0" algn="l">
                <a:spcBef>
                  <a:spcPts val="600"/>
                </a:spcBef>
                <a:spcAft>
                  <a:spcPts val="0"/>
                </a:spcAft>
                <a:buNone/>
              </a:pPr>
              <a:r>
                <a:rPr b="0" lang="en-GB" sz="1100">
                  <a:solidFill>
                    <a:srgbClr val="495057"/>
                  </a:solidFill>
                  <a:latin typeface="Roboto"/>
                  <a:ea typeface="Roboto"/>
                  <a:cs typeface="Roboto"/>
                  <a:sym typeface="Roboto"/>
                </a:rPr>
                <a:t>User research shows an immediate need for an identity-verified portal to systematically handle routine interactions.</a:t>
              </a:r>
              <a:endParaRPr b="0" sz="1100">
                <a:solidFill>
                  <a:srgbClr val="495057"/>
                </a:solidFill>
                <a:latin typeface="Roboto"/>
                <a:ea typeface="Roboto"/>
                <a:cs typeface="Roboto"/>
                <a:sym typeface="Roboto"/>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19" name="Shape 119"/>
        <p:cNvGrpSpPr/>
        <p:nvPr/>
      </p:nvGrpSpPr>
      <p:grpSpPr>
        <a:xfrm>
          <a:off x="0" y="0"/>
          <a:ext cx="0" cy="0"/>
          <a:chOff x="0" y="0"/>
          <a:chExt cx="0" cy="0"/>
        </a:xfrm>
      </p:grpSpPr>
      <p:sp>
        <p:nvSpPr>
          <p:cNvPr id="120" name="Google Shape;120;p17"/>
          <p:cNvSpPr/>
          <p:nvPr/>
        </p:nvSpPr>
        <p:spPr>
          <a:xfrm>
            <a:off x="0" y="0"/>
            <a:ext cx="9144000" cy="762000"/>
          </a:xfrm>
          <a:prstGeom prst="rect">
            <a:avLst/>
          </a:prstGeom>
          <a:solidFill>
            <a:srgbClr val="1C1E21"/>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21" name="Google Shape;121;p17"/>
          <p:cNvSpPr txBox="1"/>
          <p:nvPr/>
        </p:nvSpPr>
        <p:spPr>
          <a:xfrm>
            <a:off x="381000" y="0"/>
            <a:ext cx="8382000" cy="762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2400">
                <a:solidFill>
                  <a:srgbClr val="FFFFFF"/>
                </a:solidFill>
                <a:latin typeface="Roboto"/>
                <a:ea typeface="Roboto"/>
                <a:cs typeface="Roboto"/>
                <a:sym typeface="Roboto"/>
              </a:rPr>
              <a:t>ROI</a:t>
            </a:r>
            <a:endParaRPr b="1" sz="2400">
              <a:solidFill>
                <a:srgbClr val="FFFFFF"/>
              </a:solidFill>
              <a:latin typeface="Roboto"/>
              <a:ea typeface="Roboto"/>
              <a:cs typeface="Roboto"/>
              <a:sym typeface="Roboto"/>
            </a:endParaRPr>
          </a:p>
        </p:txBody>
      </p:sp>
      <p:sp>
        <p:nvSpPr>
          <p:cNvPr id="122" name="Google Shape;122;p17"/>
          <p:cNvSpPr/>
          <p:nvPr/>
        </p:nvSpPr>
        <p:spPr>
          <a:xfrm>
            <a:off x="381000" y="4572000"/>
            <a:ext cx="8382000" cy="19200"/>
          </a:xfrm>
          <a:prstGeom prst="rect">
            <a:avLst/>
          </a:prstGeom>
          <a:solidFill>
            <a:srgbClr val="E9ECE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23" name="Google Shape;123;p17"/>
          <p:cNvSpPr txBox="1"/>
          <p:nvPr/>
        </p:nvSpPr>
        <p:spPr>
          <a:xfrm>
            <a:off x="381000" y="4667250"/>
            <a:ext cx="8382000" cy="2859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lang="en-GB" sz="1000">
                <a:solidFill>
                  <a:srgbClr val="6C757D"/>
                </a:solidFill>
                <a:latin typeface="Roboto"/>
                <a:ea typeface="Roboto"/>
                <a:cs typeface="Roboto"/>
                <a:sym typeface="Roboto"/>
              </a:rPr>
              <a:t>Smart Recovery Initiative - Discovery Package Output</a:t>
            </a:r>
            <a:endParaRPr sz="1000">
              <a:solidFill>
                <a:srgbClr val="6C757D"/>
              </a:solidFill>
              <a:latin typeface="Roboto"/>
              <a:ea typeface="Roboto"/>
              <a:cs typeface="Roboto"/>
              <a:sym typeface="Roboto"/>
            </a:endParaRPr>
          </a:p>
        </p:txBody>
      </p:sp>
      <p:graphicFrame>
        <p:nvGraphicFramePr>
          <p:cNvPr id="124" name="Google Shape;124;p17"/>
          <p:cNvGraphicFramePr/>
          <p:nvPr/>
        </p:nvGraphicFramePr>
        <p:xfrm>
          <a:off x="219075" y="1435175"/>
          <a:ext cx="3000000" cy="3000000"/>
        </p:xfrm>
        <a:graphic>
          <a:graphicData uri="http://schemas.openxmlformats.org/drawingml/2006/table">
            <a:tbl>
              <a:tblPr>
                <a:noFill/>
                <a:tableStyleId>{0959A7C4-8D97-4529-8450-EA043DCB2C23}</a:tableStyleId>
              </a:tblPr>
              <a:tblGrid>
                <a:gridCol w="1266825"/>
                <a:gridCol w="1885950"/>
                <a:gridCol w="1666875"/>
                <a:gridCol w="1247775"/>
                <a:gridCol w="1495425"/>
                <a:gridCol w="1143000"/>
              </a:tblGrid>
              <a:tr h="530000">
                <a:tc>
                  <a:txBody>
                    <a:bodyPr/>
                    <a:lstStyle/>
                    <a:p>
                      <a:pPr indent="0" lvl="0" marL="0" rtl="0" algn="l">
                        <a:lnSpc>
                          <a:spcPct val="115000"/>
                        </a:lnSpc>
                        <a:spcBef>
                          <a:spcPts val="0"/>
                        </a:spcBef>
                        <a:spcAft>
                          <a:spcPts val="0"/>
                        </a:spcAft>
                        <a:buNone/>
                      </a:pPr>
                      <a:r>
                        <a:rPr b="1" lang="en-GB" sz="1100">
                          <a:solidFill>
                            <a:srgbClr val="1F1F1F"/>
                          </a:solidFill>
                        </a:rPr>
                        <a:t>Opportunity ID</a:t>
                      </a:r>
                      <a:endParaRPr b="1" sz="1100">
                        <a:solidFill>
                          <a:srgbClr val="1F1F1F"/>
                        </a:solidFill>
                      </a:endParaRPr>
                    </a:p>
                  </a:txBody>
                  <a:tcPr marT="76200" marB="76200" marR="114300" marL="114300">
                    <a:lnL cap="flat" cmpd="sng" w="9525">
                      <a:solidFill>
                        <a:srgbClr val="C4C7C5"/>
                      </a:solidFill>
                      <a:prstDash val="solid"/>
                      <a:round/>
                      <a:headEnd len="sm" w="sm" type="none"/>
                      <a:tailEnd len="sm" w="sm" type="none"/>
                    </a:lnL>
                    <a:lnR cap="flat" cmpd="sng" w="9525">
                      <a:solidFill>
                        <a:srgbClr val="C4C7C5"/>
                      </a:solidFill>
                      <a:prstDash val="solid"/>
                      <a:round/>
                      <a:headEnd len="sm" w="sm" type="none"/>
                      <a:tailEnd len="sm" w="sm" type="none"/>
                    </a:lnR>
                    <a:lnT cap="flat" cmpd="sng" w="9525">
                      <a:solidFill>
                        <a:srgbClr val="C4C7C5"/>
                      </a:solidFill>
                      <a:prstDash val="solid"/>
                      <a:round/>
                      <a:headEnd len="sm" w="sm" type="none"/>
                      <a:tailEnd len="sm" w="sm" type="none"/>
                    </a:lnT>
                    <a:lnB cap="flat" cmpd="sng" w="9525">
                      <a:solidFill>
                        <a:srgbClr val="C4C7C5"/>
                      </a:solidFill>
                      <a:prstDash val="solid"/>
                      <a:round/>
                      <a:headEnd len="sm" w="sm" type="none"/>
                      <a:tailEnd len="sm" w="sm" type="none"/>
                    </a:lnB>
                    <a:solidFill>
                      <a:srgbClr val="EFEFEF"/>
                    </a:solidFill>
                  </a:tcPr>
                </a:tc>
                <a:tc>
                  <a:txBody>
                    <a:bodyPr/>
                    <a:lstStyle/>
                    <a:p>
                      <a:pPr indent="0" lvl="0" marL="0" rtl="0" algn="l">
                        <a:lnSpc>
                          <a:spcPct val="115000"/>
                        </a:lnSpc>
                        <a:spcBef>
                          <a:spcPts val="0"/>
                        </a:spcBef>
                        <a:spcAft>
                          <a:spcPts val="0"/>
                        </a:spcAft>
                        <a:buNone/>
                      </a:pPr>
                      <a:r>
                        <a:rPr b="1" lang="en-GB" sz="1100">
                          <a:solidFill>
                            <a:srgbClr val="1F1F1F"/>
                          </a:solidFill>
                        </a:rPr>
                        <a:t>Focus Area</a:t>
                      </a:r>
                      <a:endParaRPr b="1" sz="1100">
                        <a:solidFill>
                          <a:srgbClr val="1F1F1F"/>
                        </a:solidFill>
                      </a:endParaRPr>
                    </a:p>
                  </a:txBody>
                  <a:tcPr marT="76200" marB="76200" marR="114300" marL="114300">
                    <a:lnL cap="flat" cmpd="sng" w="9525">
                      <a:solidFill>
                        <a:srgbClr val="C4C7C5"/>
                      </a:solidFill>
                      <a:prstDash val="solid"/>
                      <a:round/>
                      <a:headEnd len="sm" w="sm" type="none"/>
                      <a:tailEnd len="sm" w="sm" type="none"/>
                    </a:lnL>
                    <a:lnR cap="flat" cmpd="sng" w="9525">
                      <a:solidFill>
                        <a:srgbClr val="C4C7C5"/>
                      </a:solidFill>
                      <a:prstDash val="solid"/>
                      <a:round/>
                      <a:headEnd len="sm" w="sm" type="none"/>
                      <a:tailEnd len="sm" w="sm" type="none"/>
                    </a:lnR>
                    <a:lnT cap="flat" cmpd="sng" w="9525">
                      <a:solidFill>
                        <a:srgbClr val="C4C7C5"/>
                      </a:solidFill>
                      <a:prstDash val="solid"/>
                      <a:round/>
                      <a:headEnd len="sm" w="sm" type="none"/>
                      <a:tailEnd len="sm" w="sm" type="none"/>
                    </a:lnT>
                    <a:lnB cap="flat" cmpd="sng" w="9525">
                      <a:solidFill>
                        <a:srgbClr val="C4C7C5"/>
                      </a:solidFill>
                      <a:prstDash val="solid"/>
                      <a:round/>
                      <a:headEnd len="sm" w="sm" type="none"/>
                      <a:tailEnd len="sm" w="sm" type="none"/>
                    </a:lnB>
                    <a:solidFill>
                      <a:srgbClr val="EFEFEF"/>
                    </a:solidFill>
                  </a:tcPr>
                </a:tc>
                <a:tc>
                  <a:txBody>
                    <a:bodyPr/>
                    <a:lstStyle/>
                    <a:p>
                      <a:pPr indent="0" lvl="0" marL="0" rtl="0" algn="l">
                        <a:lnSpc>
                          <a:spcPct val="115000"/>
                        </a:lnSpc>
                        <a:spcBef>
                          <a:spcPts val="0"/>
                        </a:spcBef>
                        <a:spcAft>
                          <a:spcPts val="0"/>
                        </a:spcAft>
                        <a:buNone/>
                      </a:pPr>
                      <a:r>
                        <a:rPr b="1" lang="en-GB" sz="1100">
                          <a:solidFill>
                            <a:srgbClr val="1F1F1F"/>
                          </a:solidFill>
                        </a:rPr>
                        <a:t>Implementation Cost</a:t>
                      </a:r>
                      <a:endParaRPr b="1" sz="1100">
                        <a:solidFill>
                          <a:srgbClr val="1F1F1F"/>
                        </a:solidFill>
                      </a:endParaRPr>
                    </a:p>
                  </a:txBody>
                  <a:tcPr marT="76200" marB="76200" marR="114300" marL="114300">
                    <a:lnL cap="flat" cmpd="sng" w="9525">
                      <a:solidFill>
                        <a:srgbClr val="C4C7C5"/>
                      </a:solidFill>
                      <a:prstDash val="solid"/>
                      <a:round/>
                      <a:headEnd len="sm" w="sm" type="none"/>
                      <a:tailEnd len="sm" w="sm" type="none"/>
                    </a:lnL>
                    <a:lnR cap="flat" cmpd="sng" w="9525">
                      <a:solidFill>
                        <a:srgbClr val="C4C7C5"/>
                      </a:solidFill>
                      <a:prstDash val="solid"/>
                      <a:round/>
                      <a:headEnd len="sm" w="sm" type="none"/>
                      <a:tailEnd len="sm" w="sm" type="none"/>
                    </a:lnR>
                    <a:lnT cap="flat" cmpd="sng" w="9525">
                      <a:solidFill>
                        <a:srgbClr val="C4C7C5"/>
                      </a:solidFill>
                      <a:prstDash val="solid"/>
                      <a:round/>
                      <a:headEnd len="sm" w="sm" type="none"/>
                      <a:tailEnd len="sm" w="sm" type="none"/>
                    </a:lnT>
                    <a:lnB cap="flat" cmpd="sng" w="9525">
                      <a:solidFill>
                        <a:srgbClr val="C4C7C5"/>
                      </a:solidFill>
                      <a:prstDash val="solid"/>
                      <a:round/>
                      <a:headEnd len="sm" w="sm" type="none"/>
                      <a:tailEnd len="sm" w="sm" type="none"/>
                    </a:lnB>
                    <a:solidFill>
                      <a:srgbClr val="EFEFEF"/>
                    </a:solidFill>
                  </a:tcPr>
                </a:tc>
                <a:tc>
                  <a:txBody>
                    <a:bodyPr/>
                    <a:lstStyle/>
                    <a:p>
                      <a:pPr indent="0" lvl="0" marL="0" rtl="0" algn="l">
                        <a:lnSpc>
                          <a:spcPct val="115000"/>
                        </a:lnSpc>
                        <a:spcBef>
                          <a:spcPts val="0"/>
                        </a:spcBef>
                        <a:spcAft>
                          <a:spcPts val="0"/>
                        </a:spcAft>
                        <a:buNone/>
                      </a:pPr>
                      <a:r>
                        <a:rPr b="1" lang="en-GB" sz="1100">
                          <a:solidFill>
                            <a:srgbClr val="1F1F1F"/>
                          </a:solidFill>
                        </a:rPr>
                        <a:t>Annual Benefit</a:t>
                      </a:r>
                      <a:endParaRPr b="1" sz="1100">
                        <a:solidFill>
                          <a:srgbClr val="1F1F1F"/>
                        </a:solidFill>
                      </a:endParaRPr>
                    </a:p>
                  </a:txBody>
                  <a:tcPr marT="76200" marB="76200" marR="114300" marL="114300">
                    <a:lnL cap="flat" cmpd="sng" w="9525">
                      <a:solidFill>
                        <a:srgbClr val="C4C7C5"/>
                      </a:solidFill>
                      <a:prstDash val="solid"/>
                      <a:round/>
                      <a:headEnd len="sm" w="sm" type="none"/>
                      <a:tailEnd len="sm" w="sm" type="none"/>
                    </a:lnL>
                    <a:lnR cap="flat" cmpd="sng" w="9525">
                      <a:solidFill>
                        <a:srgbClr val="C4C7C5"/>
                      </a:solidFill>
                      <a:prstDash val="solid"/>
                      <a:round/>
                      <a:headEnd len="sm" w="sm" type="none"/>
                      <a:tailEnd len="sm" w="sm" type="none"/>
                    </a:lnR>
                    <a:lnT cap="flat" cmpd="sng" w="9525">
                      <a:solidFill>
                        <a:srgbClr val="C4C7C5"/>
                      </a:solidFill>
                      <a:prstDash val="solid"/>
                      <a:round/>
                      <a:headEnd len="sm" w="sm" type="none"/>
                      <a:tailEnd len="sm" w="sm" type="none"/>
                    </a:lnT>
                    <a:lnB cap="flat" cmpd="sng" w="9525">
                      <a:solidFill>
                        <a:srgbClr val="C4C7C5"/>
                      </a:solidFill>
                      <a:prstDash val="solid"/>
                      <a:round/>
                      <a:headEnd len="sm" w="sm" type="none"/>
                      <a:tailEnd len="sm" w="sm" type="none"/>
                    </a:lnB>
                    <a:solidFill>
                      <a:srgbClr val="EFEFEF"/>
                    </a:solidFill>
                  </a:tcPr>
                </a:tc>
                <a:tc>
                  <a:txBody>
                    <a:bodyPr/>
                    <a:lstStyle/>
                    <a:p>
                      <a:pPr indent="0" lvl="0" marL="0" rtl="0" algn="l">
                        <a:lnSpc>
                          <a:spcPct val="115000"/>
                        </a:lnSpc>
                        <a:spcBef>
                          <a:spcPts val="0"/>
                        </a:spcBef>
                        <a:spcAft>
                          <a:spcPts val="0"/>
                        </a:spcAft>
                        <a:buNone/>
                      </a:pPr>
                      <a:r>
                        <a:rPr b="1" lang="en-GB" sz="1100">
                          <a:solidFill>
                            <a:srgbClr val="1F1F1F"/>
                          </a:solidFill>
                        </a:rPr>
                        <a:t>Net 12-Month Value</a:t>
                      </a:r>
                      <a:endParaRPr b="1" sz="1100">
                        <a:solidFill>
                          <a:srgbClr val="1F1F1F"/>
                        </a:solidFill>
                      </a:endParaRPr>
                    </a:p>
                  </a:txBody>
                  <a:tcPr marT="76200" marB="76200" marR="114300" marL="114300">
                    <a:lnL cap="flat" cmpd="sng" w="9525">
                      <a:solidFill>
                        <a:srgbClr val="C4C7C5"/>
                      </a:solidFill>
                      <a:prstDash val="solid"/>
                      <a:round/>
                      <a:headEnd len="sm" w="sm" type="none"/>
                      <a:tailEnd len="sm" w="sm" type="none"/>
                    </a:lnL>
                    <a:lnR cap="flat" cmpd="sng" w="9525">
                      <a:solidFill>
                        <a:srgbClr val="C4C7C5"/>
                      </a:solidFill>
                      <a:prstDash val="solid"/>
                      <a:round/>
                      <a:headEnd len="sm" w="sm" type="none"/>
                      <a:tailEnd len="sm" w="sm" type="none"/>
                    </a:lnR>
                    <a:lnT cap="flat" cmpd="sng" w="9525">
                      <a:solidFill>
                        <a:srgbClr val="C4C7C5"/>
                      </a:solidFill>
                      <a:prstDash val="solid"/>
                      <a:round/>
                      <a:headEnd len="sm" w="sm" type="none"/>
                      <a:tailEnd len="sm" w="sm" type="none"/>
                    </a:lnT>
                    <a:lnB cap="flat" cmpd="sng" w="9525">
                      <a:solidFill>
                        <a:srgbClr val="C4C7C5"/>
                      </a:solidFill>
                      <a:prstDash val="solid"/>
                      <a:round/>
                      <a:headEnd len="sm" w="sm" type="none"/>
                      <a:tailEnd len="sm" w="sm" type="none"/>
                    </a:lnB>
                    <a:solidFill>
                      <a:srgbClr val="EFEFEF"/>
                    </a:solidFill>
                  </a:tcPr>
                </a:tc>
                <a:tc>
                  <a:txBody>
                    <a:bodyPr/>
                    <a:lstStyle/>
                    <a:p>
                      <a:pPr indent="0" lvl="0" marL="0" rtl="0" algn="l">
                        <a:lnSpc>
                          <a:spcPct val="115000"/>
                        </a:lnSpc>
                        <a:spcBef>
                          <a:spcPts val="0"/>
                        </a:spcBef>
                        <a:spcAft>
                          <a:spcPts val="0"/>
                        </a:spcAft>
                        <a:buNone/>
                      </a:pPr>
                      <a:r>
                        <a:rPr b="1" lang="en-GB" sz="1100">
                          <a:solidFill>
                            <a:srgbClr val="1F1F1F"/>
                          </a:solidFill>
                        </a:rPr>
                        <a:t>12-Month ROI</a:t>
                      </a:r>
                      <a:endParaRPr b="1" sz="1100">
                        <a:solidFill>
                          <a:srgbClr val="1F1F1F"/>
                        </a:solidFill>
                      </a:endParaRPr>
                    </a:p>
                  </a:txBody>
                  <a:tcPr marT="76200" marB="76200" marR="114300" marL="114300">
                    <a:lnL cap="flat" cmpd="sng" w="9525">
                      <a:solidFill>
                        <a:srgbClr val="C4C7C5"/>
                      </a:solidFill>
                      <a:prstDash val="solid"/>
                      <a:round/>
                      <a:headEnd len="sm" w="sm" type="none"/>
                      <a:tailEnd len="sm" w="sm" type="none"/>
                    </a:lnL>
                    <a:lnR cap="flat" cmpd="sng" w="9525">
                      <a:solidFill>
                        <a:srgbClr val="C4C7C5"/>
                      </a:solidFill>
                      <a:prstDash val="solid"/>
                      <a:round/>
                      <a:headEnd len="sm" w="sm" type="none"/>
                      <a:tailEnd len="sm" w="sm" type="none"/>
                    </a:lnR>
                    <a:lnT cap="flat" cmpd="sng" w="9525">
                      <a:solidFill>
                        <a:srgbClr val="C4C7C5"/>
                      </a:solidFill>
                      <a:prstDash val="solid"/>
                      <a:round/>
                      <a:headEnd len="sm" w="sm" type="none"/>
                      <a:tailEnd len="sm" w="sm" type="none"/>
                    </a:lnT>
                    <a:lnB cap="flat" cmpd="sng" w="9525">
                      <a:solidFill>
                        <a:srgbClr val="C4C7C5"/>
                      </a:solidFill>
                      <a:prstDash val="solid"/>
                      <a:round/>
                      <a:headEnd len="sm" w="sm" type="none"/>
                      <a:tailEnd len="sm" w="sm" type="none"/>
                    </a:lnB>
                    <a:solidFill>
                      <a:srgbClr val="EFEFEF"/>
                    </a:solidFill>
                  </a:tcPr>
                </a:tc>
              </a:tr>
              <a:tr h="520550">
                <a:tc>
                  <a:txBody>
                    <a:bodyPr/>
                    <a:lstStyle/>
                    <a:p>
                      <a:pPr indent="0" lvl="0" marL="0" rtl="0" algn="l">
                        <a:lnSpc>
                          <a:spcPct val="115000"/>
                        </a:lnSpc>
                        <a:spcBef>
                          <a:spcPts val="0"/>
                        </a:spcBef>
                        <a:spcAft>
                          <a:spcPts val="0"/>
                        </a:spcAft>
                        <a:buNone/>
                      </a:pPr>
                      <a:r>
                        <a:rPr b="1" lang="en-GB" sz="1100">
                          <a:solidFill>
                            <a:srgbClr val="1F1F1F"/>
                          </a:solidFill>
                        </a:rPr>
                        <a:t>OPP-01</a:t>
                      </a:r>
                      <a:endParaRPr b="1" sz="1100">
                        <a:solidFill>
                          <a:srgbClr val="1F1F1F"/>
                        </a:solidFill>
                      </a:endParaRPr>
                    </a:p>
                  </a:txBody>
                  <a:tcPr marT="76200" marB="76200" marR="114300" marL="114300">
                    <a:lnL cap="flat" cmpd="sng" w="9525">
                      <a:solidFill>
                        <a:srgbClr val="C4C7C5"/>
                      </a:solidFill>
                      <a:prstDash val="solid"/>
                      <a:round/>
                      <a:headEnd len="sm" w="sm" type="none"/>
                      <a:tailEnd len="sm" w="sm" type="none"/>
                    </a:lnL>
                    <a:lnR cap="flat" cmpd="sng" w="9525">
                      <a:solidFill>
                        <a:srgbClr val="C4C7C5"/>
                      </a:solidFill>
                      <a:prstDash val="solid"/>
                      <a:round/>
                      <a:headEnd len="sm" w="sm" type="none"/>
                      <a:tailEnd len="sm" w="sm" type="none"/>
                    </a:lnR>
                    <a:lnT cap="flat" cmpd="sng" w="9525">
                      <a:solidFill>
                        <a:srgbClr val="C4C7C5"/>
                      </a:solidFill>
                      <a:prstDash val="solid"/>
                      <a:round/>
                      <a:headEnd len="sm" w="sm" type="none"/>
                      <a:tailEnd len="sm" w="sm" type="none"/>
                    </a:lnT>
                    <a:lnB cap="flat" cmpd="sng" w="9525">
                      <a:solidFill>
                        <a:srgbClr val="C4C7C5"/>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GB" sz="1100">
                          <a:solidFill>
                            <a:srgbClr val="1F1F1F"/>
                          </a:solidFill>
                        </a:rPr>
                        <a:t>Automated Status Checks</a:t>
                      </a:r>
                      <a:endParaRPr sz="1100">
                        <a:solidFill>
                          <a:srgbClr val="1F1F1F"/>
                        </a:solidFill>
                      </a:endParaRPr>
                    </a:p>
                  </a:txBody>
                  <a:tcPr marT="76200" marB="76200" marR="114300" marL="114300">
                    <a:lnL cap="flat" cmpd="sng" w="9525">
                      <a:solidFill>
                        <a:srgbClr val="C4C7C5"/>
                      </a:solidFill>
                      <a:prstDash val="solid"/>
                      <a:round/>
                      <a:headEnd len="sm" w="sm" type="none"/>
                      <a:tailEnd len="sm" w="sm" type="none"/>
                    </a:lnL>
                    <a:lnR cap="flat" cmpd="sng" w="9525">
                      <a:solidFill>
                        <a:srgbClr val="C4C7C5"/>
                      </a:solidFill>
                      <a:prstDash val="solid"/>
                      <a:round/>
                      <a:headEnd len="sm" w="sm" type="none"/>
                      <a:tailEnd len="sm" w="sm" type="none"/>
                    </a:lnR>
                    <a:lnT cap="flat" cmpd="sng" w="9525">
                      <a:solidFill>
                        <a:srgbClr val="C4C7C5"/>
                      </a:solidFill>
                      <a:prstDash val="solid"/>
                      <a:round/>
                      <a:headEnd len="sm" w="sm" type="none"/>
                      <a:tailEnd len="sm" w="sm" type="none"/>
                    </a:lnT>
                    <a:lnB cap="flat" cmpd="sng" w="9525">
                      <a:solidFill>
                        <a:srgbClr val="C4C7C5"/>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GB" sz="1100">
                          <a:solidFill>
                            <a:srgbClr val="1F1F1F"/>
                          </a:solidFill>
                        </a:rPr>
                        <a:t>£18,800.00</a:t>
                      </a:r>
                      <a:endParaRPr sz="1100">
                        <a:solidFill>
                          <a:srgbClr val="1F1F1F"/>
                        </a:solidFill>
                      </a:endParaRPr>
                    </a:p>
                  </a:txBody>
                  <a:tcPr marT="76200" marB="76200" marR="114300" marL="114300">
                    <a:lnL cap="flat" cmpd="sng" w="9525">
                      <a:solidFill>
                        <a:srgbClr val="C4C7C5"/>
                      </a:solidFill>
                      <a:prstDash val="solid"/>
                      <a:round/>
                      <a:headEnd len="sm" w="sm" type="none"/>
                      <a:tailEnd len="sm" w="sm" type="none"/>
                    </a:lnL>
                    <a:lnR cap="flat" cmpd="sng" w="9525">
                      <a:solidFill>
                        <a:srgbClr val="C4C7C5"/>
                      </a:solidFill>
                      <a:prstDash val="solid"/>
                      <a:round/>
                      <a:headEnd len="sm" w="sm" type="none"/>
                      <a:tailEnd len="sm" w="sm" type="none"/>
                    </a:lnR>
                    <a:lnT cap="flat" cmpd="sng" w="9525">
                      <a:solidFill>
                        <a:srgbClr val="C4C7C5"/>
                      </a:solidFill>
                      <a:prstDash val="solid"/>
                      <a:round/>
                      <a:headEnd len="sm" w="sm" type="none"/>
                      <a:tailEnd len="sm" w="sm" type="none"/>
                    </a:lnT>
                    <a:lnB cap="flat" cmpd="sng" w="9525">
                      <a:solidFill>
                        <a:srgbClr val="C4C7C5"/>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GB" sz="1100">
                          <a:solidFill>
                            <a:srgbClr val="1F1F1F"/>
                          </a:solidFill>
                        </a:rPr>
                        <a:t>£27,926.80</a:t>
                      </a:r>
                      <a:endParaRPr sz="1100">
                        <a:solidFill>
                          <a:srgbClr val="1F1F1F"/>
                        </a:solidFill>
                      </a:endParaRPr>
                    </a:p>
                  </a:txBody>
                  <a:tcPr marT="76200" marB="76200" marR="114300" marL="114300">
                    <a:lnL cap="flat" cmpd="sng" w="9525">
                      <a:solidFill>
                        <a:srgbClr val="C4C7C5"/>
                      </a:solidFill>
                      <a:prstDash val="solid"/>
                      <a:round/>
                      <a:headEnd len="sm" w="sm" type="none"/>
                      <a:tailEnd len="sm" w="sm" type="none"/>
                    </a:lnL>
                    <a:lnR cap="flat" cmpd="sng" w="9525">
                      <a:solidFill>
                        <a:srgbClr val="C4C7C5"/>
                      </a:solidFill>
                      <a:prstDash val="solid"/>
                      <a:round/>
                      <a:headEnd len="sm" w="sm" type="none"/>
                      <a:tailEnd len="sm" w="sm" type="none"/>
                    </a:lnR>
                    <a:lnT cap="flat" cmpd="sng" w="9525">
                      <a:solidFill>
                        <a:srgbClr val="C4C7C5"/>
                      </a:solidFill>
                      <a:prstDash val="solid"/>
                      <a:round/>
                      <a:headEnd len="sm" w="sm" type="none"/>
                      <a:tailEnd len="sm" w="sm" type="none"/>
                    </a:lnT>
                    <a:lnB cap="flat" cmpd="sng" w="9525">
                      <a:solidFill>
                        <a:srgbClr val="C4C7C5"/>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b="1" lang="en-GB" sz="1100">
                          <a:solidFill>
                            <a:srgbClr val="1F1F1F"/>
                          </a:solidFill>
                        </a:rPr>
                        <a:t>+£9,126.80</a:t>
                      </a:r>
                      <a:endParaRPr b="1" sz="1100">
                        <a:solidFill>
                          <a:srgbClr val="1F1F1F"/>
                        </a:solidFill>
                      </a:endParaRPr>
                    </a:p>
                  </a:txBody>
                  <a:tcPr marT="76200" marB="76200" marR="114300" marL="114300">
                    <a:lnL cap="flat" cmpd="sng" w="9525">
                      <a:solidFill>
                        <a:srgbClr val="C4C7C5"/>
                      </a:solidFill>
                      <a:prstDash val="solid"/>
                      <a:round/>
                      <a:headEnd len="sm" w="sm" type="none"/>
                      <a:tailEnd len="sm" w="sm" type="none"/>
                    </a:lnL>
                    <a:lnR cap="flat" cmpd="sng" w="9525">
                      <a:solidFill>
                        <a:srgbClr val="C4C7C5"/>
                      </a:solidFill>
                      <a:prstDash val="solid"/>
                      <a:round/>
                      <a:headEnd len="sm" w="sm" type="none"/>
                      <a:tailEnd len="sm" w="sm" type="none"/>
                    </a:lnR>
                    <a:lnT cap="flat" cmpd="sng" w="9525">
                      <a:solidFill>
                        <a:srgbClr val="C4C7C5"/>
                      </a:solidFill>
                      <a:prstDash val="solid"/>
                      <a:round/>
                      <a:headEnd len="sm" w="sm" type="none"/>
                      <a:tailEnd len="sm" w="sm" type="none"/>
                    </a:lnT>
                    <a:lnB cap="flat" cmpd="sng" w="9525">
                      <a:solidFill>
                        <a:srgbClr val="C4C7C5"/>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GB" sz="1100">
                          <a:solidFill>
                            <a:srgbClr val="1F1F1F"/>
                          </a:solidFill>
                        </a:rPr>
                        <a:t>48.55%</a:t>
                      </a:r>
                      <a:endParaRPr sz="1100">
                        <a:solidFill>
                          <a:srgbClr val="1F1F1F"/>
                        </a:solidFill>
                      </a:endParaRPr>
                    </a:p>
                  </a:txBody>
                  <a:tcPr marT="76200" marB="76200" marR="114300" marL="114300">
                    <a:lnL cap="flat" cmpd="sng" w="9525">
                      <a:solidFill>
                        <a:srgbClr val="C4C7C5"/>
                      </a:solidFill>
                      <a:prstDash val="solid"/>
                      <a:round/>
                      <a:headEnd len="sm" w="sm" type="none"/>
                      <a:tailEnd len="sm" w="sm" type="none"/>
                    </a:lnL>
                    <a:lnR cap="flat" cmpd="sng" w="9525">
                      <a:solidFill>
                        <a:srgbClr val="C4C7C5"/>
                      </a:solidFill>
                      <a:prstDash val="solid"/>
                      <a:round/>
                      <a:headEnd len="sm" w="sm" type="none"/>
                      <a:tailEnd len="sm" w="sm" type="none"/>
                    </a:lnR>
                    <a:lnT cap="flat" cmpd="sng" w="9525">
                      <a:solidFill>
                        <a:srgbClr val="C4C7C5"/>
                      </a:solidFill>
                      <a:prstDash val="solid"/>
                      <a:round/>
                      <a:headEnd len="sm" w="sm" type="none"/>
                      <a:tailEnd len="sm" w="sm" type="none"/>
                    </a:lnT>
                    <a:lnB cap="flat" cmpd="sng" w="9525">
                      <a:solidFill>
                        <a:srgbClr val="C4C7C5"/>
                      </a:solidFill>
                      <a:prstDash val="solid"/>
                      <a:round/>
                      <a:headEnd len="sm" w="sm" type="none"/>
                      <a:tailEnd len="sm" w="sm" type="none"/>
                    </a:lnB>
                  </a:tcPr>
                </a:tc>
              </a:tr>
              <a:tr h="340725">
                <a:tc>
                  <a:txBody>
                    <a:bodyPr/>
                    <a:lstStyle/>
                    <a:p>
                      <a:pPr indent="0" lvl="0" marL="0" rtl="0" algn="l">
                        <a:lnSpc>
                          <a:spcPct val="115000"/>
                        </a:lnSpc>
                        <a:spcBef>
                          <a:spcPts val="0"/>
                        </a:spcBef>
                        <a:spcAft>
                          <a:spcPts val="0"/>
                        </a:spcAft>
                        <a:buNone/>
                      </a:pPr>
                      <a:r>
                        <a:rPr b="1" lang="en-GB" sz="1100">
                          <a:solidFill>
                            <a:srgbClr val="1F1F1F"/>
                          </a:solidFill>
                        </a:rPr>
                        <a:t>OPP-03</a:t>
                      </a:r>
                      <a:endParaRPr b="1" sz="1100">
                        <a:solidFill>
                          <a:srgbClr val="1F1F1F"/>
                        </a:solidFill>
                      </a:endParaRPr>
                    </a:p>
                  </a:txBody>
                  <a:tcPr marT="76200" marB="76200" marR="114300" marL="114300">
                    <a:lnL cap="flat" cmpd="sng" w="9525">
                      <a:solidFill>
                        <a:srgbClr val="C4C7C5"/>
                      </a:solidFill>
                      <a:prstDash val="solid"/>
                      <a:round/>
                      <a:headEnd len="sm" w="sm" type="none"/>
                      <a:tailEnd len="sm" w="sm" type="none"/>
                    </a:lnL>
                    <a:lnR cap="flat" cmpd="sng" w="9525">
                      <a:solidFill>
                        <a:srgbClr val="C4C7C5"/>
                      </a:solidFill>
                      <a:prstDash val="solid"/>
                      <a:round/>
                      <a:headEnd len="sm" w="sm" type="none"/>
                      <a:tailEnd len="sm" w="sm" type="none"/>
                    </a:lnR>
                    <a:lnT cap="flat" cmpd="sng" w="9525">
                      <a:solidFill>
                        <a:srgbClr val="C4C7C5"/>
                      </a:solidFill>
                      <a:prstDash val="solid"/>
                      <a:round/>
                      <a:headEnd len="sm" w="sm" type="none"/>
                      <a:tailEnd len="sm" w="sm" type="none"/>
                    </a:lnT>
                    <a:lnB cap="flat" cmpd="sng" w="9525">
                      <a:solidFill>
                        <a:srgbClr val="C4C7C5"/>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GB" sz="1100">
                          <a:solidFill>
                            <a:srgbClr val="1F1F1F"/>
                          </a:solidFill>
                        </a:rPr>
                        <a:t>End-of-Month Analytics</a:t>
                      </a:r>
                      <a:endParaRPr sz="1100">
                        <a:solidFill>
                          <a:srgbClr val="1F1F1F"/>
                        </a:solidFill>
                      </a:endParaRPr>
                    </a:p>
                  </a:txBody>
                  <a:tcPr marT="76200" marB="76200" marR="114300" marL="114300">
                    <a:lnL cap="flat" cmpd="sng" w="9525">
                      <a:solidFill>
                        <a:srgbClr val="C4C7C5"/>
                      </a:solidFill>
                      <a:prstDash val="solid"/>
                      <a:round/>
                      <a:headEnd len="sm" w="sm" type="none"/>
                      <a:tailEnd len="sm" w="sm" type="none"/>
                    </a:lnL>
                    <a:lnR cap="flat" cmpd="sng" w="9525">
                      <a:solidFill>
                        <a:srgbClr val="C4C7C5"/>
                      </a:solidFill>
                      <a:prstDash val="solid"/>
                      <a:round/>
                      <a:headEnd len="sm" w="sm" type="none"/>
                      <a:tailEnd len="sm" w="sm" type="none"/>
                    </a:lnR>
                    <a:lnT cap="flat" cmpd="sng" w="9525">
                      <a:solidFill>
                        <a:srgbClr val="C4C7C5"/>
                      </a:solidFill>
                      <a:prstDash val="solid"/>
                      <a:round/>
                      <a:headEnd len="sm" w="sm" type="none"/>
                      <a:tailEnd len="sm" w="sm" type="none"/>
                    </a:lnT>
                    <a:lnB cap="flat" cmpd="sng" w="9525">
                      <a:solidFill>
                        <a:srgbClr val="C4C7C5"/>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GB" sz="1100">
                          <a:solidFill>
                            <a:srgbClr val="1F1F1F"/>
                          </a:solidFill>
                        </a:rPr>
                        <a:t>£9,440.00</a:t>
                      </a:r>
                      <a:endParaRPr sz="1100">
                        <a:solidFill>
                          <a:srgbClr val="1F1F1F"/>
                        </a:solidFill>
                      </a:endParaRPr>
                    </a:p>
                  </a:txBody>
                  <a:tcPr marT="76200" marB="76200" marR="114300" marL="114300">
                    <a:lnL cap="flat" cmpd="sng" w="9525">
                      <a:solidFill>
                        <a:srgbClr val="C4C7C5"/>
                      </a:solidFill>
                      <a:prstDash val="solid"/>
                      <a:round/>
                      <a:headEnd len="sm" w="sm" type="none"/>
                      <a:tailEnd len="sm" w="sm" type="none"/>
                    </a:lnL>
                    <a:lnR cap="flat" cmpd="sng" w="9525">
                      <a:solidFill>
                        <a:srgbClr val="C4C7C5"/>
                      </a:solidFill>
                      <a:prstDash val="solid"/>
                      <a:round/>
                      <a:headEnd len="sm" w="sm" type="none"/>
                      <a:tailEnd len="sm" w="sm" type="none"/>
                    </a:lnR>
                    <a:lnT cap="flat" cmpd="sng" w="9525">
                      <a:solidFill>
                        <a:srgbClr val="C4C7C5"/>
                      </a:solidFill>
                      <a:prstDash val="solid"/>
                      <a:round/>
                      <a:headEnd len="sm" w="sm" type="none"/>
                      <a:tailEnd len="sm" w="sm" type="none"/>
                    </a:lnT>
                    <a:lnB cap="flat" cmpd="sng" w="9525">
                      <a:solidFill>
                        <a:srgbClr val="C4C7C5"/>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GB" sz="1100">
                          <a:solidFill>
                            <a:srgbClr val="1F1F1F"/>
                          </a:solidFill>
                        </a:rPr>
                        <a:t>£3,519.12</a:t>
                      </a:r>
                      <a:endParaRPr sz="1100">
                        <a:solidFill>
                          <a:srgbClr val="1F1F1F"/>
                        </a:solidFill>
                      </a:endParaRPr>
                    </a:p>
                  </a:txBody>
                  <a:tcPr marT="76200" marB="76200" marR="114300" marL="114300">
                    <a:lnL cap="flat" cmpd="sng" w="9525">
                      <a:solidFill>
                        <a:srgbClr val="C4C7C5"/>
                      </a:solidFill>
                      <a:prstDash val="solid"/>
                      <a:round/>
                      <a:headEnd len="sm" w="sm" type="none"/>
                      <a:tailEnd len="sm" w="sm" type="none"/>
                    </a:lnL>
                    <a:lnR cap="flat" cmpd="sng" w="9525">
                      <a:solidFill>
                        <a:srgbClr val="C4C7C5"/>
                      </a:solidFill>
                      <a:prstDash val="solid"/>
                      <a:round/>
                      <a:headEnd len="sm" w="sm" type="none"/>
                      <a:tailEnd len="sm" w="sm" type="none"/>
                    </a:lnR>
                    <a:lnT cap="flat" cmpd="sng" w="9525">
                      <a:solidFill>
                        <a:srgbClr val="C4C7C5"/>
                      </a:solidFill>
                      <a:prstDash val="solid"/>
                      <a:round/>
                      <a:headEnd len="sm" w="sm" type="none"/>
                      <a:tailEnd len="sm" w="sm" type="none"/>
                    </a:lnT>
                    <a:lnB cap="flat" cmpd="sng" w="9525">
                      <a:solidFill>
                        <a:srgbClr val="C4C7C5"/>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b="1" lang="en-GB" sz="1100">
                          <a:solidFill>
                            <a:srgbClr val="1F1F1F"/>
                          </a:solidFill>
                        </a:rPr>
                        <a:t>-£5,920.88</a:t>
                      </a:r>
                      <a:endParaRPr b="1" sz="1100">
                        <a:solidFill>
                          <a:srgbClr val="1F1F1F"/>
                        </a:solidFill>
                      </a:endParaRPr>
                    </a:p>
                  </a:txBody>
                  <a:tcPr marT="76200" marB="76200" marR="114300" marL="114300">
                    <a:lnL cap="flat" cmpd="sng" w="9525">
                      <a:solidFill>
                        <a:srgbClr val="C4C7C5"/>
                      </a:solidFill>
                      <a:prstDash val="solid"/>
                      <a:round/>
                      <a:headEnd len="sm" w="sm" type="none"/>
                      <a:tailEnd len="sm" w="sm" type="none"/>
                    </a:lnL>
                    <a:lnR cap="flat" cmpd="sng" w="9525">
                      <a:solidFill>
                        <a:srgbClr val="C4C7C5"/>
                      </a:solidFill>
                      <a:prstDash val="solid"/>
                      <a:round/>
                      <a:headEnd len="sm" w="sm" type="none"/>
                      <a:tailEnd len="sm" w="sm" type="none"/>
                    </a:lnR>
                    <a:lnT cap="flat" cmpd="sng" w="9525">
                      <a:solidFill>
                        <a:srgbClr val="C4C7C5"/>
                      </a:solidFill>
                      <a:prstDash val="solid"/>
                      <a:round/>
                      <a:headEnd len="sm" w="sm" type="none"/>
                      <a:tailEnd len="sm" w="sm" type="none"/>
                    </a:lnT>
                    <a:lnB cap="flat" cmpd="sng" w="9525">
                      <a:solidFill>
                        <a:srgbClr val="C4C7C5"/>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GB" sz="1100">
                          <a:solidFill>
                            <a:srgbClr val="1F1F1F"/>
                          </a:solidFill>
                        </a:rPr>
                        <a:t>-62.72%</a:t>
                      </a:r>
                      <a:endParaRPr sz="1100">
                        <a:solidFill>
                          <a:srgbClr val="1F1F1F"/>
                        </a:solidFill>
                      </a:endParaRPr>
                    </a:p>
                  </a:txBody>
                  <a:tcPr marT="76200" marB="76200" marR="114300" marL="114300">
                    <a:lnL cap="flat" cmpd="sng" w="9525">
                      <a:solidFill>
                        <a:srgbClr val="C4C7C5"/>
                      </a:solidFill>
                      <a:prstDash val="solid"/>
                      <a:round/>
                      <a:headEnd len="sm" w="sm" type="none"/>
                      <a:tailEnd len="sm" w="sm" type="none"/>
                    </a:lnL>
                    <a:lnR cap="flat" cmpd="sng" w="9525">
                      <a:solidFill>
                        <a:srgbClr val="C4C7C5"/>
                      </a:solidFill>
                      <a:prstDash val="solid"/>
                      <a:round/>
                      <a:headEnd len="sm" w="sm" type="none"/>
                      <a:tailEnd len="sm" w="sm" type="none"/>
                    </a:lnR>
                    <a:lnT cap="flat" cmpd="sng" w="9525">
                      <a:solidFill>
                        <a:srgbClr val="C4C7C5"/>
                      </a:solidFill>
                      <a:prstDash val="solid"/>
                      <a:round/>
                      <a:headEnd len="sm" w="sm" type="none"/>
                      <a:tailEnd len="sm" w="sm" type="none"/>
                    </a:lnT>
                    <a:lnB cap="flat" cmpd="sng" w="9525">
                      <a:solidFill>
                        <a:srgbClr val="C4C7C5"/>
                      </a:solidFill>
                      <a:prstDash val="solid"/>
                      <a:round/>
                      <a:headEnd len="sm" w="sm" type="none"/>
                      <a:tailEnd len="sm" w="sm" type="none"/>
                    </a:lnB>
                  </a:tcPr>
                </a:tc>
              </a:tr>
              <a:tr h="340725">
                <a:tc>
                  <a:txBody>
                    <a:bodyPr/>
                    <a:lstStyle/>
                    <a:p>
                      <a:pPr indent="0" lvl="0" marL="0" rtl="0" algn="l">
                        <a:lnSpc>
                          <a:spcPct val="115000"/>
                        </a:lnSpc>
                        <a:spcBef>
                          <a:spcPts val="0"/>
                        </a:spcBef>
                        <a:spcAft>
                          <a:spcPts val="0"/>
                        </a:spcAft>
                        <a:buNone/>
                      </a:pPr>
                      <a:r>
                        <a:rPr b="1" lang="en-GB" sz="1100">
                          <a:solidFill>
                            <a:srgbClr val="1F1F1F"/>
                          </a:solidFill>
                        </a:rPr>
                        <a:t>OPP-05</a:t>
                      </a:r>
                      <a:endParaRPr b="1" sz="1100">
                        <a:solidFill>
                          <a:srgbClr val="1F1F1F"/>
                        </a:solidFill>
                      </a:endParaRPr>
                    </a:p>
                  </a:txBody>
                  <a:tcPr marT="76200" marB="76200" marR="114300" marL="114300">
                    <a:lnL cap="flat" cmpd="sng" w="9525">
                      <a:solidFill>
                        <a:srgbClr val="C4C7C5"/>
                      </a:solidFill>
                      <a:prstDash val="solid"/>
                      <a:round/>
                      <a:headEnd len="sm" w="sm" type="none"/>
                      <a:tailEnd len="sm" w="sm" type="none"/>
                    </a:lnL>
                    <a:lnR cap="flat" cmpd="sng" w="9525">
                      <a:solidFill>
                        <a:srgbClr val="C4C7C5"/>
                      </a:solidFill>
                      <a:prstDash val="solid"/>
                      <a:round/>
                      <a:headEnd len="sm" w="sm" type="none"/>
                      <a:tailEnd len="sm" w="sm" type="none"/>
                    </a:lnR>
                    <a:lnT cap="flat" cmpd="sng" w="9525">
                      <a:solidFill>
                        <a:srgbClr val="C4C7C5"/>
                      </a:solidFill>
                      <a:prstDash val="solid"/>
                      <a:round/>
                      <a:headEnd len="sm" w="sm" type="none"/>
                      <a:tailEnd len="sm" w="sm" type="none"/>
                    </a:lnT>
                    <a:lnB cap="flat" cmpd="sng" w="9525">
                      <a:solidFill>
                        <a:srgbClr val="C4C7C5"/>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GB" sz="1100">
                          <a:solidFill>
                            <a:srgbClr val="1F1F1F"/>
                          </a:solidFill>
                        </a:rPr>
                        <a:t>Follow-Up Scheduling</a:t>
                      </a:r>
                      <a:endParaRPr sz="1100">
                        <a:solidFill>
                          <a:srgbClr val="1F1F1F"/>
                        </a:solidFill>
                      </a:endParaRPr>
                    </a:p>
                  </a:txBody>
                  <a:tcPr marT="76200" marB="76200" marR="114300" marL="114300">
                    <a:lnL cap="flat" cmpd="sng" w="9525">
                      <a:solidFill>
                        <a:srgbClr val="C4C7C5"/>
                      </a:solidFill>
                      <a:prstDash val="solid"/>
                      <a:round/>
                      <a:headEnd len="sm" w="sm" type="none"/>
                      <a:tailEnd len="sm" w="sm" type="none"/>
                    </a:lnL>
                    <a:lnR cap="flat" cmpd="sng" w="9525">
                      <a:solidFill>
                        <a:srgbClr val="C4C7C5"/>
                      </a:solidFill>
                      <a:prstDash val="solid"/>
                      <a:round/>
                      <a:headEnd len="sm" w="sm" type="none"/>
                      <a:tailEnd len="sm" w="sm" type="none"/>
                    </a:lnR>
                    <a:lnT cap="flat" cmpd="sng" w="9525">
                      <a:solidFill>
                        <a:srgbClr val="C4C7C5"/>
                      </a:solidFill>
                      <a:prstDash val="solid"/>
                      <a:round/>
                      <a:headEnd len="sm" w="sm" type="none"/>
                      <a:tailEnd len="sm" w="sm" type="none"/>
                    </a:lnT>
                    <a:lnB cap="flat" cmpd="sng" w="9525">
                      <a:solidFill>
                        <a:srgbClr val="C4C7C5"/>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GB" sz="1100">
                          <a:solidFill>
                            <a:srgbClr val="1F1F1F"/>
                          </a:solidFill>
                        </a:rPr>
                        <a:t>£14,080.00</a:t>
                      </a:r>
                      <a:endParaRPr sz="1100">
                        <a:solidFill>
                          <a:srgbClr val="1F1F1F"/>
                        </a:solidFill>
                      </a:endParaRPr>
                    </a:p>
                  </a:txBody>
                  <a:tcPr marT="76200" marB="76200" marR="114300" marL="114300">
                    <a:lnL cap="flat" cmpd="sng" w="9525">
                      <a:solidFill>
                        <a:srgbClr val="C4C7C5"/>
                      </a:solidFill>
                      <a:prstDash val="solid"/>
                      <a:round/>
                      <a:headEnd len="sm" w="sm" type="none"/>
                      <a:tailEnd len="sm" w="sm" type="none"/>
                    </a:lnL>
                    <a:lnR cap="flat" cmpd="sng" w="9525">
                      <a:solidFill>
                        <a:srgbClr val="C4C7C5"/>
                      </a:solidFill>
                      <a:prstDash val="solid"/>
                      <a:round/>
                      <a:headEnd len="sm" w="sm" type="none"/>
                      <a:tailEnd len="sm" w="sm" type="none"/>
                    </a:lnR>
                    <a:lnT cap="flat" cmpd="sng" w="9525">
                      <a:solidFill>
                        <a:srgbClr val="C4C7C5"/>
                      </a:solidFill>
                      <a:prstDash val="solid"/>
                      <a:round/>
                      <a:headEnd len="sm" w="sm" type="none"/>
                      <a:tailEnd len="sm" w="sm" type="none"/>
                    </a:lnT>
                    <a:lnB cap="flat" cmpd="sng" w="9525">
                      <a:solidFill>
                        <a:srgbClr val="C4C7C5"/>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GB" sz="1100">
                          <a:solidFill>
                            <a:srgbClr val="1F1F1F"/>
                          </a:solidFill>
                        </a:rPr>
                        <a:t>£35,310.17</a:t>
                      </a:r>
                      <a:endParaRPr sz="1100">
                        <a:solidFill>
                          <a:srgbClr val="1F1F1F"/>
                        </a:solidFill>
                      </a:endParaRPr>
                    </a:p>
                  </a:txBody>
                  <a:tcPr marT="76200" marB="76200" marR="114300" marL="114300">
                    <a:lnL cap="flat" cmpd="sng" w="9525">
                      <a:solidFill>
                        <a:srgbClr val="C4C7C5"/>
                      </a:solidFill>
                      <a:prstDash val="solid"/>
                      <a:round/>
                      <a:headEnd len="sm" w="sm" type="none"/>
                      <a:tailEnd len="sm" w="sm" type="none"/>
                    </a:lnL>
                    <a:lnR cap="flat" cmpd="sng" w="9525">
                      <a:solidFill>
                        <a:srgbClr val="C4C7C5"/>
                      </a:solidFill>
                      <a:prstDash val="solid"/>
                      <a:round/>
                      <a:headEnd len="sm" w="sm" type="none"/>
                      <a:tailEnd len="sm" w="sm" type="none"/>
                    </a:lnR>
                    <a:lnT cap="flat" cmpd="sng" w="9525">
                      <a:solidFill>
                        <a:srgbClr val="C4C7C5"/>
                      </a:solidFill>
                      <a:prstDash val="solid"/>
                      <a:round/>
                      <a:headEnd len="sm" w="sm" type="none"/>
                      <a:tailEnd len="sm" w="sm" type="none"/>
                    </a:lnT>
                    <a:lnB cap="flat" cmpd="sng" w="9525">
                      <a:solidFill>
                        <a:srgbClr val="C4C7C5"/>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b="1" lang="en-GB" sz="1100">
                          <a:solidFill>
                            <a:srgbClr val="1F1F1F"/>
                          </a:solidFill>
                        </a:rPr>
                        <a:t>+£21,230.17</a:t>
                      </a:r>
                      <a:endParaRPr b="1" sz="1100">
                        <a:solidFill>
                          <a:srgbClr val="1F1F1F"/>
                        </a:solidFill>
                      </a:endParaRPr>
                    </a:p>
                  </a:txBody>
                  <a:tcPr marT="76200" marB="76200" marR="114300" marL="114300">
                    <a:lnL cap="flat" cmpd="sng" w="9525">
                      <a:solidFill>
                        <a:srgbClr val="C4C7C5"/>
                      </a:solidFill>
                      <a:prstDash val="solid"/>
                      <a:round/>
                      <a:headEnd len="sm" w="sm" type="none"/>
                      <a:tailEnd len="sm" w="sm" type="none"/>
                    </a:lnL>
                    <a:lnR cap="flat" cmpd="sng" w="9525">
                      <a:solidFill>
                        <a:srgbClr val="C4C7C5"/>
                      </a:solidFill>
                      <a:prstDash val="solid"/>
                      <a:round/>
                      <a:headEnd len="sm" w="sm" type="none"/>
                      <a:tailEnd len="sm" w="sm" type="none"/>
                    </a:lnR>
                    <a:lnT cap="flat" cmpd="sng" w="9525">
                      <a:solidFill>
                        <a:srgbClr val="C4C7C5"/>
                      </a:solidFill>
                      <a:prstDash val="solid"/>
                      <a:round/>
                      <a:headEnd len="sm" w="sm" type="none"/>
                      <a:tailEnd len="sm" w="sm" type="none"/>
                    </a:lnT>
                    <a:lnB cap="flat" cmpd="sng" w="9525">
                      <a:solidFill>
                        <a:srgbClr val="C4C7C5"/>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GB" sz="1100">
                          <a:solidFill>
                            <a:srgbClr val="1F1F1F"/>
                          </a:solidFill>
                        </a:rPr>
                        <a:t>150.78%</a:t>
                      </a:r>
                      <a:endParaRPr sz="1100">
                        <a:solidFill>
                          <a:srgbClr val="1F1F1F"/>
                        </a:solidFill>
                      </a:endParaRPr>
                    </a:p>
                  </a:txBody>
                  <a:tcPr marT="76200" marB="76200" marR="114300" marL="114300">
                    <a:lnL cap="flat" cmpd="sng" w="9525">
                      <a:solidFill>
                        <a:srgbClr val="C4C7C5"/>
                      </a:solidFill>
                      <a:prstDash val="solid"/>
                      <a:round/>
                      <a:headEnd len="sm" w="sm" type="none"/>
                      <a:tailEnd len="sm" w="sm" type="none"/>
                    </a:lnL>
                    <a:lnR cap="flat" cmpd="sng" w="9525">
                      <a:solidFill>
                        <a:srgbClr val="C4C7C5"/>
                      </a:solidFill>
                      <a:prstDash val="solid"/>
                      <a:round/>
                      <a:headEnd len="sm" w="sm" type="none"/>
                      <a:tailEnd len="sm" w="sm" type="none"/>
                    </a:lnR>
                    <a:lnT cap="flat" cmpd="sng" w="9525">
                      <a:solidFill>
                        <a:srgbClr val="C4C7C5"/>
                      </a:solidFill>
                      <a:prstDash val="solid"/>
                      <a:round/>
                      <a:headEnd len="sm" w="sm" type="none"/>
                      <a:tailEnd len="sm" w="sm" type="none"/>
                    </a:lnT>
                    <a:lnB cap="flat" cmpd="sng" w="9525">
                      <a:solidFill>
                        <a:srgbClr val="C4C7C5"/>
                      </a:solidFill>
                      <a:prstDash val="solid"/>
                      <a:round/>
                      <a:headEnd len="sm" w="sm" type="none"/>
                      <a:tailEnd len="sm" w="sm" type="none"/>
                    </a:lnB>
                  </a:tcPr>
                </a:tc>
              </a:tr>
              <a:tr h="530000">
                <a:tc>
                  <a:txBody>
                    <a:bodyPr/>
                    <a:lstStyle/>
                    <a:p>
                      <a:pPr indent="0" lvl="0" marL="0" rtl="0" algn="l">
                        <a:lnSpc>
                          <a:spcPct val="115000"/>
                        </a:lnSpc>
                        <a:spcBef>
                          <a:spcPts val="0"/>
                        </a:spcBef>
                        <a:spcAft>
                          <a:spcPts val="0"/>
                        </a:spcAft>
                        <a:buNone/>
                      </a:pPr>
                      <a:r>
                        <a:rPr b="1" lang="en-GB" sz="1100">
                          <a:solidFill>
                            <a:srgbClr val="1F1F1F"/>
                          </a:solidFill>
                        </a:rPr>
                        <a:t>TOTALS</a:t>
                      </a:r>
                      <a:endParaRPr b="1" sz="1100">
                        <a:solidFill>
                          <a:srgbClr val="1F1F1F"/>
                        </a:solidFill>
                      </a:endParaRPr>
                    </a:p>
                  </a:txBody>
                  <a:tcPr marT="76200" marB="76200" marR="114300" marL="114300">
                    <a:lnL cap="flat" cmpd="sng" w="9525">
                      <a:solidFill>
                        <a:srgbClr val="C4C7C5"/>
                      </a:solidFill>
                      <a:prstDash val="solid"/>
                      <a:round/>
                      <a:headEnd len="sm" w="sm" type="none"/>
                      <a:tailEnd len="sm" w="sm" type="none"/>
                    </a:lnL>
                    <a:lnR cap="flat" cmpd="sng" w="9525">
                      <a:solidFill>
                        <a:srgbClr val="C4C7C5"/>
                      </a:solidFill>
                      <a:prstDash val="solid"/>
                      <a:round/>
                      <a:headEnd len="sm" w="sm" type="none"/>
                      <a:tailEnd len="sm" w="sm" type="none"/>
                    </a:lnR>
                    <a:lnT cap="flat" cmpd="sng" w="9525">
                      <a:solidFill>
                        <a:srgbClr val="C4C7C5"/>
                      </a:solidFill>
                      <a:prstDash val="solid"/>
                      <a:round/>
                      <a:headEnd len="sm" w="sm" type="none"/>
                      <a:tailEnd len="sm" w="sm" type="none"/>
                    </a:lnT>
                    <a:lnB cap="flat" cmpd="sng" w="9525">
                      <a:solidFill>
                        <a:srgbClr val="C4C7C5"/>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b="1" lang="en-GB" sz="1100">
                          <a:solidFill>
                            <a:srgbClr val="1F1F1F"/>
                          </a:solidFill>
                        </a:rPr>
                        <a:t>Phase 1 Combined Bundle</a:t>
                      </a:r>
                      <a:endParaRPr b="1" sz="1100">
                        <a:solidFill>
                          <a:srgbClr val="1F1F1F"/>
                        </a:solidFill>
                      </a:endParaRPr>
                    </a:p>
                  </a:txBody>
                  <a:tcPr marT="76200" marB="76200" marR="114300" marL="114300">
                    <a:lnL cap="flat" cmpd="sng" w="9525">
                      <a:solidFill>
                        <a:srgbClr val="C4C7C5"/>
                      </a:solidFill>
                      <a:prstDash val="solid"/>
                      <a:round/>
                      <a:headEnd len="sm" w="sm" type="none"/>
                      <a:tailEnd len="sm" w="sm" type="none"/>
                    </a:lnL>
                    <a:lnR cap="flat" cmpd="sng" w="9525">
                      <a:solidFill>
                        <a:srgbClr val="C4C7C5"/>
                      </a:solidFill>
                      <a:prstDash val="solid"/>
                      <a:round/>
                      <a:headEnd len="sm" w="sm" type="none"/>
                      <a:tailEnd len="sm" w="sm" type="none"/>
                    </a:lnR>
                    <a:lnT cap="flat" cmpd="sng" w="9525">
                      <a:solidFill>
                        <a:srgbClr val="C4C7C5"/>
                      </a:solidFill>
                      <a:prstDash val="solid"/>
                      <a:round/>
                      <a:headEnd len="sm" w="sm" type="none"/>
                      <a:tailEnd len="sm" w="sm" type="none"/>
                    </a:lnT>
                    <a:lnB cap="flat" cmpd="sng" w="9525">
                      <a:solidFill>
                        <a:srgbClr val="C4C7C5"/>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b="1" lang="en-GB" sz="1100">
                          <a:solidFill>
                            <a:srgbClr val="1F1F1F"/>
                          </a:solidFill>
                        </a:rPr>
                        <a:t>£42,320.00</a:t>
                      </a:r>
                      <a:endParaRPr b="1" sz="1100">
                        <a:solidFill>
                          <a:srgbClr val="1F1F1F"/>
                        </a:solidFill>
                      </a:endParaRPr>
                    </a:p>
                  </a:txBody>
                  <a:tcPr marT="76200" marB="76200" marR="114300" marL="114300">
                    <a:lnL cap="flat" cmpd="sng" w="9525">
                      <a:solidFill>
                        <a:srgbClr val="C4C7C5"/>
                      </a:solidFill>
                      <a:prstDash val="solid"/>
                      <a:round/>
                      <a:headEnd len="sm" w="sm" type="none"/>
                      <a:tailEnd len="sm" w="sm" type="none"/>
                    </a:lnL>
                    <a:lnR cap="flat" cmpd="sng" w="9525">
                      <a:solidFill>
                        <a:srgbClr val="C4C7C5"/>
                      </a:solidFill>
                      <a:prstDash val="solid"/>
                      <a:round/>
                      <a:headEnd len="sm" w="sm" type="none"/>
                      <a:tailEnd len="sm" w="sm" type="none"/>
                    </a:lnR>
                    <a:lnT cap="flat" cmpd="sng" w="9525">
                      <a:solidFill>
                        <a:srgbClr val="C4C7C5"/>
                      </a:solidFill>
                      <a:prstDash val="solid"/>
                      <a:round/>
                      <a:headEnd len="sm" w="sm" type="none"/>
                      <a:tailEnd len="sm" w="sm" type="none"/>
                    </a:lnT>
                    <a:lnB cap="flat" cmpd="sng" w="9525">
                      <a:solidFill>
                        <a:srgbClr val="C4C7C5"/>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b="1" lang="en-GB" sz="1100">
                          <a:solidFill>
                            <a:srgbClr val="1F1F1F"/>
                          </a:solidFill>
                        </a:rPr>
                        <a:t>£66,756.09</a:t>
                      </a:r>
                      <a:endParaRPr b="1" sz="1100">
                        <a:solidFill>
                          <a:srgbClr val="1F1F1F"/>
                        </a:solidFill>
                      </a:endParaRPr>
                    </a:p>
                  </a:txBody>
                  <a:tcPr marT="76200" marB="76200" marR="114300" marL="114300">
                    <a:lnL cap="flat" cmpd="sng" w="9525">
                      <a:solidFill>
                        <a:srgbClr val="C4C7C5"/>
                      </a:solidFill>
                      <a:prstDash val="solid"/>
                      <a:round/>
                      <a:headEnd len="sm" w="sm" type="none"/>
                      <a:tailEnd len="sm" w="sm" type="none"/>
                    </a:lnL>
                    <a:lnR cap="flat" cmpd="sng" w="9525">
                      <a:solidFill>
                        <a:srgbClr val="C4C7C5"/>
                      </a:solidFill>
                      <a:prstDash val="solid"/>
                      <a:round/>
                      <a:headEnd len="sm" w="sm" type="none"/>
                      <a:tailEnd len="sm" w="sm" type="none"/>
                    </a:lnR>
                    <a:lnT cap="flat" cmpd="sng" w="9525">
                      <a:solidFill>
                        <a:srgbClr val="C4C7C5"/>
                      </a:solidFill>
                      <a:prstDash val="solid"/>
                      <a:round/>
                      <a:headEnd len="sm" w="sm" type="none"/>
                      <a:tailEnd len="sm" w="sm" type="none"/>
                    </a:lnT>
                    <a:lnB cap="flat" cmpd="sng" w="9525">
                      <a:solidFill>
                        <a:srgbClr val="C4C7C5"/>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b="1" lang="en-GB" sz="1100">
                          <a:solidFill>
                            <a:srgbClr val="1F1F1F"/>
                          </a:solidFill>
                        </a:rPr>
                        <a:t>+£24,436.09</a:t>
                      </a:r>
                      <a:endParaRPr b="1" sz="1100">
                        <a:solidFill>
                          <a:srgbClr val="1F1F1F"/>
                        </a:solidFill>
                      </a:endParaRPr>
                    </a:p>
                  </a:txBody>
                  <a:tcPr marT="76200" marB="76200" marR="114300" marL="114300">
                    <a:lnL cap="flat" cmpd="sng" w="9525">
                      <a:solidFill>
                        <a:srgbClr val="C4C7C5"/>
                      </a:solidFill>
                      <a:prstDash val="solid"/>
                      <a:round/>
                      <a:headEnd len="sm" w="sm" type="none"/>
                      <a:tailEnd len="sm" w="sm" type="none"/>
                    </a:lnL>
                    <a:lnR cap="flat" cmpd="sng" w="9525">
                      <a:solidFill>
                        <a:srgbClr val="C4C7C5"/>
                      </a:solidFill>
                      <a:prstDash val="solid"/>
                      <a:round/>
                      <a:headEnd len="sm" w="sm" type="none"/>
                      <a:tailEnd len="sm" w="sm" type="none"/>
                    </a:lnR>
                    <a:lnT cap="flat" cmpd="sng" w="9525">
                      <a:solidFill>
                        <a:srgbClr val="C4C7C5"/>
                      </a:solidFill>
                      <a:prstDash val="solid"/>
                      <a:round/>
                      <a:headEnd len="sm" w="sm" type="none"/>
                      <a:tailEnd len="sm" w="sm" type="none"/>
                    </a:lnT>
                    <a:lnB cap="flat" cmpd="sng" w="9525">
                      <a:solidFill>
                        <a:srgbClr val="C4C7C5"/>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b="1" lang="en-GB" sz="1100">
                          <a:solidFill>
                            <a:srgbClr val="1F1F1F"/>
                          </a:solidFill>
                        </a:rPr>
                        <a:t>57.74%</a:t>
                      </a:r>
                      <a:endParaRPr b="1" sz="1100">
                        <a:solidFill>
                          <a:srgbClr val="1F1F1F"/>
                        </a:solidFill>
                      </a:endParaRPr>
                    </a:p>
                  </a:txBody>
                  <a:tcPr marT="76200" marB="76200" marR="114300" marL="114300">
                    <a:lnL cap="flat" cmpd="sng" w="9525">
                      <a:solidFill>
                        <a:srgbClr val="C4C7C5"/>
                      </a:solidFill>
                      <a:prstDash val="solid"/>
                      <a:round/>
                      <a:headEnd len="sm" w="sm" type="none"/>
                      <a:tailEnd len="sm" w="sm" type="none"/>
                    </a:lnL>
                    <a:lnR cap="flat" cmpd="sng" w="9525">
                      <a:solidFill>
                        <a:srgbClr val="C4C7C5"/>
                      </a:solidFill>
                      <a:prstDash val="solid"/>
                      <a:round/>
                      <a:headEnd len="sm" w="sm" type="none"/>
                      <a:tailEnd len="sm" w="sm" type="none"/>
                    </a:lnR>
                    <a:lnT cap="flat" cmpd="sng" w="9525">
                      <a:solidFill>
                        <a:srgbClr val="C4C7C5"/>
                      </a:solidFill>
                      <a:prstDash val="solid"/>
                      <a:round/>
                      <a:headEnd len="sm" w="sm" type="none"/>
                      <a:tailEnd len="sm" w="sm" type="none"/>
                    </a:lnT>
                    <a:lnB cap="flat" cmpd="sng" w="9525">
                      <a:solidFill>
                        <a:srgbClr val="C4C7C5"/>
                      </a:solidFill>
                      <a:prstDash val="solid"/>
                      <a:round/>
                      <a:headEnd len="sm" w="sm" type="none"/>
                      <a:tailEnd len="sm" w="sm" type="none"/>
                    </a:lnB>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28" name="Shape 128"/>
        <p:cNvGrpSpPr/>
        <p:nvPr/>
      </p:nvGrpSpPr>
      <p:grpSpPr>
        <a:xfrm>
          <a:off x="0" y="0"/>
          <a:ext cx="0" cy="0"/>
          <a:chOff x="0" y="0"/>
          <a:chExt cx="0" cy="0"/>
        </a:xfrm>
      </p:grpSpPr>
      <p:sp>
        <p:nvSpPr>
          <p:cNvPr id="129" name="Google Shape;129;p18"/>
          <p:cNvSpPr/>
          <p:nvPr/>
        </p:nvSpPr>
        <p:spPr>
          <a:xfrm>
            <a:off x="0" y="0"/>
            <a:ext cx="9144000" cy="762000"/>
          </a:xfrm>
          <a:prstGeom prst="rect">
            <a:avLst/>
          </a:prstGeom>
          <a:solidFill>
            <a:srgbClr val="1C1E21"/>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30" name="Google Shape;130;p18"/>
          <p:cNvSpPr txBox="1"/>
          <p:nvPr/>
        </p:nvSpPr>
        <p:spPr>
          <a:xfrm>
            <a:off x="381000" y="0"/>
            <a:ext cx="8382000" cy="762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2400">
                <a:solidFill>
                  <a:srgbClr val="FFFFFF"/>
                </a:solidFill>
                <a:latin typeface="Roboto"/>
                <a:ea typeface="Roboto"/>
                <a:cs typeface="Roboto"/>
                <a:sym typeface="Roboto"/>
              </a:rPr>
              <a:t>Scope and exclusions</a:t>
            </a:r>
            <a:endParaRPr b="1" sz="2400">
              <a:solidFill>
                <a:srgbClr val="FFFFFF"/>
              </a:solidFill>
              <a:latin typeface="Roboto"/>
              <a:ea typeface="Roboto"/>
              <a:cs typeface="Roboto"/>
              <a:sym typeface="Roboto"/>
            </a:endParaRPr>
          </a:p>
        </p:txBody>
      </p:sp>
      <p:sp>
        <p:nvSpPr>
          <p:cNvPr id="131" name="Google Shape;131;p18"/>
          <p:cNvSpPr/>
          <p:nvPr/>
        </p:nvSpPr>
        <p:spPr>
          <a:xfrm>
            <a:off x="381000" y="4572000"/>
            <a:ext cx="8382000" cy="19200"/>
          </a:xfrm>
          <a:prstGeom prst="rect">
            <a:avLst/>
          </a:prstGeom>
          <a:solidFill>
            <a:srgbClr val="E9ECE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32" name="Google Shape;132;p18"/>
          <p:cNvSpPr txBox="1"/>
          <p:nvPr/>
        </p:nvSpPr>
        <p:spPr>
          <a:xfrm>
            <a:off x="381000" y="4667250"/>
            <a:ext cx="8382000" cy="2859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lang="en-GB" sz="1000">
                <a:solidFill>
                  <a:srgbClr val="6C757D"/>
                </a:solidFill>
                <a:latin typeface="Roboto"/>
                <a:ea typeface="Roboto"/>
                <a:cs typeface="Roboto"/>
                <a:sym typeface="Roboto"/>
              </a:rPr>
              <a:t>Smart Recovery Initiative - Discovery Package Output</a:t>
            </a:r>
            <a:endParaRPr sz="1000">
              <a:solidFill>
                <a:srgbClr val="6C757D"/>
              </a:solidFill>
              <a:latin typeface="Roboto"/>
              <a:ea typeface="Roboto"/>
              <a:cs typeface="Roboto"/>
              <a:sym typeface="Roboto"/>
            </a:endParaRPr>
          </a:p>
        </p:txBody>
      </p:sp>
      <p:grpSp>
        <p:nvGrpSpPr>
          <p:cNvPr id="133" name="Google Shape;133;p18"/>
          <p:cNvGrpSpPr/>
          <p:nvPr/>
        </p:nvGrpSpPr>
        <p:grpSpPr>
          <a:xfrm>
            <a:off x="381000" y="857250"/>
            <a:ext cx="8382150" cy="2857500"/>
            <a:chOff x="381000" y="857250"/>
            <a:chExt cx="8382150" cy="2857500"/>
          </a:xfrm>
        </p:grpSpPr>
        <p:sp>
          <p:nvSpPr>
            <p:cNvPr id="134" name="Google Shape;134;p18"/>
            <p:cNvSpPr/>
            <p:nvPr/>
          </p:nvSpPr>
          <p:spPr>
            <a:xfrm>
              <a:off x="381000" y="857250"/>
              <a:ext cx="8382000" cy="285900"/>
            </a:xfrm>
            <a:prstGeom prst="roundRect">
              <a:avLst>
                <a:gd fmla="val 13333" name="adj"/>
              </a:avLst>
            </a:prstGeom>
            <a:solidFill>
              <a:srgbClr val="E9ECE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35" name="Google Shape;135;p18"/>
            <p:cNvSpPr txBox="1"/>
            <p:nvPr/>
          </p:nvSpPr>
          <p:spPr>
            <a:xfrm>
              <a:off x="476250" y="857250"/>
              <a:ext cx="8191500" cy="2859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1200">
                  <a:solidFill>
                    <a:srgbClr val="1C1E21"/>
                  </a:solidFill>
                  <a:latin typeface="Roboto"/>
                  <a:ea typeface="Roboto"/>
                  <a:cs typeface="Roboto"/>
                  <a:sym typeface="Roboto"/>
                </a:rPr>
                <a:t>IN-SCOPE CAPABILITIES (PHASE 1 FUNDING)</a:t>
              </a:r>
              <a:endParaRPr b="1" sz="1200">
                <a:solidFill>
                  <a:srgbClr val="1C1E21"/>
                </a:solidFill>
                <a:latin typeface="Roboto"/>
                <a:ea typeface="Roboto"/>
                <a:cs typeface="Roboto"/>
                <a:sym typeface="Roboto"/>
              </a:endParaRPr>
            </a:p>
          </p:txBody>
        </p:sp>
        <p:grpSp>
          <p:nvGrpSpPr>
            <p:cNvPr id="136" name="Google Shape;136;p18"/>
            <p:cNvGrpSpPr/>
            <p:nvPr/>
          </p:nvGrpSpPr>
          <p:grpSpPr>
            <a:xfrm>
              <a:off x="381000" y="1238250"/>
              <a:ext cx="4095900" cy="952500"/>
              <a:chOff x="381000" y="1238250"/>
              <a:chExt cx="4095900" cy="952500"/>
            </a:xfrm>
          </p:grpSpPr>
          <p:sp>
            <p:nvSpPr>
              <p:cNvPr id="137" name="Google Shape;137;p18"/>
              <p:cNvSpPr/>
              <p:nvPr/>
            </p:nvSpPr>
            <p:spPr>
              <a:xfrm>
                <a:off x="381000" y="1238250"/>
                <a:ext cx="4095900" cy="952500"/>
              </a:xfrm>
              <a:prstGeom prst="roundRect">
                <a:avLst>
                  <a:gd fmla="val 8000" name="adj"/>
                </a:avLst>
              </a:prstGeom>
              <a:solidFill>
                <a:srgbClr val="F8F9FA"/>
              </a:solidFill>
              <a:ln cap="flat" cmpd="sng" w="9525">
                <a:solidFill>
                  <a:srgbClr val="DEE2E6"/>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38" name="Google Shape;138;p18"/>
              <p:cNvSpPr txBox="1"/>
              <p:nvPr/>
            </p:nvSpPr>
            <p:spPr>
              <a:xfrm>
                <a:off x="523875" y="1238250"/>
                <a:ext cx="3810000" cy="952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1100">
                    <a:solidFill>
                      <a:srgbClr val="0056B3"/>
                    </a:solidFill>
                    <a:latin typeface="Roboto"/>
                    <a:ea typeface="Roboto"/>
                    <a:cs typeface="Roboto"/>
                    <a:sym typeface="Roboto"/>
                  </a:rPr>
                  <a:t>Identity Verification (MFA Login Gate)</a:t>
                </a:r>
                <a:endParaRPr b="1" sz="1100">
                  <a:solidFill>
                    <a:srgbClr val="0056B3"/>
                  </a:solidFill>
                  <a:latin typeface="Roboto"/>
                  <a:ea typeface="Roboto"/>
                  <a:cs typeface="Roboto"/>
                  <a:sym typeface="Roboto"/>
                </a:endParaRPr>
              </a:p>
              <a:p>
                <a:pPr indent="0" lvl="0" marL="0" rtl="0" algn="l">
                  <a:spcBef>
                    <a:spcPts val="300"/>
                  </a:spcBef>
                  <a:spcAft>
                    <a:spcPts val="0"/>
                  </a:spcAft>
                  <a:buNone/>
                </a:pPr>
                <a:r>
                  <a:rPr b="0" lang="en-GB" sz="1000">
                    <a:solidFill>
                      <a:srgbClr val="495057"/>
                    </a:solidFill>
                    <a:latin typeface="Roboto"/>
                    <a:ea typeface="Roboto"/>
                    <a:cs typeface="Roboto"/>
                    <a:sym typeface="Roboto"/>
                  </a:rPr>
                  <a:t>Full MFA matching customer records. </a:t>
                </a:r>
                <a:r>
                  <a:rPr b="0" i="1" lang="en-GB" sz="1000">
                    <a:solidFill>
                      <a:srgbClr val="DC3545"/>
                    </a:solidFill>
                    <a:latin typeface="Roboto"/>
                    <a:ea typeface="Roboto"/>
                    <a:cs typeface="Roboto"/>
                    <a:sym typeface="Roboto"/>
                  </a:rPr>
                  <a:t>FCA Guardrail:</a:t>
                </a:r>
                <a:r>
                  <a:rPr b="0" lang="en-GB" sz="1000">
                    <a:solidFill>
                      <a:srgbClr val="495057"/>
                    </a:solidFill>
                    <a:latin typeface="Roboto"/>
                    <a:ea typeface="Roboto"/>
                    <a:cs typeface="Roboto"/>
                    <a:sym typeface="Roboto"/>
                  </a:rPr>
                  <a:t> 3 failed attempts triggers lock and proactive outreach.</a:t>
                </a:r>
                <a:endParaRPr b="0" sz="1000">
                  <a:solidFill>
                    <a:srgbClr val="495057"/>
                  </a:solidFill>
                  <a:latin typeface="Roboto"/>
                  <a:ea typeface="Roboto"/>
                  <a:cs typeface="Roboto"/>
                  <a:sym typeface="Roboto"/>
                </a:endParaRPr>
              </a:p>
            </p:txBody>
          </p:sp>
        </p:grpSp>
        <p:grpSp>
          <p:nvGrpSpPr>
            <p:cNvPr id="139" name="Google Shape;139;p18"/>
            <p:cNvGrpSpPr/>
            <p:nvPr/>
          </p:nvGrpSpPr>
          <p:grpSpPr>
            <a:xfrm>
              <a:off x="4667250" y="1238250"/>
              <a:ext cx="4095900" cy="952500"/>
              <a:chOff x="4667250" y="1238250"/>
              <a:chExt cx="4095900" cy="952500"/>
            </a:xfrm>
          </p:grpSpPr>
          <p:sp>
            <p:nvSpPr>
              <p:cNvPr id="140" name="Google Shape;140;p18"/>
              <p:cNvSpPr/>
              <p:nvPr/>
            </p:nvSpPr>
            <p:spPr>
              <a:xfrm>
                <a:off x="4667250" y="1238250"/>
                <a:ext cx="4095900" cy="952500"/>
              </a:xfrm>
              <a:prstGeom prst="roundRect">
                <a:avLst>
                  <a:gd fmla="val 8000" name="adj"/>
                </a:avLst>
              </a:prstGeom>
              <a:solidFill>
                <a:srgbClr val="F8F9FA"/>
              </a:solidFill>
              <a:ln cap="flat" cmpd="sng" w="9525">
                <a:solidFill>
                  <a:srgbClr val="DEE2E6"/>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1" name="Google Shape;141;p18"/>
              <p:cNvSpPr txBox="1"/>
              <p:nvPr/>
            </p:nvSpPr>
            <p:spPr>
              <a:xfrm>
                <a:off x="4810125" y="1238250"/>
                <a:ext cx="3810000" cy="952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1100">
                    <a:solidFill>
                      <a:srgbClr val="0056B3"/>
                    </a:solidFill>
                    <a:latin typeface="Roboto"/>
                    <a:ea typeface="Roboto"/>
                    <a:cs typeface="Roboto"/>
                    <a:sym typeface="Roboto"/>
                  </a:rPr>
                  <a:t>Account Summary Dashboard (OPP-01)</a:t>
                </a:r>
                <a:endParaRPr b="1" sz="1100">
                  <a:solidFill>
                    <a:srgbClr val="0056B3"/>
                  </a:solidFill>
                  <a:latin typeface="Roboto"/>
                  <a:ea typeface="Roboto"/>
                  <a:cs typeface="Roboto"/>
                  <a:sym typeface="Roboto"/>
                </a:endParaRPr>
              </a:p>
              <a:p>
                <a:pPr indent="0" lvl="0" marL="0" rtl="0" algn="l">
                  <a:spcBef>
                    <a:spcPts val="300"/>
                  </a:spcBef>
                  <a:spcAft>
                    <a:spcPts val="0"/>
                  </a:spcAft>
                  <a:buNone/>
                </a:pPr>
                <a:r>
                  <a:rPr b="0" lang="en-GB" sz="1000">
                    <a:solidFill>
                      <a:srgbClr val="495057"/>
                    </a:solidFill>
                    <a:latin typeface="Roboto"/>
                    <a:ea typeface="Roboto"/>
                    <a:cs typeface="Roboto"/>
                    <a:sym typeface="Roboto"/>
                  </a:rPr>
                  <a:t>Clean frontend interface for balances and outstanding money, deflecting routine agent inquiries.</a:t>
                </a:r>
                <a:endParaRPr b="0" sz="1000">
                  <a:solidFill>
                    <a:srgbClr val="495057"/>
                  </a:solidFill>
                  <a:latin typeface="Roboto"/>
                  <a:ea typeface="Roboto"/>
                  <a:cs typeface="Roboto"/>
                  <a:sym typeface="Roboto"/>
                </a:endParaRPr>
              </a:p>
            </p:txBody>
          </p:sp>
        </p:grpSp>
        <p:grpSp>
          <p:nvGrpSpPr>
            <p:cNvPr id="142" name="Google Shape;142;p18"/>
            <p:cNvGrpSpPr/>
            <p:nvPr/>
          </p:nvGrpSpPr>
          <p:grpSpPr>
            <a:xfrm>
              <a:off x="381000" y="2286000"/>
              <a:ext cx="4095900" cy="952500"/>
              <a:chOff x="381000" y="2286000"/>
              <a:chExt cx="4095900" cy="952500"/>
            </a:xfrm>
          </p:grpSpPr>
          <p:sp>
            <p:nvSpPr>
              <p:cNvPr id="143" name="Google Shape;143;p18"/>
              <p:cNvSpPr/>
              <p:nvPr/>
            </p:nvSpPr>
            <p:spPr>
              <a:xfrm>
                <a:off x="381000" y="2286000"/>
                <a:ext cx="4095900" cy="952500"/>
              </a:xfrm>
              <a:prstGeom prst="roundRect">
                <a:avLst>
                  <a:gd fmla="val 8000" name="adj"/>
                </a:avLst>
              </a:prstGeom>
              <a:solidFill>
                <a:srgbClr val="F8F9FA"/>
              </a:solidFill>
              <a:ln cap="flat" cmpd="sng" w="9525">
                <a:solidFill>
                  <a:srgbClr val="DEE2E6"/>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4" name="Google Shape;144;p18"/>
              <p:cNvSpPr txBox="1"/>
              <p:nvPr/>
            </p:nvSpPr>
            <p:spPr>
              <a:xfrm>
                <a:off x="523875" y="2286000"/>
                <a:ext cx="3810000" cy="952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1100">
                    <a:solidFill>
                      <a:srgbClr val="0056B3"/>
                    </a:solidFill>
                    <a:latin typeface="Roboto"/>
                    <a:ea typeface="Roboto"/>
                    <a:cs typeface="Roboto"/>
                    <a:sym typeface="Roboto"/>
                  </a:rPr>
                  <a:t>Promise to Pay Setup (OPP-05)</a:t>
                </a:r>
                <a:endParaRPr b="1" sz="1100">
                  <a:solidFill>
                    <a:srgbClr val="0056B3"/>
                  </a:solidFill>
                  <a:latin typeface="Roboto"/>
                  <a:ea typeface="Roboto"/>
                  <a:cs typeface="Roboto"/>
                  <a:sym typeface="Roboto"/>
                </a:endParaRPr>
              </a:p>
              <a:p>
                <a:pPr indent="0" lvl="0" marL="0" rtl="0" algn="l">
                  <a:spcBef>
                    <a:spcPts val="300"/>
                  </a:spcBef>
                  <a:spcAft>
                    <a:spcPts val="0"/>
                  </a:spcAft>
                  <a:buNone/>
                </a:pPr>
                <a:r>
                  <a:rPr b="0" lang="en-GB" sz="1000">
                    <a:solidFill>
                      <a:srgbClr val="495057"/>
                    </a:solidFill>
                    <a:latin typeface="Roboto"/>
                    <a:ea typeface="Roboto"/>
                    <a:cs typeface="Roboto"/>
                    <a:sym typeface="Roboto"/>
                  </a:rPr>
                  <a:t>Structured repayment portal. </a:t>
                </a:r>
                <a:r>
                  <a:rPr b="0" i="1" lang="en-GB" sz="1000">
                    <a:solidFill>
                      <a:srgbClr val="DC3545"/>
                    </a:solidFill>
                    <a:latin typeface="Roboto"/>
                    <a:ea typeface="Roboto"/>
                    <a:cs typeface="Roboto"/>
                    <a:sym typeface="Roboto"/>
                  </a:rPr>
                  <a:t>Affordability Guardrail:</a:t>
                </a:r>
                <a:r>
                  <a:rPr b="0" lang="en-GB" sz="1000">
                    <a:solidFill>
                      <a:srgbClr val="495057"/>
                    </a:solidFill>
                    <a:latin typeface="Roboto"/>
                    <a:ea typeface="Roboto"/>
                    <a:cs typeface="Roboto"/>
                    <a:sym typeface="Roboto"/>
                  </a:rPr>
                  <a:t> Instant agent escalation if repayment exceeds income.</a:t>
                </a:r>
                <a:endParaRPr b="0" sz="1000">
                  <a:solidFill>
                    <a:srgbClr val="495057"/>
                  </a:solidFill>
                  <a:latin typeface="Roboto"/>
                  <a:ea typeface="Roboto"/>
                  <a:cs typeface="Roboto"/>
                  <a:sym typeface="Roboto"/>
                </a:endParaRPr>
              </a:p>
            </p:txBody>
          </p:sp>
        </p:grpSp>
        <p:grpSp>
          <p:nvGrpSpPr>
            <p:cNvPr id="145" name="Google Shape;145;p18"/>
            <p:cNvGrpSpPr/>
            <p:nvPr/>
          </p:nvGrpSpPr>
          <p:grpSpPr>
            <a:xfrm>
              <a:off x="4667250" y="2286000"/>
              <a:ext cx="4095900" cy="952500"/>
              <a:chOff x="4667250" y="2286000"/>
              <a:chExt cx="4095900" cy="952500"/>
            </a:xfrm>
          </p:grpSpPr>
          <p:sp>
            <p:nvSpPr>
              <p:cNvPr id="146" name="Google Shape;146;p18"/>
              <p:cNvSpPr/>
              <p:nvPr/>
            </p:nvSpPr>
            <p:spPr>
              <a:xfrm>
                <a:off x="4667250" y="2286000"/>
                <a:ext cx="4095900" cy="952500"/>
              </a:xfrm>
              <a:prstGeom prst="roundRect">
                <a:avLst>
                  <a:gd fmla="val 8000" name="adj"/>
                </a:avLst>
              </a:prstGeom>
              <a:solidFill>
                <a:srgbClr val="F8F9FA"/>
              </a:solidFill>
              <a:ln cap="flat" cmpd="sng" w="9525">
                <a:solidFill>
                  <a:srgbClr val="DEE2E6"/>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47" name="Google Shape;147;p18"/>
              <p:cNvSpPr txBox="1"/>
              <p:nvPr/>
            </p:nvSpPr>
            <p:spPr>
              <a:xfrm>
                <a:off x="4810125" y="2286000"/>
                <a:ext cx="3810000" cy="952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1100">
                    <a:solidFill>
                      <a:srgbClr val="0056B3"/>
                    </a:solidFill>
                    <a:latin typeface="Roboto"/>
                    <a:ea typeface="Roboto"/>
                    <a:cs typeface="Roboto"/>
                    <a:sym typeface="Roboto"/>
                  </a:rPr>
                  <a:t>Automated Workflow Alerts (OPP-05)</a:t>
                </a:r>
                <a:endParaRPr b="1" sz="1100">
                  <a:solidFill>
                    <a:srgbClr val="0056B3"/>
                  </a:solidFill>
                  <a:latin typeface="Roboto"/>
                  <a:ea typeface="Roboto"/>
                  <a:cs typeface="Roboto"/>
                  <a:sym typeface="Roboto"/>
                </a:endParaRPr>
              </a:p>
              <a:p>
                <a:pPr indent="0" lvl="0" marL="0" rtl="0" algn="l">
                  <a:spcBef>
                    <a:spcPts val="300"/>
                  </a:spcBef>
                  <a:spcAft>
                    <a:spcPts val="0"/>
                  </a:spcAft>
                  <a:buNone/>
                </a:pPr>
                <a:r>
                  <a:rPr b="0" lang="en-GB" sz="1000">
                    <a:solidFill>
                      <a:srgbClr val="495057"/>
                    </a:solidFill>
                    <a:latin typeface="Roboto"/>
                    <a:ea typeface="Roboto"/>
                    <a:cs typeface="Roboto"/>
                    <a:sym typeface="Roboto"/>
                  </a:rPr>
                  <a:t>Backend triggers for missed deadlines, rescuing </a:t>
                </a:r>
                <a:r>
                  <a:rPr b="1" lang="en-GB" sz="1000">
                    <a:solidFill>
                      <a:srgbClr val="495057"/>
                    </a:solidFill>
                    <a:latin typeface="Roboto"/>
                    <a:ea typeface="Roboto"/>
                    <a:cs typeface="Roboto"/>
                    <a:sym typeface="Roboto"/>
                  </a:rPr>
                  <a:t>£10,617.37</a:t>
                </a:r>
                <a:r>
                  <a:rPr b="0" lang="en-GB" sz="1000">
                    <a:solidFill>
                      <a:srgbClr val="495057"/>
                    </a:solidFill>
                    <a:latin typeface="Roboto"/>
                    <a:ea typeface="Roboto"/>
                    <a:cs typeface="Roboto"/>
                    <a:sym typeface="Roboto"/>
                  </a:rPr>
                  <a:t> in arrangement leakage.</a:t>
                </a:r>
                <a:endParaRPr b="0" sz="1000">
                  <a:solidFill>
                    <a:srgbClr val="495057"/>
                  </a:solidFill>
                  <a:latin typeface="Roboto"/>
                  <a:ea typeface="Roboto"/>
                  <a:cs typeface="Roboto"/>
                  <a:sym typeface="Roboto"/>
                </a:endParaRPr>
              </a:p>
            </p:txBody>
          </p:sp>
        </p:grpSp>
        <p:grpSp>
          <p:nvGrpSpPr>
            <p:cNvPr id="148" name="Google Shape;148;p18"/>
            <p:cNvGrpSpPr/>
            <p:nvPr/>
          </p:nvGrpSpPr>
          <p:grpSpPr>
            <a:xfrm>
              <a:off x="381000" y="3333750"/>
              <a:ext cx="8382000" cy="381000"/>
              <a:chOff x="381000" y="3333750"/>
              <a:chExt cx="8382000" cy="381000"/>
            </a:xfrm>
          </p:grpSpPr>
          <p:sp>
            <p:nvSpPr>
              <p:cNvPr id="149" name="Google Shape;149;p18"/>
              <p:cNvSpPr/>
              <p:nvPr/>
            </p:nvSpPr>
            <p:spPr>
              <a:xfrm>
                <a:off x="381000" y="3333750"/>
                <a:ext cx="8382000" cy="381000"/>
              </a:xfrm>
              <a:prstGeom prst="roundRect">
                <a:avLst>
                  <a:gd fmla="val 20000" name="adj"/>
                </a:avLst>
              </a:prstGeom>
              <a:solidFill>
                <a:srgbClr val="F8F9FA"/>
              </a:solidFill>
              <a:ln cap="flat" cmpd="sng" w="9525">
                <a:solidFill>
                  <a:srgbClr val="DEE2E6"/>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50" name="Google Shape;150;p18"/>
              <p:cNvSpPr txBox="1"/>
              <p:nvPr/>
            </p:nvSpPr>
            <p:spPr>
              <a:xfrm>
                <a:off x="523875" y="3333750"/>
                <a:ext cx="8096400" cy="381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1000">
                    <a:solidFill>
                      <a:srgbClr val="0056B3"/>
                    </a:solidFill>
                    <a:latin typeface="Roboto"/>
                    <a:ea typeface="Roboto"/>
                    <a:cs typeface="Roboto"/>
                    <a:sym typeface="Roboto"/>
                  </a:rPr>
                  <a:t>Data Auditing &amp; Reporting (OPP-03):</a:t>
                </a:r>
                <a:r>
                  <a:rPr lang="en-GB" sz="1000">
                    <a:solidFill>
                      <a:srgbClr val="495057"/>
                    </a:solidFill>
                    <a:latin typeface="Roboto"/>
                    <a:ea typeface="Roboto"/>
                    <a:cs typeface="Roboto"/>
                    <a:sym typeface="Roboto"/>
                  </a:rPr>
                  <a:t> Immutable activity logs for FCA compliance; absorbs a net yield of </a:t>
                </a:r>
                <a:r>
                  <a:rPr b="1" lang="en-GB" sz="1000">
                    <a:solidFill>
                      <a:srgbClr val="DC3545"/>
                    </a:solidFill>
                    <a:latin typeface="Roboto"/>
                    <a:ea typeface="Roboto"/>
                    <a:cs typeface="Roboto"/>
                    <a:sym typeface="Roboto"/>
                  </a:rPr>
                  <a:t>-£5,920.88</a:t>
                </a:r>
                <a:r>
                  <a:rPr lang="en-GB" sz="1000">
                    <a:solidFill>
                      <a:srgbClr val="495057"/>
                    </a:solidFill>
                    <a:latin typeface="Roboto"/>
                    <a:ea typeface="Roboto"/>
                    <a:cs typeface="Roboto"/>
                    <a:sym typeface="Roboto"/>
                  </a:rPr>
                  <a:t>.</a:t>
                </a:r>
                <a:endParaRPr sz="1000">
                  <a:solidFill>
                    <a:srgbClr val="495057"/>
                  </a:solidFill>
                  <a:latin typeface="Roboto"/>
                  <a:ea typeface="Roboto"/>
                  <a:cs typeface="Roboto"/>
                  <a:sym typeface="Roboto"/>
                </a:endParaRPr>
              </a:p>
            </p:txBody>
          </p:sp>
        </p:grpSp>
      </p:grpSp>
      <p:grpSp>
        <p:nvGrpSpPr>
          <p:cNvPr id="151" name="Google Shape;151;p18"/>
          <p:cNvGrpSpPr/>
          <p:nvPr/>
        </p:nvGrpSpPr>
        <p:grpSpPr>
          <a:xfrm>
            <a:off x="381000" y="3857625"/>
            <a:ext cx="8382000" cy="714450"/>
            <a:chOff x="381000" y="3857625"/>
            <a:chExt cx="8382000" cy="714450"/>
          </a:xfrm>
        </p:grpSpPr>
        <p:sp>
          <p:nvSpPr>
            <p:cNvPr id="152" name="Google Shape;152;p18"/>
            <p:cNvSpPr/>
            <p:nvPr/>
          </p:nvSpPr>
          <p:spPr>
            <a:xfrm>
              <a:off x="381000" y="3857625"/>
              <a:ext cx="8382000" cy="285900"/>
            </a:xfrm>
            <a:prstGeom prst="roundRect">
              <a:avLst>
                <a:gd fmla="val 13333" name="adj"/>
              </a:avLst>
            </a:prstGeom>
            <a:solidFill>
              <a:srgbClr val="FFF5F5"/>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53" name="Google Shape;153;p18"/>
            <p:cNvSpPr txBox="1"/>
            <p:nvPr/>
          </p:nvSpPr>
          <p:spPr>
            <a:xfrm>
              <a:off x="476250" y="3857625"/>
              <a:ext cx="8191500" cy="2859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1100">
                  <a:solidFill>
                    <a:srgbClr val="C53030"/>
                  </a:solidFill>
                  <a:latin typeface="Roboto"/>
                  <a:ea typeface="Roboto"/>
                  <a:cs typeface="Roboto"/>
                  <a:sym typeface="Roboto"/>
                </a:rPr>
                <a:t>🚫 EXCLUDED / DEFERRED CAPABILITIES (PHASE 2)</a:t>
              </a:r>
              <a:endParaRPr b="1" sz="1100">
                <a:solidFill>
                  <a:srgbClr val="C53030"/>
                </a:solidFill>
                <a:latin typeface="Roboto"/>
                <a:ea typeface="Roboto"/>
                <a:cs typeface="Roboto"/>
                <a:sym typeface="Roboto"/>
              </a:endParaRPr>
            </a:p>
          </p:txBody>
        </p:sp>
        <p:sp>
          <p:nvSpPr>
            <p:cNvPr id="154" name="Google Shape;154;p18"/>
            <p:cNvSpPr txBox="1"/>
            <p:nvPr/>
          </p:nvSpPr>
          <p:spPr>
            <a:xfrm>
              <a:off x="381000" y="4143375"/>
              <a:ext cx="8382000" cy="428700"/>
            </a:xfrm>
            <a:prstGeom prst="rect">
              <a:avLst/>
            </a:prstGeom>
            <a:noFill/>
            <a:ln>
              <a:noFill/>
            </a:ln>
          </p:spPr>
          <p:txBody>
            <a:bodyPr anchorCtr="0" anchor="ctr" bIns="0" lIns="95250" spcFirstLastPara="1" rIns="0" wrap="square" tIns="0">
              <a:noAutofit/>
            </a:bodyPr>
            <a:lstStyle/>
            <a:p>
              <a:pPr indent="0" lvl="0" marL="0" rtl="0" algn="l">
                <a:spcBef>
                  <a:spcPts val="0"/>
                </a:spcBef>
                <a:spcAft>
                  <a:spcPts val="0"/>
                </a:spcAft>
                <a:buNone/>
              </a:pPr>
              <a:r>
                <a:rPr b="1" lang="en-GB" sz="900">
                  <a:solidFill>
                    <a:srgbClr val="495057"/>
                  </a:solidFill>
                  <a:latin typeface="Roboto"/>
                  <a:ea typeface="Roboto"/>
                  <a:cs typeface="Roboto"/>
                  <a:sym typeface="Roboto"/>
                </a:rPr>
                <a:t>Live API Write-Paths (OPP-04):</a:t>
              </a:r>
              <a:r>
                <a:rPr lang="en-GB" sz="900">
                  <a:solidFill>
                    <a:srgbClr val="495057"/>
                  </a:solidFill>
                  <a:latin typeface="Roboto"/>
                  <a:ea typeface="Roboto"/>
                  <a:cs typeface="Roboto"/>
                  <a:sym typeface="Roboto"/>
                </a:rPr>
                <a:t> Batched via read-only SFTP to protect core banking system.</a:t>
              </a:r>
              <a:endParaRPr sz="900">
                <a:solidFill>
                  <a:srgbClr val="495057"/>
                </a:solidFill>
                <a:latin typeface="Roboto"/>
                <a:ea typeface="Roboto"/>
                <a:cs typeface="Roboto"/>
                <a:sym typeface="Roboto"/>
              </a:endParaRPr>
            </a:p>
            <a:p>
              <a:pPr indent="0" lvl="0" marL="0" rtl="0" algn="l">
                <a:spcBef>
                  <a:spcPts val="150"/>
                </a:spcBef>
                <a:spcAft>
                  <a:spcPts val="0"/>
                </a:spcAft>
                <a:buNone/>
              </a:pPr>
              <a:r>
                <a:rPr b="1" lang="en-GB" sz="900">
                  <a:solidFill>
                    <a:srgbClr val="495057"/>
                  </a:solidFill>
                  <a:latin typeface="Roboto"/>
                  <a:ea typeface="Roboto"/>
                  <a:cs typeface="Roboto"/>
                  <a:sym typeface="Roboto"/>
                </a:rPr>
                <a:t>Automated Ingestion (OPP-02) / Advanced Routing:</a:t>
              </a:r>
              <a:r>
                <a:rPr lang="en-GB" sz="900">
                  <a:solidFill>
                    <a:srgbClr val="495057"/>
                  </a:solidFill>
                  <a:latin typeface="Roboto"/>
                  <a:ea typeface="Roboto"/>
                  <a:cs typeface="Roboto"/>
                  <a:sym typeface="Roboto"/>
                </a:rPr>
                <a:t> Deferred for stability; vulnerable users stay with human agents.</a:t>
              </a:r>
              <a:endParaRPr sz="900">
                <a:solidFill>
                  <a:srgbClr val="495057"/>
                </a:solidFill>
                <a:latin typeface="Roboto"/>
                <a:ea typeface="Roboto"/>
                <a:cs typeface="Roboto"/>
                <a:sym typeface="Roboto"/>
              </a:endParaRPr>
            </a:p>
          </p:txBody>
        </p:sp>
      </p:gr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58" name="Shape 158"/>
        <p:cNvGrpSpPr/>
        <p:nvPr/>
      </p:nvGrpSpPr>
      <p:grpSpPr>
        <a:xfrm>
          <a:off x="0" y="0"/>
          <a:ext cx="0" cy="0"/>
          <a:chOff x="0" y="0"/>
          <a:chExt cx="0" cy="0"/>
        </a:xfrm>
      </p:grpSpPr>
      <p:sp>
        <p:nvSpPr>
          <p:cNvPr id="159" name="Google Shape;159;p19"/>
          <p:cNvSpPr/>
          <p:nvPr/>
        </p:nvSpPr>
        <p:spPr>
          <a:xfrm>
            <a:off x="0" y="0"/>
            <a:ext cx="9144000" cy="762000"/>
          </a:xfrm>
          <a:prstGeom prst="rect">
            <a:avLst/>
          </a:prstGeom>
          <a:solidFill>
            <a:srgbClr val="1C1E21"/>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60" name="Google Shape;160;p19"/>
          <p:cNvSpPr txBox="1"/>
          <p:nvPr/>
        </p:nvSpPr>
        <p:spPr>
          <a:xfrm>
            <a:off x="381000" y="0"/>
            <a:ext cx="8382000" cy="7620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1" lang="en-GB" sz="2400">
                <a:solidFill>
                  <a:srgbClr val="FFFFFF"/>
                </a:solidFill>
                <a:latin typeface="Roboto"/>
                <a:ea typeface="Roboto"/>
                <a:cs typeface="Roboto"/>
                <a:sym typeface="Roboto"/>
              </a:rPr>
              <a:t>Backlog and Prototype</a:t>
            </a:r>
            <a:endParaRPr b="1" sz="2400">
              <a:solidFill>
                <a:srgbClr val="FFFFFF"/>
              </a:solidFill>
              <a:latin typeface="Roboto"/>
              <a:ea typeface="Roboto"/>
              <a:cs typeface="Roboto"/>
              <a:sym typeface="Roboto"/>
            </a:endParaRPr>
          </a:p>
        </p:txBody>
      </p:sp>
      <p:sp>
        <p:nvSpPr>
          <p:cNvPr id="161" name="Google Shape;161;p19"/>
          <p:cNvSpPr/>
          <p:nvPr/>
        </p:nvSpPr>
        <p:spPr>
          <a:xfrm>
            <a:off x="381000" y="4572000"/>
            <a:ext cx="8382000" cy="19200"/>
          </a:xfrm>
          <a:prstGeom prst="rect">
            <a:avLst/>
          </a:prstGeom>
          <a:solidFill>
            <a:srgbClr val="DEE2E6"/>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62" name="Google Shape;162;p19"/>
          <p:cNvSpPr txBox="1"/>
          <p:nvPr/>
        </p:nvSpPr>
        <p:spPr>
          <a:xfrm>
            <a:off x="381000" y="4667250"/>
            <a:ext cx="8382000" cy="285900"/>
          </a:xfrm>
          <a:prstGeom prst="rect">
            <a:avLst/>
          </a:prstGeom>
          <a:solidFill>
            <a:srgbClr val="000000">
              <a:alpha val="0"/>
            </a:srgbClr>
          </a:solidFill>
          <a:ln>
            <a:noFill/>
          </a:ln>
        </p:spPr>
        <p:txBody>
          <a:bodyPr anchorCtr="0" anchor="ctr" bIns="0" lIns="0" spcFirstLastPara="1" rIns="0" wrap="square" tIns="0">
            <a:noAutofit/>
          </a:bodyPr>
          <a:lstStyle/>
          <a:p>
            <a:pPr indent="0" lvl="0" marL="0" rtl="0" algn="l">
              <a:spcBef>
                <a:spcPts val="0"/>
              </a:spcBef>
              <a:spcAft>
                <a:spcPts val="0"/>
              </a:spcAft>
              <a:buNone/>
            </a:pPr>
            <a:r>
              <a:rPr b="0" lang="en-GB" sz="1000">
                <a:solidFill>
                  <a:srgbClr val="6C757D"/>
                </a:solidFill>
                <a:latin typeface="Roboto"/>
                <a:ea typeface="Roboto"/>
                <a:cs typeface="Roboto"/>
                <a:sym typeface="Roboto"/>
              </a:rPr>
              <a:t>Smart Recovery Initiative - Discovery Package Output</a:t>
            </a:r>
            <a:endParaRPr b="0" sz="1000">
              <a:solidFill>
                <a:srgbClr val="6C757D"/>
              </a:solidFill>
              <a:latin typeface="Roboto"/>
              <a:ea typeface="Roboto"/>
              <a:cs typeface="Roboto"/>
              <a:sym typeface="Roboto"/>
            </a:endParaRPr>
          </a:p>
        </p:txBody>
      </p:sp>
      <p:grpSp>
        <p:nvGrpSpPr>
          <p:cNvPr id="163" name="Google Shape;163;p19"/>
          <p:cNvGrpSpPr/>
          <p:nvPr/>
        </p:nvGrpSpPr>
        <p:grpSpPr>
          <a:xfrm>
            <a:off x="381000" y="1047750"/>
            <a:ext cx="4381500" cy="3238500"/>
            <a:chOff x="381000" y="1047750"/>
            <a:chExt cx="4381500" cy="3238500"/>
          </a:xfrm>
        </p:grpSpPr>
        <p:pic>
          <p:nvPicPr>
            <p:cNvPr id="164" name="Google Shape;164;p19"/>
            <p:cNvPicPr preferRelativeResize="0"/>
            <p:nvPr/>
          </p:nvPicPr>
          <p:blipFill rotWithShape="1">
            <a:blip r:embed="rId4">
              <a:alphaModFix/>
            </a:blip>
            <a:srcRect b="4212" l="0" r="0" t="4221"/>
            <a:stretch/>
          </p:blipFill>
          <p:spPr>
            <a:xfrm>
              <a:off x="381000" y="1047750"/>
              <a:ext cx="4381500" cy="3238500"/>
            </a:xfrm>
            <a:prstGeom prst="roundRect">
              <a:avLst>
                <a:gd fmla="val 3529" name="adj"/>
              </a:avLst>
            </a:prstGeom>
            <a:noFill/>
            <a:ln>
              <a:noFill/>
            </a:ln>
          </p:spPr>
        </p:pic>
        <p:sp>
          <p:nvSpPr>
            <p:cNvPr id="165" name="Google Shape;165;p19"/>
            <p:cNvSpPr/>
            <p:nvPr/>
          </p:nvSpPr>
          <p:spPr>
            <a:xfrm>
              <a:off x="381000" y="1047750"/>
              <a:ext cx="4381500" cy="3238500"/>
            </a:xfrm>
            <a:prstGeom prst="roundRect">
              <a:avLst>
                <a:gd fmla="val 3529" name="adj"/>
              </a:avLst>
            </a:prstGeom>
            <a:solidFill>
              <a:srgbClr val="000000">
                <a:alpha val="0"/>
              </a:srgbClr>
            </a:solidFill>
            <a:ln cap="flat" cmpd="sng" w="9525">
              <a:solidFill>
                <a:srgbClr val="DEE2E6"/>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grpSp>
      <p:sp>
        <p:nvSpPr>
          <p:cNvPr id="166" name="Google Shape;166;p19"/>
          <p:cNvSpPr txBox="1"/>
          <p:nvPr/>
        </p:nvSpPr>
        <p:spPr>
          <a:xfrm>
            <a:off x="5143500" y="1047750"/>
            <a:ext cx="3619500" cy="3263100"/>
          </a:xfrm>
          <a:prstGeom prst="rect">
            <a:avLst/>
          </a:prstGeom>
          <a:solidFill>
            <a:srgbClr val="000000">
              <a:alpha val="0"/>
            </a:srgbClr>
          </a:solidFill>
          <a:ln>
            <a:noFill/>
          </a:ln>
        </p:spPr>
        <p:txBody>
          <a:bodyPr anchorCtr="0" anchor="t" bIns="0" lIns="0" spcFirstLastPara="1" rIns="0" wrap="square" tIns="0">
            <a:spAutoFit/>
          </a:bodyPr>
          <a:lstStyle/>
          <a:p>
            <a:pPr indent="0" lvl="0" marL="0" rtl="0" algn="l">
              <a:spcBef>
                <a:spcPts val="0"/>
              </a:spcBef>
              <a:spcAft>
                <a:spcPts val="0"/>
              </a:spcAft>
              <a:buNone/>
            </a:pPr>
            <a:r>
              <a:rPr b="1" lang="en-GB" sz="1300">
                <a:solidFill>
                  <a:srgbClr val="0056B3"/>
                </a:solidFill>
                <a:latin typeface="Roboto"/>
                <a:ea typeface="Roboto"/>
                <a:cs typeface="Roboto"/>
                <a:sym typeface="Roboto"/>
              </a:rPr>
              <a:t>De-Risked User Experience</a:t>
            </a:r>
            <a:endParaRPr b="1" sz="1300">
              <a:solidFill>
                <a:srgbClr val="0056B3"/>
              </a:solidFill>
              <a:latin typeface="Roboto"/>
              <a:ea typeface="Roboto"/>
              <a:cs typeface="Roboto"/>
              <a:sym typeface="Roboto"/>
            </a:endParaRPr>
          </a:p>
          <a:p>
            <a:pPr indent="0" lvl="0" marL="0" rtl="0" algn="l">
              <a:spcBef>
                <a:spcPts val="300"/>
              </a:spcBef>
              <a:spcAft>
                <a:spcPts val="0"/>
              </a:spcAft>
              <a:buNone/>
            </a:pPr>
            <a:r>
              <a:rPr b="0" lang="en-GB" sz="1100">
                <a:solidFill>
                  <a:srgbClr val="495057"/>
                </a:solidFill>
                <a:latin typeface="Roboto"/>
                <a:ea typeface="Roboto"/>
                <a:cs typeface="Roboto"/>
                <a:sym typeface="Roboto"/>
              </a:rPr>
              <a:t>An interactive HTML/CSS prototype built to map core journeys, translating user stories into scannable layouts for </a:t>
            </a:r>
            <a:r>
              <a:rPr b="1" lang="en-GB" sz="1100">
                <a:solidFill>
                  <a:srgbClr val="495057"/>
                </a:solidFill>
                <a:latin typeface="Roboto"/>
                <a:ea typeface="Roboto"/>
                <a:cs typeface="Roboto"/>
                <a:sym typeface="Roboto"/>
              </a:rPr>
              <a:t>verification</a:t>
            </a:r>
            <a:r>
              <a:rPr lang="en-GB" sz="1100">
                <a:solidFill>
                  <a:srgbClr val="495057"/>
                </a:solidFill>
                <a:latin typeface="Roboto"/>
                <a:ea typeface="Roboto"/>
                <a:cs typeface="Roboto"/>
                <a:sym typeface="Roboto"/>
              </a:rPr>
              <a:t>, the</a:t>
            </a:r>
            <a:r>
              <a:rPr b="0" lang="en-GB" sz="1100">
                <a:solidFill>
                  <a:srgbClr val="495057"/>
                </a:solidFill>
                <a:latin typeface="Roboto"/>
                <a:ea typeface="Roboto"/>
                <a:cs typeface="Roboto"/>
                <a:sym typeface="Roboto"/>
              </a:rPr>
              <a:t> </a:t>
            </a:r>
            <a:r>
              <a:rPr b="1" lang="en-GB" sz="1100">
                <a:solidFill>
                  <a:srgbClr val="495057"/>
                </a:solidFill>
                <a:latin typeface="Roboto"/>
                <a:ea typeface="Roboto"/>
                <a:cs typeface="Roboto"/>
                <a:sym typeface="Roboto"/>
              </a:rPr>
              <a:t>Account Dashboard</a:t>
            </a:r>
            <a:r>
              <a:rPr b="0" lang="en-GB" sz="1100">
                <a:solidFill>
                  <a:srgbClr val="495057"/>
                </a:solidFill>
                <a:latin typeface="Roboto"/>
                <a:ea typeface="Roboto"/>
                <a:cs typeface="Roboto"/>
                <a:sym typeface="Roboto"/>
              </a:rPr>
              <a:t> and </a:t>
            </a:r>
            <a:r>
              <a:rPr b="1" lang="en-GB" sz="1100">
                <a:solidFill>
                  <a:srgbClr val="495057"/>
                </a:solidFill>
                <a:latin typeface="Roboto"/>
                <a:ea typeface="Roboto"/>
                <a:cs typeface="Roboto"/>
                <a:sym typeface="Roboto"/>
              </a:rPr>
              <a:t>3-Month Plan Calculator</a:t>
            </a:r>
            <a:r>
              <a:rPr b="0" lang="en-GB" sz="1100">
                <a:solidFill>
                  <a:srgbClr val="495057"/>
                </a:solidFill>
                <a:latin typeface="Roboto"/>
                <a:ea typeface="Roboto"/>
                <a:cs typeface="Roboto"/>
                <a:sym typeface="Roboto"/>
              </a:rPr>
              <a:t>.</a:t>
            </a:r>
            <a:endParaRPr b="0" sz="1100">
              <a:solidFill>
                <a:srgbClr val="495057"/>
              </a:solidFill>
              <a:latin typeface="Roboto"/>
              <a:ea typeface="Roboto"/>
              <a:cs typeface="Roboto"/>
              <a:sym typeface="Roboto"/>
            </a:endParaRPr>
          </a:p>
          <a:p>
            <a:pPr indent="0" lvl="0" marL="0" rtl="0" algn="l">
              <a:spcBef>
                <a:spcPts val="1125"/>
              </a:spcBef>
              <a:spcAft>
                <a:spcPts val="0"/>
              </a:spcAft>
              <a:buNone/>
            </a:pPr>
            <a:r>
              <a:rPr b="1" lang="en-GB" sz="1300">
                <a:solidFill>
                  <a:srgbClr val="0056B3"/>
                </a:solidFill>
                <a:latin typeface="Roboto"/>
                <a:ea typeface="Roboto"/>
                <a:cs typeface="Roboto"/>
                <a:sym typeface="Roboto"/>
              </a:rPr>
              <a:t>Built-In Exception Safeguards</a:t>
            </a:r>
            <a:endParaRPr b="1" sz="1300">
              <a:solidFill>
                <a:srgbClr val="0056B3"/>
              </a:solidFill>
              <a:latin typeface="Roboto"/>
              <a:ea typeface="Roboto"/>
              <a:cs typeface="Roboto"/>
              <a:sym typeface="Roboto"/>
            </a:endParaRPr>
          </a:p>
          <a:p>
            <a:pPr indent="0" lvl="0" marL="0" rtl="0" algn="l">
              <a:spcBef>
                <a:spcPts val="300"/>
              </a:spcBef>
              <a:spcAft>
                <a:spcPts val="0"/>
              </a:spcAft>
              <a:buNone/>
            </a:pPr>
            <a:r>
              <a:rPr b="0" lang="en-GB" sz="1100">
                <a:solidFill>
                  <a:srgbClr val="495057"/>
                </a:solidFill>
                <a:latin typeface="Roboto"/>
                <a:ea typeface="Roboto"/>
                <a:cs typeface="Roboto"/>
                <a:sym typeface="Roboto"/>
              </a:rPr>
              <a:t>Interface demonstrates automated boundary controls mandated by strategy:</a:t>
            </a:r>
            <a:endParaRPr b="0" sz="1100">
              <a:solidFill>
                <a:srgbClr val="495057"/>
              </a:solidFill>
              <a:latin typeface="Roboto"/>
              <a:ea typeface="Roboto"/>
              <a:cs typeface="Roboto"/>
              <a:sym typeface="Roboto"/>
            </a:endParaRPr>
          </a:p>
          <a:p>
            <a:pPr indent="-298450" lvl="0" marL="457200" rtl="0" algn="l">
              <a:spcBef>
                <a:spcPts val="450"/>
              </a:spcBef>
              <a:spcAft>
                <a:spcPts val="0"/>
              </a:spcAft>
              <a:buClr>
                <a:srgbClr val="495057"/>
              </a:buClr>
              <a:buSzPts val="1100"/>
              <a:buFont typeface="Roboto"/>
              <a:buChar char="●"/>
            </a:pPr>
            <a:r>
              <a:rPr b="1" lang="en-GB" sz="1100">
                <a:solidFill>
                  <a:srgbClr val="495057"/>
                </a:solidFill>
                <a:latin typeface="Roboto"/>
                <a:ea typeface="Roboto"/>
                <a:cs typeface="Roboto"/>
                <a:sym typeface="Roboto"/>
              </a:rPr>
              <a:t>MFA Lockout:</a:t>
            </a:r>
            <a:r>
              <a:rPr lang="en-GB" sz="1100">
                <a:solidFill>
                  <a:srgbClr val="495057"/>
                </a:solidFill>
                <a:latin typeface="Roboto"/>
                <a:ea typeface="Roboto"/>
                <a:cs typeface="Roboto"/>
                <a:sym typeface="Roboto"/>
              </a:rPr>
              <a:t> Displays agent helpline after 3 invalid token attempts.</a:t>
            </a:r>
            <a:endParaRPr sz="1100">
              <a:solidFill>
                <a:srgbClr val="495057"/>
              </a:solidFill>
              <a:latin typeface="Roboto"/>
              <a:ea typeface="Roboto"/>
              <a:cs typeface="Roboto"/>
              <a:sym typeface="Roboto"/>
            </a:endParaRPr>
          </a:p>
          <a:p>
            <a:pPr indent="-298450" lvl="0" marL="457200" rtl="0" algn="l">
              <a:spcBef>
                <a:spcPts val="450"/>
              </a:spcBef>
              <a:spcAft>
                <a:spcPts val="0"/>
              </a:spcAft>
              <a:buClr>
                <a:srgbClr val="495057"/>
              </a:buClr>
              <a:buSzPts val="1100"/>
              <a:buFont typeface="Roboto"/>
              <a:buChar char="●"/>
            </a:pPr>
            <a:r>
              <a:rPr b="1" lang="en-GB" sz="1100">
                <a:solidFill>
                  <a:srgbClr val="495057"/>
                </a:solidFill>
                <a:latin typeface="Roboto"/>
                <a:ea typeface="Roboto"/>
                <a:cs typeface="Roboto"/>
                <a:sym typeface="Roboto"/>
              </a:rPr>
              <a:t>Affordability Alert:</a:t>
            </a:r>
            <a:r>
              <a:rPr lang="en-GB" sz="1100">
                <a:solidFill>
                  <a:srgbClr val="495057"/>
                </a:solidFill>
                <a:latin typeface="Roboto"/>
                <a:ea typeface="Roboto"/>
                <a:cs typeface="Roboto"/>
                <a:sym typeface="Roboto"/>
              </a:rPr>
              <a:t> Halts journey and escalates to live queue if payments exceed income.</a:t>
            </a:r>
            <a:endParaRPr sz="1100">
              <a:solidFill>
                <a:srgbClr val="495057"/>
              </a:solidFill>
              <a:latin typeface="Roboto"/>
              <a:ea typeface="Roboto"/>
              <a:cs typeface="Roboto"/>
              <a:sym typeface="Roboto"/>
            </a:endParaRPr>
          </a:p>
          <a:p>
            <a:pPr indent="0" lvl="0" marL="0" rtl="0" algn="l">
              <a:spcBef>
                <a:spcPts val="1125"/>
              </a:spcBef>
              <a:spcAft>
                <a:spcPts val="0"/>
              </a:spcAft>
              <a:buNone/>
            </a:pPr>
            <a:r>
              <a:rPr b="1" lang="en-GB" sz="1200">
                <a:solidFill>
                  <a:srgbClr val="0056B3"/>
                </a:solidFill>
                <a:highlight>
                  <a:srgbClr val="E7F1FF"/>
                </a:highlight>
                <a:latin typeface="Roboto"/>
                <a:ea typeface="Roboto"/>
                <a:cs typeface="Roboto"/>
                <a:sym typeface="Roboto"/>
              </a:rPr>
              <a:t>Backlog Maturity</a:t>
            </a:r>
            <a:endParaRPr b="1" sz="1200">
              <a:solidFill>
                <a:srgbClr val="0056B3"/>
              </a:solidFill>
              <a:highlight>
                <a:srgbClr val="E7F1FF"/>
              </a:highlight>
              <a:latin typeface="Roboto"/>
              <a:ea typeface="Roboto"/>
              <a:cs typeface="Roboto"/>
              <a:sym typeface="Roboto"/>
            </a:endParaRPr>
          </a:p>
          <a:p>
            <a:pPr indent="0" lvl="0" marL="0" rtl="0" algn="l">
              <a:spcBef>
                <a:spcPts val="150"/>
              </a:spcBef>
              <a:spcAft>
                <a:spcPts val="0"/>
              </a:spcAft>
              <a:buNone/>
            </a:pPr>
            <a:r>
              <a:rPr b="0" lang="en-GB" sz="1050">
                <a:solidFill>
                  <a:srgbClr val="495057"/>
                </a:solidFill>
                <a:highlight>
                  <a:srgbClr val="E7F1FF"/>
                </a:highlight>
                <a:latin typeface="Roboto"/>
                <a:ea typeface="Roboto"/>
                <a:cs typeface="Roboto"/>
                <a:sym typeface="Roboto"/>
              </a:rPr>
              <a:t>All primary user pathways are written as engineering-ready stories. Development can commence immediately upon Phase 1 approval.</a:t>
            </a:r>
            <a:endParaRPr b="0" sz="1050">
              <a:solidFill>
                <a:srgbClr val="495057"/>
              </a:solidFill>
              <a:highlight>
                <a:srgbClr val="E7F1FF"/>
              </a:highlight>
              <a:latin typeface="Roboto"/>
              <a:ea typeface="Roboto"/>
              <a:cs typeface="Roboto"/>
              <a:sym typeface="Roboto"/>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70" name="Shape 170"/>
        <p:cNvGrpSpPr/>
        <p:nvPr/>
      </p:nvGrpSpPr>
      <p:grpSpPr>
        <a:xfrm>
          <a:off x="0" y="0"/>
          <a:ext cx="0" cy="0"/>
          <a:chOff x="0" y="0"/>
          <a:chExt cx="0" cy="0"/>
        </a:xfrm>
      </p:grpSpPr>
      <p:sp>
        <p:nvSpPr>
          <p:cNvPr id="171" name="Google Shape;171;p20"/>
          <p:cNvSpPr/>
          <p:nvPr/>
        </p:nvSpPr>
        <p:spPr>
          <a:xfrm>
            <a:off x="0" y="0"/>
            <a:ext cx="9144000" cy="762000"/>
          </a:xfrm>
          <a:prstGeom prst="rect">
            <a:avLst/>
          </a:prstGeom>
          <a:solidFill>
            <a:srgbClr val="1C1E21"/>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72" name="Google Shape;172;p20"/>
          <p:cNvSpPr txBox="1"/>
          <p:nvPr/>
        </p:nvSpPr>
        <p:spPr>
          <a:xfrm>
            <a:off x="381000" y="0"/>
            <a:ext cx="8382000" cy="762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2400">
                <a:solidFill>
                  <a:srgbClr val="FFFFFF"/>
                </a:solidFill>
                <a:latin typeface="Roboto"/>
                <a:ea typeface="Roboto"/>
                <a:cs typeface="Roboto"/>
                <a:sym typeface="Roboto"/>
              </a:rPr>
              <a:t>Change risks and mitigations</a:t>
            </a:r>
            <a:endParaRPr b="1" sz="2400">
              <a:solidFill>
                <a:srgbClr val="FFFFFF"/>
              </a:solidFill>
              <a:latin typeface="Roboto"/>
              <a:ea typeface="Roboto"/>
              <a:cs typeface="Roboto"/>
              <a:sym typeface="Roboto"/>
            </a:endParaRPr>
          </a:p>
        </p:txBody>
      </p:sp>
      <p:sp>
        <p:nvSpPr>
          <p:cNvPr id="173" name="Google Shape;173;p20"/>
          <p:cNvSpPr/>
          <p:nvPr/>
        </p:nvSpPr>
        <p:spPr>
          <a:xfrm>
            <a:off x="381000" y="4572000"/>
            <a:ext cx="8382000" cy="19200"/>
          </a:xfrm>
          <a:prstGeom prst="rect">
            <a:avLst/>
          </a:prstGeom>
          <a:solidFill>
            <a:srgbClr val="E9ECE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74" name="Google Shape;174;p20"/>
          <p:cNvSpPr txBox="1"/>
          <p:nvPr/>
        </p:nvSpPr>
        <p:spPr>
          <a:xfrm>
            <a:off x="381000" y="4667250"/>
            <a:ext cx="8382000" cy="2859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lang="en-GB" sz="1000">
                <a:solidFill>
                  <a:srgbClr val="6C757D"/>
                </a:solidFill>
                <a:latin typeface="Roboto"/>
                <a:ea typeface="Roboto"/>
                <a:cs typeface="Roboto"/>
                <a:sym typeface="Roboto"/>
              </a:rPr>
              <a:t>Smart Recovery Initiative - Discovery Package Output</a:t>
            </a:r>
            <a:endParaRPr sz="1000">
              <a:solidFill>
                <a:srgbClr val="6C757D"/>
              </a:solidFill>
              <a:latin typeface="Roboto"/>
              <a:ea typeface="Roboto"/>
              <a:cs typeface="Roboto"/>
              <a:sym typeface="Roboto"/>
            </a:endParaRPr>
          </a:p>
        </p:txBody>
      </p:sp>
      <p:grpSp>
        <p:nvGrpSpPr>
          <p:cNvPr id="175" name="Google Shape;175;p20"/>
          <p:cNvGrpSpPr/>
          <p:nvPr/>
        </p:nvGrpSpPr>
        <p:grpSpPr>
          <a:xfrm>
            <a:off x="381000" y="952500"/>
            <a:ext cx="8382000" cy="1047900"/>
            <a:chOff x="381000" y="952500"/>
            <a:chExt cx="8382000" cy="1047900"/>
          </a:xfrm>
        </p:grpSpPr>
        <p:sp>
          <p:nvSpPr>
            <p:cNvPr id="176" name="Google Shape;176;p20"/>
            <p:cNvSpPr/>
            <p:nvPr/>
          </p:nvSpPr>
          <p:spPr>
            <a:xfrm>
              <a:off x="381000" y="952500"/>
              <a:ext cx="8382000" cy="1047900"/>
            </a:xfrm>
            <a:prstGeom prst="roundRect">
              <a:avLst>
                <a:gd fmla="val 10909" name="adj"/>
              </a:avLst>
            </a:prstGeom>
            <a:solidFill>
              <a:srgbClr val="FFFFFF"/>
            </a:solidFill>
            <a:ln cap="flat" cmpd="sng" w="9525">
              <a:solidFill>
                <a:srgbClr val="DEE2E6"/>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77" name="Google Shape;177;p20"/>
            <p:cNvSpPr txBox="1"/>
            <p:nvPr/>
          </p:nvSpPr>
          <p:spPr>
            <a:xfrm>
              <a:off x="571500" y="1047750"/>
              <a:ext cx="8001000" cy="8574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1400">
                  <a:solidFill>
                    <a:srgbClr val="1C1E21"/>
                  </a:solidFill>
                  <a:latin typeface="Roboto"/>
                  <a:ea typeface="Roboto"/>
                  <a:cs typeface="Roboto"/>
                  <a:sym typeface="Roboto"/>
                </a:rPr>
                <a:t>Risk 1: Legacy Database Instability</a:t>
              </a:r>
              <a:endParaRPr b="1" sz="1400">
                <a:solidFill>
                  <a:srgbClr val="1C1E21"/>
                </a:solidFill>
                <a:latin typeface="Roboto"/>
                <a:ea typeface="Roboto"/>
                <a:cs typeface="Roboto"/>
                <a:sym typeface="Roboto"/>
              </a:endParaRPr>
            </a:p>
            <a:p>
              <a:pPr indent="0" lvl="0" marL="0" rtl="0" algn="l">
                <a:spcBef>
                  <a:spcPts val="375"/>
                </a:spcBef>
                <a:spcAft>
                  <a:spcPts val="0"/>
                </a:spcAft>
                <a:buNone/>
              </a:pPr>
              <a:r>
                <a:rPr b="1" i="1" lang="en-GB" sz="1100">
                  <a:solidFill>
                    <a:srgbClr val="0056B3"/>
                  </a:solidFill>
                  <a:latin typeface="Roboto"/>
                  <a:ea typeface="Roboto"/>
                  <a:cs typeface="Roboto"/>
                  <a:sym typeface="Roboto"/>
                </a:rPr>
                <a:t>Mitigation:</a:t>
              </a:r>
              <a:r>
                <a:rPr b="0" lang="en-GB" sz="1100">
                  <a:solidFill>
                    <a:srgbClr val="495057"/>
                  </a:solidFill>
                  <a:latin typeface="Roboto"/>
                  <a:ea typeface="Roboto"/>
                  <a:cs typeface="Roboto"/>
                  <a:sym typeface="Roboto"/>
                </a:rPr>
                <a:t> Phase 1 completely avoids live API write-paths. Instead, data is synced safely using an automated midnight read-only SFTP daily batch export.</a:t>
              </a:r>
              <a:endParaRPr b="0" sz="1100">
                <a:solidFill>
                  <a:srgbClr val="495057"/>
                </a:solidFill>
                <a:latin typeface="Roboto"/>
                <a:ea typeface="Roboto"/>
                <a:cs typeface="Roboto"/>
                <a:sym typeface="Roboto"/>
              </a:endParaRPr>
            </a:p>
          </p:txBody>
        </p:sp>
      </p:grpSp>
      <p:grpSp>
        <p:nvGrpSpPr>
          <p:cNvPr id="178" name="Google Shape;178;p20"/>
          <p:cNvGrpSpPr/>
          <p:nvPr/>
        </p:nvGrpSpPr>
        <p:grpSpPr>
          <a:xfrm>
            <a:off x="381000" y="2143125"/>
            <a:ext cx="8382000" cy="1047900"/>
            <a:chOff x="381000" y="2143125"/>
            <a:chExt cx="8382000" cy="1047900"/>
          </a:xfrm>
        </p:grpSpPr>
        <p:sp>
          <p:nvSpPr>
            <p:cNvPr id="179" name="Google Shape;179;p20"/>
            <p:cNvSpPr/>
            <p:nvPr/>
          </p:nvSpPr>
          <p:spPr>
            <a:xfrm>
              <a:off x="381000" y="2143125"/>
              <a:ext cx="8382000" cy="1047900"/>
            </a:xfrm>
            <a:prstGeom prst="roundRect">
              <a:avLst>
                <a:gd fmla="val 10909" name="adj"/>
              </a:avLst>
            </a:prstGeom>
            <a:solidFill>
              <a:srgbClr val="FFFFFF"/>
            </a:solidFill>
            <a:ln cap="flat" cmpd="sng" w="9525">
              <a:solidFill>
                <a:srgbClr val="DEE2E6"/>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80" name="Google Shape;180;p20"/>
            <p:cNvSpPr txBox="1"/>
            <p:nvPr/>
          </p:nvSpPr>
          <p:spPr>
            <a:xfrm>
              <a:off x="571500" y="2238375"/>
              <a:ext cx="8001000" cy="8574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1400">
                  <a:solidFill>
                    <a:srgbClr val="1C1E21"/>
                  </a:solidFill>
                  <a:latin typeface="Roboto"/>
                  <a:ea typeface="Roboto"/>
                  <a:cs typeface="Roboto"/>
                  <a:sym typeface="Roboto"/>
                </a:rPr>
                <a:t>Risk 2: Standalone Loss on OPP-03 Reporting</a:t>
              </a:r>
              <a:endParaRPr b="1" sz="1400">
                <a:solidFill>
                  <a:srgbClr val="1C1E21"/>
                </a:solidFill>
                <a:latin typeface="Roboto"/>
                <a:ea typeface="Roboto"/>
                <a:cs typeface="Roboto"/>
                <a:sym typeface="Roboto"/>
              </a:endParaRPr>
            </a:p>
            <a:p>
              <a:pPr indent="0" lvl="0" marL="0" rtl="0" algn="l">
                <a:spcBef>
                  <a:spcPts val="375"/>
                </a:spcBef>
                <a:spcAft>
                  <a:spcPts val="0"/>
                </a:spcAft>
                <a:buNone/>
              </a:pPr>
              <a:r>
                <a:rPr b="1" i="1" lang="en-GB" sz="1100">
                  <a:solidFill>
                    <a:srgbClr val="0056B3"/>
                  </a:solidFill>
                  <a:latin typeface="Roboto"/>
                  <a:ea typeface="Roboto"/>
                  <a:cs typeface="Roboto"/>
                  <a:sym typeface="Roboto"/>
                </a:rPr>
                <a:t>Mitigation:</a:t>
              </a:r>
              <a:r>
                <a:rPr b="0" lang="en-GB" sz="1100">
                  <a:solidFill>
                    <a:srgbClr val="495057"/>
                  </a:solidFill>
                  <a:latin typeface="Roboto"/>
                  <a:ea typeface="Roboto"/>
                  <a:cs typeface="Roboto"/>
                  <a:sym typeface="Roboto"/>
                </a:rPr>
                <a:t> Accept the individual net loss of </a:t>
              </a:r>
              <a:r>
                <a:rPr b="1" lang="en-GB" sz="1100">
                  <a:solidFill>
                    <a:srgbClr val="DC3545"/>
                  </a:solidFill>
                  <a:latin typeface="Roboto"/>
                  <a:ea typeface="Roboto"/>
                  <a:cs typeface="Roboto"/>
                  <a:sym typeface="Roboto"/>
                </a:rPr>
                <a:t>-£5,920.88</a:t>
              </a:r>
              <a:r>
                <a:rPr b="0" lang="en-GB" sz="1100">
                  <a:solidFill>
                    <a:srgbClr val="495057"/>
                  </a:solidFill>
                  <a:latin typeface="Roboto"/>
                  <a:ea typeface="Roboto"/>
                  <a:cs typeface="Roboto"/>
                  <a:sym typeface="Roboto"/>
                </a:rPr>
                <a:t> because launching it now delivers the critical audit log trail required by UK FCA guidelines. The cost is fully absorbed by the massive surplus of OPP-05.</a:t>
              </a:r>
              <a:endParaRPr b="0" sz="1100">
                <a:solidFill>
                  <a:srgbClr val="495057"/>
                </a:solidFill>
                <a:latin typeface="Roboto"/>
                <a:ea typeface="Roboto"/>
                <a:cs typeface="Roboto"/>
                <a:sym typeface="Roboto"/>
              </a:endParaRPr>
            </a:p>
          </p:txBody>
        </p:sp>
      </p:grpSp>
      <p:grpSp>
        <p:nvGrpSpPr>
          <p:cNvPr id="181" name="Google Shape;181;p20"/>
          <p:cNvGrpSpPr/>
          <p:nvPr/>
        </p:nvGrpSpPr>
        <p:grpSpPr>
          <a:xfrm>
            <a:off x="381000" y="3333750"/>
            <a:ext cx="8382000" cy="1047900"/>
            <a:chOff x="381000" y="3333750"/>
            <a:chExt cx="8382000" cy="1047900"/>
          </a:xfrm>
        </p:grpSpPr>
        <p:sp>
          <p:nvSpPr>
            <p:cNvPr id="182" name="Google Shape;182;p20"/>
            <p:cNvSpPr/>
            <p:nvPr/>
          </p:nvSpPr>
          <p:spPr>
            <a:xfrm>
              <a:off x="381000" y="3333750"/>
              <a:ext cx="8382000" cy="1047900"/>
            </a:xfrm>
            <a:prstGeom prst="roundRect">
              <a:avLst>
                <a:gd fmla="val 10909" name="adj"/>
              </a:avLst>
            </a:prstGeom>
            <a:solidFill>
              <a:srgbClr val="F8F9FA"/>
            </a:solidFill>
            <a:ln cap="flat" cmpd="sng" w="9525">
              <a:solidFill>
                <a:srgbClr val="0056B3"/>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83" name="Google Shape;183;p20"/>
            <p:cNvSpPr txBox="1"/>
            <p:nvPr/>
          </p:nvSpPr>
          <p:spPr>
            <a:xfrm>
              <a:off x="571500" y="3429000"/>
              <a:ext cx="8001000" cy="8574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1400">
                  <a:solidFill>
                    <a:srgbClr val="0056B3"/>
                  </a:solidFill>
                  <a:latin typeface="Roboto"/>
                  <a:ea typeface="Roboto"/>
                  <a:cs typeface="Roboto"/>
                  <a:sym typeface="Roboto"/>
                </a:rPr>
                <a:t>Risk 3: Customer Vulnerability &amp; Hardship Handling</a:t>
              </a:r>
              <a:endParaRPr b="1" sz="1400">
                <a:solidFill>
                  <a:srgbClr val="0056B3"/>
                </a:solidFill>
                <a:latin typeface="Roboto"/>
                <a:ea typeface="Roboto"/>
                <a:cs typeface="Roboto"/>
                <a:sym typeface="Roboto"/>
              </a:endParaRPr>
            </a:p>
            <a:p>
              <a:pPr indent="0" lvl="0" marL="0" rtl="0" algn="l">
                <a:spcBef>
                  <a:spcPts val="375"/>
                </a:spcBef>
                <a:spcAft>
                  <a:spcPts val="0"/>
                </a:spcAft>
                <a:buNone/>
              </a:pPr>
              <a:r>
                <a:rPr b="1" i="1" lang="en-GB" sz="1100">
                  <a:solidFill>
                    <a:srgbClr val="0056B3"/>
                  </a:solidFill>
                  <a:latin typeface="Roboto"/>
                  <a:ea typeface="Roboto"/>
                  <a:cs typeface="Roboto"/>
                  <a:sym typeface="Roboto"/>
                </a:rPr>
                <a:t>Mitigation:</a:t>
              </a:r>
              <a:r>
                <a:rPr b="0" lang="en-GB" sz="1100">
                  <a:solidFill>
                    <a:srgbClr val="495057"/>
                  </a:solidFill>
                  <a:latin typeface="Roboto"/>
                  <a:ea typeface="Roboto"/>
                  <a:cs typeface="Roboto"/>
                  <a:sym typeface="Roboto"/>
                </a:rPr>
                <a:t> Built-in front-end safety valves instantly route users to manual agent queues with explicit context metadata strings, preventing regulatory breaches.</a:t>
              </a:r>
              <a:endParaRPr b="0" sz="1100">
                <a:solidFill>
                  <a:srgbClr val="495057"/>
                </a:solidFill>
                <a:latin typeface="Roboto"/>
                <a:ea typeface="Roboto"/>
                <a:cs typeface="Roboto"/>
                <a:sym typeface="Roboto"/>
              </a:endParaRPr>
            </a:p>
          </p:txBody>
        </p:sp>
      </p:gr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87" name="Shape 187"/>
        <p:cNvGrpSpPr/>
        <p:nvPr/>
      </p:nvGrpSpPr>
      <p:grpSpPr>
        <a:xfrm>
          <a:off x="0" y="0"/>
          <a:ext cx="0" cy="0"/>
          <a:chOff x="0" y="0"/>
          <a:chExt cx="0" cy="0"/>
        </a:xfrm>
      </p:grpSpPr>
      <p:sp>
        <p:nvSpPr>
          <p:cNvPr id="188" name="Google Shape;188;p21"/>
          <p:cNvSpPr/>
          <p:nvPr/>
        </p:nvSpPr>
        <p:spPr>
          <a:xfrm>
            <a:off x="0" y="0"/>
            <a:ext cx="9144000" cy="762000"/>
          </a:xfrm>
          <a:prstGeom prst="rect">
            <a:avLst/>
          </a:prstGeom>
          <a:solidFill>
            <a:srgbClr val="1C1E21"/>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89" name="Google Shape;189;p21"/>
          <p:cNvSpPr txBox="1"/>
          <p:nvPr/>
        </p:nvSpPr>
        <p:spPr>
          <a:xfrm>
            <a:off x="381000" y="0"/>
            <a:ext cx="8382000" cy="762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b="1" lang="en-GB" sz="2400">
                <a:solidFill>
                  <a:srgbClr val="FFFFFF"/>
                </a:solidFill>
                <a:latin typeface="Roboto"/>
                <a:ea typeface="Roboto"/>
                <a:cs typeface="Roboto"/>
                <a:sym typeface="Roboto"/>
              </a:rPr>
              <a:t>Summary</a:t>
            </a:r>
            <a:endParaRPr b="1" sz="2400">
              <a:solidFill>
                <a:srgbClr val="FFFFFF"/>
              </a:solidFill>
              <a:latin typeface="Roboto"/>
              <a:ea typeface="Roboto"/>
              <a:cs typeface="Roboto"/>
              <a:sym typeface="Roboto"/>
            </a:endParaRPr>
          </a:p>
        </p:txBody>
      </p:sp>
      <p:sp>
        <p:nvSpPr>
          <p:cNvPr id="190" name="Google Shape;190;p21"/>
          <p:cNvSpPr/>
          <p:nvPr/>
        </p:nvSpPr>
        <p:spPr>
          <a:xfrm>
            <a:off x="381000" y="4572000"/>
            <a:ext cx="8382000" cy="19200"/>
          </a:xfrm>
          <a:prstGeom prst="rect">
            <a:avLst/>
          </a:prstGeom>
          <a:solidFill>
            <a:srgbClr val="E9ECEF"/>
          </a:solidFill>
          <a:ln>
            <a:noFill/>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91" name="Google Shape;191;p21"/>
          <p:cNvSpPr txBox="1"/>
          <p:nvPr/>
        </p:nvSpPr>
        <p:spPr>
          <a:xfrm>
            <a:off x="381000" y="4667250"/>
            <a:ext cx="8382000" cy="2859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None/>
            </a:pPr>
            <a:r>
              <a:rPr lang="en-GB" sz="1000">
                <a:solidFill>
                  <a:srgbClr val="6C757D"/>
                </a:solidFill>
                <a:latin typeface="Roboto"/>
                <a:ea typeface="Roboto"/>
                <a:cs typeface="Roboto"/>
                <a:sym typeface="Roboto"/>
              </a:rPr>
              <a:t>Smart Recovery Initiative - Discovery Package Output</a:t>
            </a:r>
            <a:endParaRPr sz="1000">
              <a:solidFill>
                <a:srgbClr val="6C757D"/>
              </a:solidFill>
              <a:latin typeface="Roboto"/>
              <a:ea typeface="Roboto"/>
              <a:cs typeface="Roboto"/>
              <a:sym typeface="Roboto"/>
            </a:endParaRPr>
          </a:p>
        </p:txBody>
      </p:sp>
      <p:grpSp>
        <p:nvGrpSpPr>
          <p:cNvPr id="192" name="Google Shape;192;p21"/>
          <p:cNvGrpSpPr/>
          <p:nvPr/>
        </p:nvGrpSpPr>
        <p:grpSpPr>
          <a:xfrm>
            <a:off x="381000" y="1047750"/>
            <a:ext cx="8382000" cy="3238500"/>
            <a:chOff x="381000" y="1047750"/>
            <a:chExt cx="8382000" cy="3238500"/>
          </a:xfrm>
        </p:grpSpPr>
        <p:sp>
          <p:nvSpPr>
            <p:cNvPr id="193" name="Google Shape;193;p21"/>
            <p:cNvSpPr/>
            <p:nvPr/>
          </p:nvSpPr>
          <p:spPr>
            <a:xfrm>
              <a:off x="381000" y="1047750"/>
              <a:ext cx="8382000" cy="3238500"/>
            </a:xfrm>
            <a:prstGeom prst="roundRect">
              <a:avLst>
                <a:gd fmla="val 3529" name="adj"/>
              </a:avLst>
            </a:prstGeom>
            <a:solidFill>
              <a:srgbClr val="FFFFFF"/>
            </a:solidFill>
            <a:ln cap="flat" cmpd="sng" w="9525">
              <a:solidFill>
                <a:srgbClr val="DEE2E6"/>
              </a:solidFill>
              <a:prstDash val="solid"/>
              <a:round/>
              <a:headEnd len="sm" w="sm" type="none"/>
              <a:tailEnd len="sm" w="sm" type="none"/>
            </a:ln>
          </p:spPr>
          <p:txBody>
            <a:bodyPr anchorCtr="0" anchor="ctr" bIns="0" lIns="0" spcFirstLastPara="1" rIns="0" wrap="square" tIns="0">
              <a:noAutofit/>
            </a:bodyPr>
            <a:lstStyle/>
            <a:p>
              <a:pPr indent="0" lvl="0" marL="0" rtl="0" algn="l">
                <a:spcBef>
                  <a:spcPts val="0"/>
                </a:spcBef>
                <a:spcAft>
                  <a:spcPts val="0"/>
                </a:spcAft>
                <a:buNone/>
              </a:pPr>
              <a:r>
                <a:t/>
              </a:r>
              <a:endParaRPr/>
            </a:p>
          </p:txBody>
        </p:sp>
        <p:sp>
          <p:nvSpPr>
            <p:cNvPr id="194" name="Google Shape;194;p21"/>
            <p:cNvSpPr txBox="1"/>
            <p:nvPr/>
          </p:nvSpPr>
          <p:spPr>
            <a:xfrm>
              <a:off x="762000" y="1428750"/>
              <a:ext cx="7620000" cy="2476500"/>
            </a:xfrm>
            <a:prstGeom prst="rect">
              <a:avLst/>
            </a:prstGeom>
            <a:noFill/>
            <a:ln>
              <a:noFill/>
            </a:ln>
          </p:spPr>
          <p:txBody>
            <a:bodyPr anchorCtr="0" anchor="ctr" bIns="0" lIns="0" spcFirstLastPara="1" rIns="0" wrap="square" tIns="0">
              <a:noAutofit/>
            </a:bodyPr>
            <a:lstStyle/>
            <a:p>
              <a:pPr indent="0" lvl="0" marL="0" rtl="0" algn="ctr">
                <a:spcBef>
                  <a:spcPts val="0"/>
                </a:spcBef>
                <a:spcAft>
                  <a:spcPts val="0"/>
                </a:spcAft>
                <a:buNone/>
              </a:pPr>
              <a:r>
                <a:rPr b="0" lang="en-GB" sz="2000">
                  <a:solidFill>
                    <a:srgbClr val="1C1E21"/>
                  </a:solidFill>
                  <a:latin typeface="Roboto"/>
                  <a:ea typeface="Roboto"/>
                  <a:cs typeface="Roboto"/>
                  <a:sym typeface="Roboto"/>
                </a:rPr>
                <a:t>Authorize the formal allocation of the </a:t>
              </a:r>
              <a:r>
                <a:rPr b="1" lang="en-GB" sz="2000">
                  <a:solidFill>
                    <a:srgbClr val="0056B3"/>
                  </a:solidFill>
                  <a:latin typeface="Roboto"/>
                  <a:ea typeface="Roboto"/>
                  <a:cs typeface="Roboto"/>
                  <a:sym typeface="Roboto"/>
                </a:rPr>
                <a:t>£42,320 Phase 1 budget</a:t>
              </a:r>
              <a:r>
                <a:rPr b="0" lang="en-GB" sz="2000">
                  <a:solidFill>
                    <a:srgbClr val="1C1E21"/>
                  </a:solidFill>
                  <a:latin typeface="Roboto"/>
                  <a:ea typeface="Roboto"/>
                  <a:cs typeface="Roboto"/>
                  <a:sym typeface="Roboto"/>
                </a:rPr>
                <a:t> to deliver the </a:t>
              </a:r>
              <a:r>
                <a:rPr b="1" lang="en-GB" sz="2000">
                  <a:solidFill>
                    <a:srgbClr val="1C1E21"/>
                  </a:solidFill>
                  <a:latin typeface="Roboto"/>
                  <a:ea typeface="Roboto"/>
                  <a:cs typeface="Roboto"/>
                  <a:sym typeface="Roboto"/>
                </a:rPr>
                <a:t>Smart-Recovery Portal bundle</a:t>
              </a:r>
              <a:r>
                <a:rPr b="0" lang="en-GB" sz="2000">
                  <a:solidFill>
                    <a:srgbClr val="1C1E21"/>
                  </a:solidFill>
                  <a:latin typeface="Roboto"/>
                  <a:ea typeface="Roboto"/>
                  <a:cs typeface="Roboto"/>
                  <a:sym typeface="Roboto"/>
                </a:rPr>
                <a:t> (OPP-01, 03, &amp; 05).</a:t>
              </a:r>
              <a:endParaRPr b="0" sz="2000">
                <a:solidFill>
                  <a:srgbClr val="1C1E21"/>
                </a:solidFill>
                <a:latin typeface="Roboto"/>
                <a:ea typeface="Roboto"/>
                <a:cs typeface="Roboto"/>
                <a:sym typeface="Roboto"/>
              </a:endParaRPr>
            </a:p>
            <a:p>
              <a:pPr indent="0" lvl="0" marL="0" rtl="0" algn="ctr">
                <a:spcBef>
                  <a:spcPts val="3000"/>
                </a:spcBef>
                <a:spcAft>
                  <a:spcPts val="0"/>
                </a:spcAft>
                <a:buNone/>
              </a:pPr>
              <a:r>
                <a:rPr b="1" lang="en-GB" sz="3200">
                  <a:solidFill>
                    <a:srgbClr val="28A745"/>
                  </a:solidFill>
                  <a:latin typeface="Roboto"/>
                  <a:ea typeface="Roboto"/>
                  <a:cs typeface="Roboto"/>
                  <a:sym typeface="Roboto"/>
                </a:rPr>
                <a:t>£24,400</a:t>
              </a:r>
              <a:endParaRPr b="1" sz="3200">
                <a:solidFill>
                  <a:srgbClr val="28A745"/>
                </a:solidFill>
                <a:latin typeface="Roboto"/>
                <a:ea typeface="Roboto"/>
                <a:cs typeface="Roboto"/>
                <a:sym typeface="Roboto"/>
              </a:endParaRPr>
            </a:p>
            <a:p>
              <a:pPr indent="0" lvl="0" marL="0" rtl="0" algn="ctr">
                <a:spcBef>
                  <a:spcPts val="375"/>
                </a:spcBef>
                <a:spcAft>
                  <a:spcPts val="0"/>
                </a:spcAft>
                <a:buNone/>
              </a:pPr>
              <a:r>
                <a:rPr b="1" lang="en-GB" sz="1200">
                  <a:solidFill>
                    <a:srgbClr val="6C757D"/>
                  </a:solidFill>
                  <a:latin typeface="Roboto"/>
                  <a:ea typeface="Roboto"/>
                  <a:cs typeface="Roboto"/>
                  <a:sym typeface="Roboto"/>
                </a:rPr>
                <a:t>12-MONTH NET PROFIT</a:t>
              </a:r>
              <a:endParaRPr b="1" sz="1200">
                <a:solidFill>
                  <a:srgbClr val="6C757D"/>
                </a:solidFill>
                <a:latin typeface="Roboto"/>
                <a:ea typeface="Roboto"/>
                <a:cs typeface="Roboto"/>
                <a:sym typeface="Roboto"/>
              </a:endParaRPr>
            </a:p>
            <a:p>
              <a:pPr indent="0" lvl="0" marL="0" rtl="0" algn="ctr">
                <a:spcBef>
                  <a:spcPts val="0"/>
                </a:spcBef>
                <a:spcAft>
                  <a:spcPts val="0"/>
                </a:spcAft>
                <a:buNone/>
              </a:pPr>
              <a:r>
                <a:rPr b="1" lang="en-GB" sz="3200">
                  <a:solidFill>
                    <a:srgbClr val="0056B3"/>
                  </a:solidFill>
                  <a:latin typeface="Roboto"/>
                  <a:ea typeface="Roboto"/>
                  <a:cs typeface="Roboto"/>
                  <a:sym typeface="Roboto"/>
                </a:rPr>
                <a:t>2,300 hrs</a:t>
              </a:r>
              <a:endParaRPr b="1" sz="3200">
                <a:solidFill>
                  <a:srgbClr val="0056B3"/>
                </a:solidFill>
                <a:latin typeface="Roboto"/>
                <a:ea typeface="Roboto"/>
                <a:cs typeface="Roboto"/>
                <a:sym typeface="Roboto"/>
              </a:endParaRPr>
            </a:p>
            <a:p>
              <a:pPr indent="0" lvl="0" marL="0" rtl="0" algn="ctr">
                <a:spcBef>
                  <a:spcPts val="375"/>
                </a:spcBef>
                <a:spcAft>
                  <a:spcPts val="0"/>
                </a:spcAft>
                <a:buNone/>
              </a:pPr>
              <a:r>
                <a:rPr b="1" lang="en-GB" sz="1200">
                  <a:solidFill>
                    <a:srgbClr val="6C757D"/>
                  </a:solidFill>
                  <a:latin typeface="Roboto"/>
                  <a:ea typeface="Roboto"/>
                  <a:cs typeface="Roboto"/>
                  <a:sym typeface="Roboto"/>
                </a:rPr>
                <a:t>MANUAL CAPACITY UNBLOCKED</a:t>
              </a:r>
              <a:endParaRPr b="1" sz="1200">
                <a:solidFill>
                  <a:srgbClr val="6C757D"/>
                </a:solidFill>
                <a:latin typeface="Roboto"/>
                <a:ea typeface="Roboto"/>
                <a:cs typeface="Roboto"/>
                <a:sym typeface="Roboto"/>
              </a:endParaRPr>
            </a:p>
          </p:txBody>
        </p:sp>
      </p:gr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